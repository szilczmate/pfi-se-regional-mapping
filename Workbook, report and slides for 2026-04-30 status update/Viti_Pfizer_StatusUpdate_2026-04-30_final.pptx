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72" r:id="rId7"/>
    <p:sldId id="262" r:id="rId8"/>
    <p:sldId id="275" r:id="rId9"/>
    <p:sldId id="264" r:id="rId10"/>
    <p:sldId id="276" r:id="rId11"/>
    <p:sldId id="266" r:id="rId12"/>
    <p:sldId id="277" r:id="rId13"/>
    <p:sldId id="274" r:id="rId14"/>
    <p:sldId id="261" r:id="rId15"/>
    <p:sldId id="265" r:id="rId16"/>
    <p:sldId id="263" r:id="rId17"/>
    <p:sldId id="279" r:id="rId18"/>
    <p:sldId id="26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27" d="100"/>
          <a:sy n="127" d="100"/>
        </p:scale>
        <p:origin x="254" y="14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doughnutChart>
        <c:varyColors val="1"/>
        <c:ser>
          <c:idx val="0"/>
          <c:order val="0"/>
          <c:tx>
            <c:strRef>
              <c:f>Sheet1!$B$1</c:f>
              <c:strCache>
                <c:ptCount val="1"/>
                <c:pt idx="0">
                  <c:v>TBE (FSME-IMMUN)</c:v>
                </c:pt>
              </c:strCache>
            </c:strRef>
          </c:tx>
          <c:spPr>
            <a:solidFill>
              <a:schemeClr val="accent1"/>
            </a:solidFill>
            <a:ln w="9525" cap="flat">
              <a:solidFill>
                <a:srgbClr val="F9F9F9"/>
              </a:solidFill>
              <a:prstDash val="solid"/>
              <a:round/>
            </a:ln>
            <a:effectLst/>
          </c:spPr>
          <c:dPt>
            <c:idx val="0"/>
            <c:bubble3D val="0"/>
            <c:spPr>
              <a:solidFill>
                <a:srgbClr val="2B9FD4"/>
              </a:solidFill>
              <a:effectLst/>
            </c:spPr>
            <c:extLst>
              <c:ext xmlns:c16="http://schemas.microsoft.com/office/drawing/2014/chart" uri="{C3380CC4-5D6E-409C-BE32-E72D297353CC}">
                <c16:uniqueId val="{00000001-E59E-4DFE-9D8A-AB6A3BE204BF}"/>
              </c:ext>
            </c:extLst>
          </c:dPt>
          <c:dPt>
            <c:idx val="1"/>
            <c:bubble3D val="0"/>
            <c:spPr>
              <a:solidFill>
                <a:srgbClr val="E2E8F0"/>
              </a:solidFill>
              <a:effectLst/>
            </c:spPr>
            <c:extLst>
              <c:ext xmlns:c16="http://schemas.microsoft.com/office/drawing/2014/chart" uri="{C3380CC4-5D6E-409C-BE32-E72D297353CC}">
                <c16:uniqueId val="{00000003-E59E-4DFE-9D8A-AB6A3BE204BF}"/>
              </c:ext>
            </c:extLst>
          </c:dPt>
          <c:cat>
            <c:strRef>
              <c:f>Sheet1!$A$2:$A$3</c:f>
              <c:strCache>
                <c:ptCount val="2"/>
                <c:pt idx="0">
                  <c:v>Pfizer</c:v>
                </c:pt>
                <c:pt idx="1">
                  <c:v>Competitors</c:v>
                </c:pt>
              </c:strCache>
            </c:strRef>
          </c:cat>
          <c:val>
            <c:numRef>
              <c:f>Sheet1!$B$2:$B$3</c:f>
              <c:numCache>
                <c:formatCode>General</c:formatCode>
                <c:ptCount val="2"/>
                <c:pt idx="0">
                  <c:v>78.599999999999994</c:v>
                </c:pt>
                <c:pt idx="1">
                  <c:v>21.400000000000006</c:v>
                </c:pt>
              </c:numCache>
            </c:numRef>
          </c:val>
          <c:extLst>
            <c:ext xmlns:c16="http://schemas.microsoft.com/office/drawing/2014/chart" uri="{C3380CC4-5D6E-409C-BE32-E72D297353CC}">
              <c16:uniqueId val="{00000004-E59E-4DFE-9D8A-AB6A3BE204BF}"/>
            </c:ext>
          </c:extLst>
        </c:ser>
        <c:dLbls>
          <c:showLegendKey val="0"/>
          <c:showVal val="0"/>
          <c:showCatName val="0"/>
          <c:showSerName val="0"/>
          <c:showPercent val="0"/>
          <c:showBubbleSize val="0"/>
          <c:showLeaderLines val="0"/>
        </c:dLbls>
        <c:firstSliceAng val="0"/>
        <c:holeSize val="50"/>
      </c:doughnutChart>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doughnutChart>
        <c:varyColors val="1"/>
        <c:ser>
          <c:idx val="0"/>
          <c:order val="0"/>
          <c:tx>
            <c:strRef>
              <c:f>Sheet1!$B$1</c:f>
              <c:strCache>
                <c:ptCount val="1"/>
                <c:pt idx="0">
                  <c:v>RSV (Abrysvo)</c:v>
                </c:pt>
              </c:strCache>
            </c:strRef>
          </c:tx>
          <c:spPr>
            <a:solidFill>
              <a:schemeClr val="accent1"/>
            </a:solidFill>
            <a:ln w="9525" cap="flat">
              <a:solidFill>
                <a:srgbClr val="F9F9F9"/>
              </a:solidFill>
              <a:prstDash val="solid"/>
              <a:round/>
            </a:ln>
            <a:effectLst/>
          </c:spPr>
          <c:dPt>
            <c:idx val="0"/>
            <c:bubble3D val="0"/>
            <c:spPr>
              <a:solidFill>
                <a:srgbClr val="2B9FD4"/>
              </a:solidFill>
              <a:effectLst/>
            </c:spPr>
            <c:extLst>
              <c:ext xmlns:c16="http://schemas.microsoft.com/office/drawing/2014/chart" uri="{C3380CC4-5D6E-409C-BE32-E72D297353CC}">
                <c16:uniqueId val="{00000001-C418-46DB-8C41-4A9E6E3408F7}"/>
              </c:ext>
            </c:extLst>
          </c:dPt>
          <c:dPt>
            <c:idx val="1"/>
            <c:bubble3D val="0"/>
            <c:spPr>
              <a:solidFill>
                <a:srgbClr val="E2E8F0"/>
              </a:solidFill>
              <a:effectLst/>
            </c:spPr>
            <c:extLst>
              <c:ext xmlns:c16="http://schemas.microsoft.com/office/drawing/2014/chart" uri="{C3380CC4-5D6E-409C-BE32-E72D297353CC}">
                <c16:uniqueId val="{00000003-C418-46DB-8C41-4A9E6E3408F7}"/>
              </c:ext>
            </c:extLst>
          </c:dPt>
          <c:cat>
            <c:strRef>
              <c:f>Sheet1!$A$2:$A$3</c:f>
              <c:strCache>
                <c:ptCount val="2"/>
                <c:pt idx="0">
                  <c:v>Pfizer</c:v>
                </c:pt>
                <c:pt idx="1">
                  <c:v>Competitors</c:v>
                </c:pt>
              </c:strCache>
            </c:strRef>
          </c:cat>
          <c:val>
            <c:numRef>
              <c:f>Sheet1!$B$2:$B$3</c:f>
              <c:numCache>
                <c:formatCode>General</c:formatCode>
                <c:ptCount val="2"/>
                <c:pt idx="0">
                  <c:v>59.9</c:v>
                </c:pt>
                <c:pt idx="1">
                  <c:v>40.1</c:v>
                </c:pt>
              </c:numCache>
            </c:numRef>
          </c:val>
          <c:extLst>
            <c:ext xmlns:c16="http://schemas.microsoft.com/office/drawing/2014/chart" uri="{C3380CC4-5D6E-409C-BE32-E72D297353CC}">
              <c16:uniqueId val="{00000004-C418-46DB-8C41-4A9E6E3408F7}"/>
            </c:ext>
          </c:extLst>
        </c:ser>
        <c:dLbls>
          <c:showLegendKey val="0"/>
          <c:showVal val="0"/>
          <c:showCatName val="0"/>
          <c:showSerName val="0"/>
          <c:showPercent val="0"/>
          <c:showBubbleSize val="0"/>
          <c:showLeaderLines val="0"/>
        </c:dLbls>
        <c:firstSliceAng val="0"/>
        <c:holeSize val="50"/>
      </c:doughnutChart>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doughnutChart>
        <c:varyColors val="1"/>
        <c:ser>
          <c:idx val="0"/>
          <c:order val="0"/>
          <c:tx>
            <c:strRef>
              <c:f>Sheet1!$B$1</c:f>
              <c:strCache>
                <c:ptCount val="1"/>
                <c:pt idx="0">
                  <c:v>Pneumococcal (Prevenar)</c:v>
                </c:pt>
              </c:strCache>
            </c:strRef>
          </c:tx>
          <c:spPr>
            <a:solidFill>
              <a:schemeClr val="accent1"/>
            </a:solidFill>
            <a:ln w="9525" cap="flat">
              <a:solidFill>
                <a:srgbClr val="F9F9F9"/>
              </a:solidFill>
              <a:prstDash val="solid"/>
              <a:round/>
            </a:ln>
            <a:effectLst/>
          </c:spPr>
          <c:dPt>
            <c:idx val="0"/>
            <c:bubble3D val="0"/>
            <c:spPr>
              <a:solidFill>
                <a:srgbClr val="2B9FD4"/>
              </a:solidFill>
              <a:effectLst/>
            </c:spPr>
            <c:extLst>
              <c:ext xmlns:c16="http://schemas.microsoft.com/office/drawing/2014/chart" uri="{C3380CC4-5D6E-409C-BE32-E72D297353CC}">
                <c16:uniqueId val="{00000001-A26E-457C-8759-A3D533A43B59}"/>
              </c:ext>
            </c:extLst>
          </c:dPt>
          <c:dPt>
            <c:idx val="1"/>
            <c:bubble3D val="0"/>
            <c:spPr>
              <a:solidFill>
                <a:srgbClr val="E2E8F0"/>
              </a:solidFill>
              <a:effectLst/>
            </c:spPr>
            <c:extLst>
              <c:ext xmlns:c16="http://schemas.microsoft.com/office/drawing/2014/chart" uri="{C3380CC4-5D6E-409C-BE32-E72D297353CC}">
                <c16:uniqueId val="{00000003-A26E-457C-8759-A3D533A43B59}"/>
              </c:ext>
            </c:extLst>
          </c:dPt>
          <c:cat>
            <c:strRef>
              <c:f>Sheet1!$A$2:$A$3</c:f>
              <c:strCache>
                <c:ptCount val="2"/>
                <c:pt idx="0">
                  <c:v>Pfizer</c:v>
                </c:pt>
                <c:pt idx="1">
                  <c:v>Competitors</c:v>
                </c:pt>
              </c:strCache>
            </c:strRef>
          </c:cat>
          <c:val>
            <c:numRef>
              <c:f>Sheet1!$B$2:$B$3</c:f>
              <c:numCache>
                <c:formatCode>General</c:formatCode>
                <c:ptCount val="2"/>
                <c:pt idx="0">
                  <c:v>12.4</c:v>
                </c:pt>
                <c:pt idx="1">
                  <c:v>87.6</c:v>
                </c:pt>
              </c:numCache>
            </c:numRef>
          </c:val>
          <c:extLst>
            <c:ext xmlns:c16="http://schemas.microsoft.com/office/drawing/2014/chart" uri="{C3380CC4-5D6E-409C-BE32-E72D297353CC}">
              <c16:uniqueId val="{00000004-A26E-457C-8759-A3D533A43B59}"/>
            </c:ext>
          </c:extLst>
        </c:ser>
        <c:dLbls>
          <c:showLegendKey val="0"/>
          <c:showVal val="0"/>
          <c:showCatName val="0"/>
          <c:showSerName val="0"/>
          <c:showPercent val="0"/>
          <c:showBubbleSize val="0"/>
          <c:showLeaderLines val="0"/>
        </c:dLbls>
        <c:firstSliceAng val="0"/>
        <c:holeSize val="50"/>
      </c:doughnutChart>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doughnutChart>
        <c:varyColors val="1"/>
        <c:ser>
          <c:idx val="0"/>
          <c:order val="0"/>
          <c:tx>
            <c:strRef>
              <c:f>Sheet1!$B$1</c:f>
              <c:strCache>
                <c:ptCount val="1"/>
                <c:pt idx="0">
                  <c:v>CDK4/6</c:v>
                </c:pt>
              </c:strCache>
            </c:strRef>
          </c:tx>
          <c:spPr>
            <a:solidFill>
              <a:schemeClr val="accent1"/>
            </a:solidFill>
            <a:ln w="9525" cap="flat">
              <a:solidFill>
                <a:srgbClr val="F9F9F9"/>
              </a:solidFill>
              <a:prstDash val="solid"/>
              <a:round/>
            </a:ln>
            <a:effectLst/>
          </c:spPr>
          <c:dPt>
            <c:idx val="0"/>
            <c:bubble3D val="0"/>
            <c:spPr>
              <a:solidFill>
                <a:srgbClr val="2B9FD4"/>
              </a:solidFill>
              <a:effectLst/>
            </c:spPr>
            <c:extLst>
              <c:ext xmlns:c16="http://schemas.microsoft.com/office/drawing/2014/chart" uri="{C3380CC4-5D6E-409C-BE32-E72D297353CC}">
                <c16:uniqueId val="{00000001-2339-4B33-950F-1CDC410D65BB}"/>
              </c:ext>
            </c:extLst>
          </c:dPt>
          <c:dPt>
            <c:idx val="1"/>
            <c:bubble3D val="0"/>
            <c:spPr>
              <a:solidFill>
                <a:srgbClr val="E74C3C"/>
              </a:solidFill>
              <a:effectLst/>
            </c:spPr>
            <c:extLst>
              <c:ext xmlns:c16="http://schemas.microsoft.com/office/drawing/2014/chart" uri="{C3380CC4-5D6E-409C-BE32-E72D297353CC}">
                <c16:uniqueId val="{00000003-2339-4B33-950F-1CDC410D65BB}"/>
              </c:ext>
            </c:extLst>
          </c:dPt>
          <c:dPt>
            <c:idx val="2"/>
            <c:bubble3D val="0"/>
            <c:spPr>
              <a:solidFill>
                <a:srgbClr val="F39C12"/>
              </a:solidFill>
              <a:effectLst/>
            </c:spPr>
            <c:extLst>
              <c:ext xmlns:c16="http://schemas.microsoft.com/office/drawing/2014/chart" uri="{C3380CC4-5D6E-409C-BE32-E72D297353CC}">
                <c16:uniqueId val="{00000005-2339-4B33-950F-1CDC410D65BB}"/>
              </c:ext>
            </c:extLst>
          </c:dPt>
          <c:cat>
            <c:strRef>
              <c:f>Sheet1!$A$2:$A$4</c:f>
              <c:strCache>
                <c:ptCount val="3"/>
                <c:pt idx="0">
                  <c:v>Ibrance</c:v>
                </c:pt>
                <c:pt idx="1">
                  <c:v>Verzenios</c:v>
                </c:pt>
                <c:pt idx="2">
                  <c:v>Kisqali</c:v>
                </c:pt>
              </c:strCache>
            </c:strRef>
          </c:cat>
          <c:val>
            <c:numRef>
              <c:f>Sheet1!$B$2:$B$4</c:f>
              <c:numCache>
                <c:formatCode>General</c:formatCode>
                <c:ptCount val="3"/>
                <c:pt idx="0">
                  <c:v>3762</c:v>
                </c:pt>
                <c:pt idx="1">
                  <c:v>6556</c:v>
                </c:pt>
                <c:pt idx="2">
                  <c:v>5930</c:v>
                </c:pt>
              </c:numCache>
            </c:numRef>
          </c:val>
          <c:extLst>
            <c:ext xmlns:c16="http://schemas.microsoft.com/office/drawing/2014/chart" uri="{C3380CC4-5D6E-409C-BE32-E72D297353CC}">
              <c16:uniqueId val="{00000006-2339-4B33-950F-1CDC410D65BB}"/>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700"/>
          </a:pPr>
          <a:endParaRPr lang="en-SE"/>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E6A2CA-5FBB-42C9-A55F-F3367691E632}" type="datetimeFigureOut">
              <a:rPr lang="en-GB" smtClean="0"/>
              <a:t>30/04/2026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C6E035-61B9-474B-800E-08421CADECA6}" type="slidenum">
              <a:rPr lang="en-GB" smtClean="0"/>
              <a:t>‹#›</a:t>
            </a:fld>
            <a:endParaRPr lang="en-GB"/>
          </a:p>
        </p:txBody>
      </p:sp>
    </p:spTree>
    <p:extLst>
      <p:ext uri="{BB962C8B-B14F-4D97-AF65-F5344CB8AC3E}">
        <p14:creationId xmlns:p14="http://schemas.microsoft.com/office/powerpoint/2010/main" val="3351994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6065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9" name="TextBox 8">
            <a:extLst>
              <a:ext uri="{FF2B5EF4-FFF2-40B4-BE49-F238E27FC236}">
                <a16:creationId xmlns:a16="http://schemas.microsoft.com/office/drawing/2014/main" id="{D440B98C-DCBF-6851-5C6E-8D94F3A48744}"/>
              </a:ext>
            </a:extLst>
          </p:cNvPr>
          <p:cNvSpPr txBox="1"/>
          <p:nvPr userDrawn="1">
            <p:extLst>
              <p:ext uri="{1162E1C5-73C7-4A58-AE30-91384D911F3F}">
                <p184:classification xmlns:p184="http://schemas.microsoft.com/office/powerpoint/2018/4/main" val="hdr"/>
              </p:ext>
            </p:extLst>
          </p:nvPr>
        </p:nvSpPr>
        <p:spPr>
          <a:xfrm>
            <a:off x="5283962" y="63500"/>
            <a:ext cx="1652588" cy="152400"/>
          </a:xfrm>
          <a:prstGeom prst="rect">
            <a:avLst/>
          </a:prstGeom>
        </p:spPr>
        <p:txBody>
          <a:bodyPr horzOverflow="overflow" lIns="0" tIns="0" rIns="0" bIns="0">
            <a:spAutoFit/>
          </a:bodyPr>
          <a:lstStyle/>
          <a:p>
            <a:pPr algn="l"/>
            <a:r>
              <a:rPr lang="en-GB"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 General Business</a:t>
            </a:r>
          </a:p>
        </p:txBody>
      </p:sp>
      <p:sp>
        <p:nvSpPr>
          <p:cNvPr id="10" name="TextBox 9">
            <a:extLst>
              <a:ext uri="{FF2B5EF4-FFF2-40B4-BE49-F238E27FC236}">
                <a16:creationId xmlns:a16="http://schemas.microsoft.com/office/drawing/2014/main" id="{1702E915-A67D-3EB9-9299-9CD3EADA9FD7}"/>
              </a:ext>
            </a:extLst>
          </p:cNvPr>
          <p:cNvSpPr txBox="1"/>
          <p:nvPr userDrawn="1">
            <p:extLst>
              <p:ext uri="{1162E1C5-73C7-4A58-AE30-91384D911F3F}">
                <p184:classification xmlns:p184="http://schemas.microsoft.com/office/powerpoint/2018/4/main" val="ftr"/>
              </p:ext>
            </p:extLst>
          </p:nvPr>
        </p:nvSpPr>
        <p:spPr>
          <a:xfrm>
            <a:off x="5649913" y="6642100"/>
            <a:ext cx="920750" cy="152400"/>
          </a:xfrm>
          <a:prstGeom prst="rect">
            <a:avLst/>
          </a:prstGeom>
        </p:spPr>
        <p:txBody>
          <a:bodyPr horzOverflow="overflow" lIns="0" tIns="0" rIns="0" bIns="0">
            <a:spAutoFit/>
          </a:bodyPr>
          <a:lstStyle/>
          <a:p>
            <a:pPr algn="l"/>
            <a:r>
              <a:rPr lang="en-GB" sz="1000">
                <a:solidFill>
                  <a:srgbClr val="000000"/>
                </a:solidFill>
                <a:latin typeface="Calibri" panose="020F0502020204030204" pitchFamily="34" charset="0"/>
                <a:ea typeface="Calibri" panose="020F0502020204030204" pitchFamily="34" charset="0"/>
                <a:cs typeface="Calibri" panose="020F0502020204030204" pitchFamily="34" charset="0"/>
              </a:rPr>
              <a:t>Internal Use Only</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5.jpg"/><Relationship Id="rId3" Type="http://schemas.openxmlformats.org/officeDocument/2006/relationships/chart" Target="../charts/chart1.xml"/><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chart" Target="../charts/chart3.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13.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14.png"/><Relationship Id="rId4"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7315200" cy="274320"/>
          </a:xfrm>
          <a:prstGeom prst="rect">
            <a:avLst/>
          </a:prstGeom>
          <a:noFill/>
        </p:spPr>
        <p:txBody>
          <a:bodyPr wrap="square" lIns="0" tIns="0" rIns="0" bIns="0">
            <a:spAutoFit/>
          </a:bodyPr>
          <a:lstStyle/>
          <a:p>
            <a:r>
              <a:rPr sz="1000" b="1" i="0">
                <a:solidFill>
                  <a:srgbClr val="888888"/>
                </a:solidFill>
              </a:rPr>
              <a:t>PFIZER SWEDEN  ·  REGIONAL LANDSCAPE</a:t>
            </a:r>
          </a:p>
        </p:txBody>
      </p:sp>
      <p:cxnSp>
        <p:nvCxnSpPr>
          <p:cNvPr id="3" name="Connector 2"/>
          <p:cNvCxnSpPr/>
          <p:nvPr/>
        </p:nvCxnSpPr>
        <p:spPr>
          <a:xfrm>
            <a:off x="457200" y="603504"/>
            <a:ext cx="11274552"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684710"/>
            <a:ext cx="11274552" cy="1661993"/>
          </a:xfrm>
          <a:prstGeom prst="rect">
            <a:avLst/>
          </a:prstGeom>
          <a:noFill/>
        </p:spPr>
        <p:txBody>
          <a:bodyPr wrap="square" lIns="0" tIns="0" rIns="0" bIns="0">
            <a:spAutoFit/>
          </a:bodyPr>
          <a:lstStyle/>
          <a:p>
            <a:r>
              <a:rPr lang="en-GB" sz="5400" b="1" i="0" dirty="0">
                <a:solidFill>
                  <a:srgbClr val="1F3A5F"/>
                </a:solidFill>
              </a:rPr>
              <a:t>Regional Landscape Mapping</a:t>
            </a:r>
          </a:p>
          <a:p>
            <a:r>
              <a:rPr sz="5400" b="1" i="0" dirty="0">
                <a:solidFill>
                  <a:srgbClr val="1F3A5F"/>
                </a:solidFill>
              </a:rPr>
              <a:t>Status update</a:t>
            </a:r>
          </a:p>
        </p:txBody>
      </p:sp>
      <p:sp>
        <p:nvSpPr>
          <p:cNvPr id="5" name="TextBox 4"/>
          <p:cNvSpPr txBox="1"/>
          <p:nvPr/>
        </p:nvSpPr>
        <p:spPr>
          <a:xfrm>
            <a:off x="457200" y="3660279"/>
            <a:ext cx="11274552" cy="276999"/>
          </a:xfrm>
          <a:prstGeom prst="rect">
            <a:avLst/>
          </a:prstGeom>
          <a:noFill/>
        </p:spPr>
        <p:txBody>
          <a:bodyPr wrap="square" lIns="0" tIns="0" rIns="0" bIns="0">
            <a:spAutoFit/>
          </a:bodyPr>
          <a:lstStyle/>
          <a:p>
            <a:r>
              <a:rPr lang="en-GB" dirty="0">
                <a:solidFill>
                  <a:srgbClr val="444444"/>
                </a:solidFill>
              </a:rPr>
              <a:t>W</a:t>
            </a:r>
            <a:r>
              <a:rPr sz="1800" b="0" i="0" dirty="0">
                <a:solidFill>
                  <a:srgbClr val="444444"/>
                </a:solidFill>
              </a:rPr>
              <a:t>hat we have built across regions and stakeholders</a:t>
            </a:r>
            <a:r>
              <a:rPr lang="en-GB" sz="1800" b="0" i="0" dirty="0">
                <a:solidFill>
                  <a:srgbClr val="444444"/>
                </a:solidFill>
              </a:rPr>
              <a:t> so far</a:t>
            </a:r>
            <a:endParaRPr sz="1800" b="0" i="0" dirty="0">
              <a:solidFill>
                <a:srgbClr val="444444"/>
              </a:solidFill>
            </a:endParaRPr>
          </a:p>
        </p:txBody>
      </p:sp>
      <p:sp>
        <p:nvSpPr>
          <p:cNvPr id="6" name="TextBox 5"/>
          <p:cNvSpPr txBox="1"/>
          <p:nvPr/>
        </p:nvSpPr>
        <p:spPr>
          <a:xfrm>
            <a:off x="457200" y="4480560"/>
            <a:ext cx="11274552" cy="365760"/>
          </a:xfrm>
          <a:prstGeom prst="rect">
            <a:avLst/>
          </a:prstGeom>
          <a:noFill/>
        </p:spPr>
        <p:txBody>
          <a:bodyPr wrap="square" lIns="0" tIns="0" rIns="0" bIns="0">
            <a:spAutoFit/>
          </a:bodyPr>
          <a:lstStyle/>
          <a:p>
            <a:r>
              <a:rPr sz="1300" b="1" i="0" dirty="0" err="1">
                <a:solidFill>
                  <a:srgbClr val="1F3A5F"/>
                </a:solidFill>
              </a:rPr>
              <a:t>Projektmöte</a:t>
            </a:r>
            <a:r>
              <a:rPr sz="1300" b="1" i="0" dirty="0">
                <a:solidFill>
                  <a:srgbClr val="1F3A5F"/>
                </a:solidFill>
              </a:rPr>
              <a:t> · 30 </a:t>
            </a:r>
            <a:r>
              <a:rPr sz="1300" b="1" i="0" dirty="0" err="1">
                <a:solidFill>
                  <a:srgbClr val="1F3A5F"/>
                </a:solidFill>
              </a:rPr>
              <a:t>april</a:t>
            </a:r>
            <a:r>
              <a:rPr sz="1300" b="1" i="0" dirty="0">
                <a:solidFill>
                  <a:srgbClr val="1F3A5F"/>
                </a:solidFill>
              </a:rPr>
              <a:t> 2026</a:t>
            </a:r>
          </a:p>
        </p:txBody>
      </p:sp>
      <p:sp>
        <p:nvSpPr>
          <p:cNvPr id="8" name="TextBox 7"/>
          <p:cNvSpPr txBox="1"/>
          <p:nvPr/>
        </p:nvSpPr>
        <p:spPr>
          <a:xfrm>
            <a:off x="457200" y="6446520"/>
            <a:ext cx="11274552" cy="153888"/>
          </a:xfrm>
          <a:prstGeom prst="rect">
            <a:avLst/>
          </a:prstGeom>
          <a:noFill/>
        </p:spPr>
        <p:txBody>
          <a:bodyPr wrap="square" lIns="0" tIns="0" rIns="0" bIns="0">
            <a:spAutoFit/>
          </a:bodyPr>
          <a:lstStyle/>
          <a:p>
            <a:r>
              <a:rPr sz="1000" b="0" i="0" dirty="0">
                <a:solidFill>
                  <a:srgbClr val="888888"/>
                </a:solidFill>
              </a:rPr>
              <a:t>Viti Science  ·  Sergio Flores  ·  </a:t>
            </a:r>
            <a:r>
              <a:rPr lang="en-GB" sz="1000" b="0" i="0" dirty="0">
                <a:solidFill>
                  <a:srgbClr val="888888"/>
                </a:solidFill>
              </a:rPr>
              <a:t>Mate Szilcz</a:t>
            </a:r>
            <a:endParaRPr sz="1000" b="0" i="0" dirty="0">
              <a:solidFill>
                <a:srgbClr val="88888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7315200" cy="274320"/>
          </a:xfrm>
          <a:prstGeom prst="rect">
            <a:avLst/>
          </a:prstGeom>
          <a:noFill/>
        </p:spPr>
        <p:txBody>
          <a:bodyPr wrap="square" lIns="0" tIns="0" rIns="0" bIns="0">
            <a:spAutoFit/>
          </a:bodyPr>
          <a:lstStyle/>
          <a:p>
            <a:r>
              <a:rPr sz="1000" b="1" i="0">
                <a:solidFill>
                  <a:srgbClr val="888888"/>
                </a:solidFill>
              </a:rPr>
              <a:t>WHAT WE HAVE MAPPED</a:t>
            </a:r>
          </a:p>
        </p:txBody>
      </p:sp>
      <p:cxnSp>
        <p:nvCxnSpPr>
          <p:cNvPr id="3" name="Connector 2"/>
          <p:cNvCxnSpPr/>
          <p:nvPr/>
        </p:nvCxnSpPr>
        <p:spPr>
          <a:xfrm>
            <a:off x="457200" y="603504"/>
            <a:ext cx="11274552"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46520"/>
            <a:ext cx="9144000" cy="274320"/>
          </a:xfrm>
          <a:prstGeom prst="rect">
            <a:avLst/>
          </a:prstGeom>
          <a:noFill/>
        </p:spPr>
        <p:txBody>
          <a:bodyPr wrap="square" lIns="0" tIns="0" rIns="0" bIns="0">
            <a:spAutoFit/>
          </a:bodyPr>
          <a:lstStyle/>
          <a:p>
            <a:r>
              <a:rPr sz="900" b="0" i="0">
                <a:solidFill>
                  <a:srgbClr val="888888"/>
                </a:solidFill>
              </a:rPr>
              <a:t>Viti Science · Pfizer Sweden Regional Landscape · April 2026</a:t>
            </a:r>
          </a:p>
        </p:txBody>
      </p:sp>
      <p:sp>
        <p:nvSpPr>
          <p:cNvPr id="5" name="TextBox 4"/>
          <p:cNvSpPr txBox="1"/>
          <p:nvPr/>
        </p:nvSpPr>
        <p:spPr>
          <a:xfrm>
            <a:off x="10515600" y="6446520"/>
            <a:ext cx="1371600" cy="274320"/>
          </a:xfrm>
          <a:prstGeom prst="rect">
            <a:avLst/>
          </a:prstGeom>
          <a:noFill/>
        </p:spPr>
        <p:txBody>
          <a:bodyPr wrap="square" lIns="0" tIns="0" rIns="0" bIns="0">
            <a:spAutoFit/>
          </a:bodyPr>
          <a:lstStyle/>
          <a:p>
            <a:pPr algn="r"/>
            <a:r>
              <a:rPr sz="900" b="0" i="0">
                <a:solidFill>
                  <a:srgbClr val="888888"/>
                </a:solidFill>
              </a:rPr>
              <a:t>2 / 6</a:t>
            </a:r>
          </a:p>
        </p:txBody>
      </p:sp>
      <p:sp>
        <p:nvSpPr>
          <p:cNvPr id="6" name="TextBox 5"/>
          <p:cNvSpPr txBox="1"/>
          <p:nvPr/>
        </p:nvSpPr>
        <p:spPr>
          <a:xfrm>
            <a:off x="457200" y="777240"/>
            <a:ext cx="11274552" cy="777240"/>
          </a:xfrm>
          <a:prstGeom prst="rect">
            <a:avLst/>
          </a:prstGeom>
          <a:noFill/>
        </p:spPr>
        <p:txBody>
          <a:bodyPr wrap="square" lIns="0" tIns="0" rIns="0" bIns="0">
            <a:spAutoFit/>
          </a:bodyPr>
          <a:lstStyle/>
          <a:p>
            <a:r>
              <a:rPr sz="2400" b="1" i="0">
                <a:solidFill>
                  <a:srgbClr val="1F3A5F"/>
                </a:solidFill>
              </a:rPr>
              <a:t>A region-by-region picture, end to end</a:t>
            </a:r>
          </a:p>
        </p:txBody>
      </p:sp>
      <p:sp>
        <p:nvSpPr>
          <p:cNvPr id="7" name="TextBox 6"/>
          <p:cNvSpPr txBox="1"/>
          <p:nvPr/>
        </p:nvSpPr>
        <p:spPr>
          <a:xfrm>
            <a:off x="457200" y="1508760"/>
            <a:ext cx="11274552" cy="200055"/>
          </a:xfrm>
          <a:prstGeom prst="rect">
            <a:avLst/>
          </a:prstGeom>
          <a:noFill/>
        </p:spPr>
        <p:txBody>
          <a:bodyPr wrap="square" lIns="0" tIns="0" rIns="0" bIns="0">
            <a:spAutoFit/>
          </a:bodyPr>
          <a:lstStyle/>
          <a:p>
            <a:r>
              <a:rPr sz="1300" b="0" i="0" dirty="0">
                <a:solidFill>
                  <a:srgbClr val="444444"/>
                </a:solidFill>
              </a:rPr>
              <a:t>Six anchors describing the scale of the work</a:t>
            </a:r>
          </a:p>
        </p:txBody>
      </p:sp>
      <p:sp>
        <p:nvSpPr>
          <p:cNvPr id="8" name="Rectangle 7"/>
          <p:cNvSpPr/>
          <p:nvPr/>
        </p:nvSpPr>
        <p:spPr>
          <a:xfrm>
            <a:off x="457200" y="2286000"/>
            <a:ext cx="3453200" cy="1645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468880"/>
            <a:ext cx="3453200" cy="777240"/>
          </a:xfrm>
          <a:prstGeom prst="rect">
            <a:avLst/>
          </a:prstGeom>
          <a:noFill/>
        </p:spPr>
        <p:txBody>
          <a:bodyPr wrap="square" lIns="0" tIns="0" rIns="0" bIns="0">
            <a:spAutoFit/>
          </a:bodyPr>
          <a:lstStyle/>
          <a:p>
            <a:pPr algn="ctr"/>
            <a:r>
              <a:rPr sz="4400" b="1" i="0">
                <a:solidFill>
                  <a:srgbClr val="1F3A5F"/>
                </a:solidFill>
              </a:rPr>
              <a:t>21</a:t>
            </a:r>
          </a:p>
        </p:txBody>
      </p:sp>
      <p:sp>
        <p:nvSpPr>
          <p:cNvPr id="10" name="TextBox 9"/>
          <p:cNvSpPr txBox="1"/>
          <p:nvPr/>
        </p:nvSpPr>
        <p:spPr>
          <a:xfrm>
            <a:off x="457200" y="3246120"/>
            <a:ext cx="3453200" cy="274320"/>
          </a:xfrm>
          <a:prstGeom prst="rect">
            <a:avLst/>
          </a:prstGeom>
          <a:noFill/>
        </p:spPr>
        <p:txBody>
          <a:bodyPr wrap="square" lIns="0" tIns="0" rIns="0" bIns="0">
            <a:spAutoFit/>
          </a:bodyPr>
          <a:lstStyle/>
          <a:p>
            <a:pPr algn="ctr"/>
            <a:r>
              <a:rPr sz="1200" b="1" i="0">
                <a:solidFill>
                  <a:srgbClr val="0093D0"/>
                </a:solidFill>
              </a:rPr>
              <a:t>regions</a:t>
            </a:r>
          </a:p>
        </p:txBody>
      </p:sp>
      <p:sp>
        <p:nvSpPr>
          <p:cNvPr id="11" name="TextBox 10"/>
          <p:cNvSpPr txBox="1"/>
          <p:nvPr/>
        </p:nvSpPr>
        <p:spPr>
          <a:xfrm>
            <a:off x="548640" y="3520440"/>
            <a:ext cx="3270320" cy="365760"/>
          </a:xfrm>
          <a:prstGeom prst="rect">
            <a:avLst/>
          </a:prstGeom>
          <a:noFill/>
        </p:spPr>
        <p:txBody>
          <a:bodyPr wrap="square" lIns="0" tIns="0" rIns="0" bIns="0">
            <a:spAutoFit/>
          </a:bodyPr>
          <a:lstStyle/>
          <a:p>
            <a:pPr algn="ctr"/>
            <a:r>
              <a:rPr sz="950" b="0" i="0">
                <a:solidFill>
                  <a:srgbClr val="444444"/>
                </a:solidFill>
              </a:rPr>
              <a:t>analysed end-to-end on the same dimensions</a:t>
            </a:r>
          </a:p>
        </p:txBody>
      </p:sp>
      <p:sp>
        <p:nvSpPr>
          <p:cNvPr id="12" name="Rectangle 11"/>
          <p:cNvSpPr/>
          <p:nvPr/>
        </p:nvSpPr>
        <p:spPr>
          <a:xfrm>
            <a:off x="4367600" y="2286000"/>
            <a:ext cx="3453200" cy="1645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67600" y="2468880"/>
            <a:ext cx="3453200" cy="777240"/>
          </a:xfrm>
          <a:prstGeom prst="rect">
            <a:avLst/>
          </a:prstGeom>
          <a:noFill/>
        </p:spPr>
        <p:txBody>
          <a:bodyPr wrap="square" lIns="0" tIns="0" rIns="0" bIns="0">
            <a:spAutoFit/>
          </a:bodyPr>
          <a:lstStyle/>
          <a:p>
            <a:pPr algn="ctr"/>
            <a:r>
              <a:rPr sz="4400" b="1" i="0">
                <a:solidFill>
                  <a:srgbClr val="1F3A5F"/>
                </a:solidFill>
              </a:rPr>
              <a:t>11</a:t>
            </a:r>
          </a:p>
        </p:txBody>
      </p:sp>
      <p:sp>
        <p:nvSpPr>
          <p:cNvPr id="14" name="TextBox 13"/>
          <p:cNvSpPr txBox="1"/>
          <p:nvPr/>
        </p:nvSpPr>
        <p:spPr>
          <a:xfrm>
            <a:off x="4367600" y="3246120"/>
            <a:ext cx="3453200" cy="274320"/>
          </a:xfrm>
          <a:prstGeom prst="rect">
            <a:avLst/>
          </a:prstGeom>
          <a:noFill/>
        </p:spPr>
        <p:txBody>
          <a:bodyPr wrap="square" lIns="0" tIns="0" rIns="0" bIns="0">
            <a:spAutoFit/>
          </a:bodyPr>
          <a:lstStyle/>
          <a:p>
            <a:pPr algn="ctr"/>
            <a:r>
              <a:rPr sz="1200" b="1" i="0">
                <a:solidFill>
                  <a:srgbClr val="0093D0"/>
                </a:solidFill>
              </a:rPr>
              <a:t>Pfizer products</a:t>
            </a:r>
          </a:p>
        </p:txBody>
      </p:sp>
      <p:sp>
        <p:nvSpPr>
          <p:cNvPr id="15" name="TextBox 14"/>
          <p:cNvSpPr txBox="1"/>
          <p:nvPr/>
        </p:nvSpPr>
        <p:spPr>
          <a:xfrm>
            <a:off x="4459040" y="3520440"/>
            <a:ext cx="3270320" cy="365760"/>
          </a:xfrm>
          <a:prstGeom prst="rect">
            <a:avLst/>
          </a:prstGeom>
          <a:noFill/>
        </p:spPr>
        <p:txBody>
          <a:bodyPr wrap="square" lIns="0" tIns="0" rIns="0" bIns="0">
            <a:spAutoFit/>
          </a:bodyPr>
          <a:lstStyle/>
          <a:p>
            <a:pPr algn="ctr"/>
            <a:r>
              <a:rPr sz="950" b="0" i="0">
                <a:solidFill>
                  <a:srgbClr val="444444"/>
                </a:solidFill>
              </a:rPr>
              <a:t>covered across vaccines, oncology, RD/IM</a:t>
            </a:r>
          </a:p>
        </p:txBody>
      </p:sp>
      <p:sp>
        <p:nvSpPr>
          <p:cNvPr id="16" name="Rectangle 15"/>
          <p:cNvSpPr/>
          <p:nvPr/>
        </p:nvSpPr>
        <p:spPr>
          <a:xfrm>
            <a:off x="8278000" y="2286000"/>
            <a:ext cx="3453200" cy="1645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8000" y="2468880"/>
            <a:ext cx="3453200" cy="777240"/>
          </a:xfrm>
          <a:prstGeom prst="rect">
            <a:avLst/>
          </a:prstGeom>
          <a:noFill/>
        </p:spPr>
        <p:txBody>
          <a:bodyPr wrap="square" lIns="0" tIns="0" rIns="0" bIns="0">
            <a:spAutoFit/>
          </a:bodyPr>
          <a:lstStyle/>
          <a:p>
            <a:pPr algn="ctr"/>
            <a:r>
              <a:rPr sz="4400" b="1" i="0">
                <a:solidFill>
                  <a:srgbClr val="1F3A5F"/>
                </a:solidFill>
              </a:rPr>
              <a:t>3</a:t>
            </a:r>
          </a:p>
        </p:txBody>
      </p:sp>
      <p:sp>
        <p:nvSpPr>
          <p:cNvPr id="18" name="TextBox 17"/>
          <p:cNvSpPr txBox="1"/>
          <p:nvPr/>
        </p:nvSpPr>
        <p:spPr>
          <a:xfrm>
            <a:off x="8278000" y="3246120"/>
            <a:ext cx="3453200" cy="274320"/>
          </a:xfrm>
          <a:prstGeom prst="rect">
            <a:avLst/>
          </a:prstGeom>
          <a:noFill/>
        </p:spPr>
        <p:txBody>
          <a:bodyPr wrap="square" lIns="0" tIns="0" rIns="0" bIns="0">
            <a:spAutoFit/>
          </a:bodyPr>
          <a:lstStyle/>
          <a:p>
            <a:pPr algn="ctr"/>
            <a:r>
              <a:rPr sz="1200" b="1" i="0">
                <a:solidFill>
                  <a:srgbClr val="0093D0"/>
                </a:solidFill>
              </a:rPr>
              <a:t>IQVIA extracts</a:t>
            </a:r>
          </a:p>
        </p:txBody>
      </p:sp>
      <p:sp>
        <p:nvSpPr>
          <p:cNvPr id="19" name="TextBox 18"/>
          <p:cNvSpPr txBox="1"/>
          <p:nvPr/>
        </p:nvSpPr>
        <p:spPr>
          <a:xfrm>
            <a:off x="8369440" y="3520440"/>
            <a:ext cx="3270320" cy="365760"/>
          </a:xfrm>
          <a:prstGeom prst="rect">
            <a:avLst/>
          </a:prstGeom>
          <a:noFill/>
        </p:spPr>
        <p:txBody>
          <a:bodyPr wrap="square" lIns="0" tIns="0" rIns="0" bIns="0">
            <a:spAutoFit/>
          </a:bodyPr>
          <a:lstStyle/>
          <a:p>
            <a:pPr algn="ctr"/>
            <a:r>
              <a:rPr sz="950" b="0" i="0">
                <a:solidFill>
                  <a:srgbClr val="444444"/>
                </a:solidFill>
              </a:rPr>
              <a:t>Vaccines, RD/IM, Oncology — 36 months brick-level</a:t>
            </a:r>
          </a:p>
        </p:txBody>
      </p:sp>
      <p:sp>
        <p:nvSpPr>
          <p:cNvPr id="20" name="Rectangle 19"/>
          <p:cNvSpPr/>
          <p:nvPr/>
        </p:nvSpPr>
        <p:spPr>
          <a:xfrm>
            <a:off x="457200" y="4096512"/>
            <a:ext cx="3453200" cy="1645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279392"/>
            <a:ext cx="3453200" cy="777240"/>
          </a:xfrm>
          <a:prstGeom prst="rect">
            <a:avLst/>
          </a:prstGeom>
          <a:noFill/>
        </p:spPr>
        <p:txBody>
          <a:bodyPr wrap="square" lIns="0" tIns="0" rIns="0" bIns="0">
            <a:spAutoFit/>
          </a:bodyPr>
          <a:lstStyle/>
          <a:p>
            <a:pPr algn="ctr"/>
            <a:r>
              <a:rPr sz="4400" b="1" i="0">
                <a:solidFill>
                  <a:srgbClr val="1F3A5F"/>
                </a:solidFill>
              </a:rPr>
              <a:t>135</a:t>
            </a:r>
          </a:p>
        </p:txBody>
      </p:sp>
      <p:sp>
        <p:nvSpPr>
          <p:cNvPr id="22" name="TextBox 21"/>
          <p:cNvSpPr txBox="1"/>
          <p:nvPr/>
        </p:nvSpPr>
        <p:spPr>
          <a:xfrm>
            <a:off x="457200" y="5056632"/>
            <a:ext cx="3453200" cy="274320"/>
          </a:xfrm>
          <a:prstGeom prst="rect">
            <a:avLst/>
          </a:prstGeom>
          <a:noFill/>
        </p:spPr>
        <p:txBody>
          <a:bodyPr wrap="square" lIns="0" tIns="0" rIns="0" bIns="0">
            <a:spAutoFit/>
          </a:bodyPr>
          <a:lstStyle/>
          <a:p>
            <a:pPr algn="ctr"/>
            <a:r>
              <a:rPr sz="1200" b="1" i="0">
                <a:solidFill>
                  <a:srgbClr val="0093D0"/>
                </a:solidFill>
              </a:rPr>
              <a:t>stakeholders</a:t>
            </a:r>
          </a:p>
        </p:txBody>
      </p:sp>
      <p:sp>
        <p:nvSpPr>
          <p:cNvPr id="23" name="TextBox 22"/>
          <p:cNvSpPr txBox="1"/>
          <p:nvPr/>
        </p:nvSpPr>
        <p:spPr>
          <a:xfrm>
            <a:off x="548640" y="5330952"/>
            <a:ext cx="3270320" cy="365760"/>
          </a:xfrm>
          <a:prstGeom prst="rect">
            <a:avLst/>
          </a:prstGeom>
          <a:noFill/>
        </p:spPr>
        <p:txBody>
          <a:bodyPr wrap="square" lIns="0" tIns="0" rIns="0" bIns="0">
            <a:spAutoFit/>
          </a:bodyPr>
          <a:lstStyle/>
          <a:p>
            <a:pPr algn="ctr"/>
            <a:r>
              <a:rPr sz="950" b="0" i="0">
                <a:solidFill>
                  <a:srgbClr val="444444"/>
                </a:solidFill>
              </a:rPr>
              <a:t>across 21 regions × 5 roles + national tier</a:t>
            </a:r>
          </a:p>
        </p:txBody>
      </p:sp>
      <p:sp>
        <p:nvSpPr>
          <p:cNvPr id="24" name="Rectangle 23"/>
          <p:cNvSpPr/>
          <p:nvPr/>
        </p:nvSpPr>
        <p:spPr>
          <a:xfrm>
            <a:off x="4367600" y="4096512"/>
            <a:ext cx="3453200" cy="1645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67600" y="4279392"/>
            <a:ext cx="3453200" cy="777240"/>
          </a:xfrm>
          <a:prstGeom prst="rect">
            <a:avLst/>
          </a:prstGeom>
          <a:noFill/>
        </p:spPr>
        <p:txBody>
          <a:bodyPr wrap="square" lIns="0" tIns="0" rIns="0" bIns="0">
            <a:spAutoFit/>
          </a:bodyPr>
          <a:lstStyle/>
          <a:p>
            <a:pPr algn="ctr"/>
            <a:r>
              <a:rPr sz="4400" b="1" i="0">
                <a:solidFill>
                  <a:srgbClr val="1F3A5F"/>
                </a:solidFill>
              </a:rPr>
              <a:t>8</a:t>
            </a:r>
          </a:p>
        </p:txBody>
      </p:sp>
      <p:sp>
        <p:nvSpPr>
          <p:cNvPr id="26" name="TextBox 25"/>
          <p:cNvSpPr txBox="1"/>
          <p:nvPr/>
        </p:nvSpPr>
        <p:spPr>
          <a:xfrm>
            <a:off x="4367600" y="5056632"/>
            <a:ext cx="3453200" cy="274320"/>
          </a:xfrm>
          <a:prstGeom prst="rect">
            <a:avLst/>
          </a:prstGeom>
          <a:noFill/>
        </p:spPr>
        <p:txBody>
          <a:bodyPr wrap="square" lIns="0" tIns="0" rIns="0" bIns="0">
            <a:spAutoFit/>
          </a:bodyPr>
          <a:lstStyle/>
          <a:p>
            <a:pPr algn="ctr"/>
            <a:r>
              <a:rPr sz="1200" b="1" i="0">
                <a:solidFill>
                  <a:srgbClr val="0093D0"/>
                </a:solidFill>
              </a:rPr>
              <a:t>cornerstone individuals</a:t>
            </a:r>
          </a:p>
        </p:txBody>
      </p:sp>
      <p:sp>
        <p:nvSpPr>
          <p:cNvPr id="27" name="TextBox 26"/>
          <p:cNvSpPr txBox="1"/>
          <p:nvPr/>
        </p:nvSpPr>
        <p:spPr>
          <a:xfrm>
            <a:off x="4459040" y="5330952"/>
            <a:ext cx="3270320" cy="365760"/>
          </a:xfrm>
          <a:prstGeom prst="rect">
            <a:avLst/>
          </a:prstGeom>
          <a:noFill/>
        </p:spPr>
        <p:txBody>
          <a:bodyPr wrap="square" lIns="0" tIns="0" rIns="0" bIns="0">
            <a:spAutoFit/>
          </a:bodyPr>
          <a:lstStyle/>
          <a:p>
            <a:pPr algn="ctr"/>
            <a:r>
              <a:rPr sz="950" b="0" i="0">
                <a:solidFill>
                  <a:srgbClr val="444444"/>
                </a:solidFill>
              </a:rPr>
              <a:t>identified across NT-rådet, NSG, regional LK</a:t>
            </a:r>
          </a:p>
        </p:txBody>
      </p:sp>
      <p:sp>
        <p:nvSpPr>
          <p:cNvPr id="28" name="Rectangle 27"/>
          <p:cNvSpPr/>
          <p:nvPr/>
        </p:nvSpPr>
        <p:spPr>
          <a:xfrm>
            <a:off x="8278000" y="4096512"/>
            <a:ext cx="3453200" cy="1645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78000" y="4279392"/>
            <a:ext cx="3453200" cy="777240"/>
          </a:xfrm>
          <a:prstGeom prst="rect">
            <a:avLst/>
          </a:prstGeom>
          <a:noFill/>
        </p:spPr>
        <p:txBody>
          <a:bodyPr wrap="square" lIns="0" tIns="0" rIns="0" bIns="0">
            <a:spAutoFit/>
          </a:bodyPr>
          <a:lstStyle/>
          <a:p>
            <a:pPr algn="ctr"/>
            <a:r>
              <a:rPr sz="4400" b="1" i="0">
                <a:solidFill>
                  <a:srgbClr val="1F3A5F"/>
                </a:solidFill>
              </a:rPr>
              <a:t>65</a:t>
            </a:r>
          </a:p>
        </p:txBody>
      </p:sp>
      <p:sp>
        <p:nvSpPr>
          <p:cNvPr id="30" name="TextBox 29"/>
          <p:cNvSpPr txBox="1"/>
          <p:nvPr/>
        </p:nvSpPr>
        <p:spPr>
          <a:xfrm>
            <a:off x="8278000" y="5056632"/>
            <a:ext cx="3453200" cy="274320"/>
          </a:xfrm>
          <a:prstGeom prst="rect">
            <a:avLst/>
          </a:prstGeom>
          <a:noFill/>
        </p:spPr>
        <p:txBody>
          <a:bodyPr wrap="square" lIns="0" tIns="0" rIns="0" bIns="0">
            <a:spAutoFit/>
          </a:bodyPr>
          <a:lstStyle/>
          <a:p>
            <a:pPr algn="ctr"/>
            <a:r>
              <a:rPr sz="1200" b="1" i="0">
                <a:solidFill>
                  <a:srgbClr val="0093D0"/>
                </a:solidFill>
              </a:rPr>
              <a:t>workbook sheets</a:t>
            </a:r>
          </a:p>
        </p:txBody>
      </p:sp>
      <p:sp>
        <p:nvSpPr>
          <p:cNvPr id="31" name="TextBox 30"/>
          <p:cNvSpPr txBox="1"/>
          <p:nvPr/>
        </p:nvSpPr>
        <p:spPr>
          <a:xfrm>
            <a:off x="8369440" y="5330952"/>
            <a:ext cx="3270320" cy="365760"/>
          </a:xfrm>
          <a:prstGeom prst="rect">
            <a:avLst/>
          </a:prstGeom>
          <a:noFill/>
        </p:spPr>
        <p:txBody>
          <a:bodyPr wrap="square" lIns="0" tIns="0" rIns="0" bIns="0">
            <a:spAutoFit/>
          </a:bodyPr>
          <a:lstStyle/>
          <a:p>
            <a:pPr algn="ctr"/>
            <a:r>
              <a:rPr sz="950" b="0" i="0">
                <a:solidFill>
                  <a:srgbClr val="444444"/>
                </a:solidFill>
              </a:rPr>
              <a:t>of derived data, sources, and methodology</a:t>
            </a:r>
          </a:p>
        </p:txBody>
      </p:sp>
      <p:sp>
        <p:nvSpPr>
          <p:cNvPr id="32" name="TextBox 31"/>
          <p:cNvSpPr txBox="1"/>
          <p:nvPr/>
        </p:nvSpPr>
        <p:spPr>
          <a:xfrm>
            <a:off x="457200" y="5897880"/>
            <a:ext cx="11274552" cy="338554"/>
          </a:xfrm>
          <a:prstGeom prst="rect">
            <a:avLst/>
          </a:prstGeom>
          <a:noFill/>
        </p:spPr>
        <p:txBody>
          <a:bodyPr wrap="square" lIns="0" tIns="0" rIns="0" bIns="0">
            <a:spAutoFit/>
          </a:bodyPr>
          <a:lstStyle/>
          <a:p>
            <a:r>
              <a:rPr sz="1100" b="0" i="0" dirty="0">
                <a:solidFill>
                  <a:srgbClr val="1F3A5F"/>
                </a:solidFill>
              </a:rPr>
              <a:t>Captured in the master workbook and the stakeholder mapping</a:t>
            </a:r>
            <a:endParaRPr lang="en-GB" sz="1100" b="0" i="0" dirty="0">
              <a:solidFill>
                <a:srgbClr val="1F3A5F"/>
              </a:solidFill>
            </a:endParaRPr>
          </a:p>
          <a:p>
            <a:r>
              <a:rPr sz="1100" b="0" i="0" dirty="0">
                <a:solidFill>
                  <a:srgbClr val="1F3A5F"/>
                </a:solidFill>
              </a:rPr>
              <a:t>IQVIA layers cover April 2023 – March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7315200" cy="274320"/>
          </a:xfrm>
          <a:prstGeom prst="rect">
            <a:avLst/>
          </a:prstGeom>
          <a:noFill/>
        </p:spPr>
        <p:txBody>
          <a:bodyPr wrap="square" lIns="0" tIns="0" rIns="0" bIns="0">
            <a:spAutoFit/>
          </a:bodyPr>
          <a:lstStyle/>
          <a:p>
            <a:r>
              <a:rPr sz="1000" b="1" i="0">
                <a:solidFill>
                  <a:srgbClr val="888888"/>
                </a:solidFill>
              </a:rPr>
              <a:t>REGIONS MAPPED</a:t>
            </a:r>
          </a:p>
        </p:txBody>
      </p:sp>
      <p:cxnSp>
        <p:nvCxnSpPr>
          <p:cNvPr id="3" name="Connector 2"/>
          <p:cNvCxnSpPr/>
          <p:nvPr/>
        </p:nvCxnSpPr>
        <p:spPr>
          <a:xfrm>
            <a:off x="457200" y="603504"/>
            <a:ext cx="11274552"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46520"/>
            <a:ext cx="9144000" cy="274320"/>
          </a:xfrm>
          <a:prstGeom prst="rect">
            <a:avLst/>
          </a:prstGeom>
          <a:noFill/>
        </p:spPr>
        <p:txBody>
          <a:bodyPr wrap="square" lIns="0" tIns="0" rIns="0" bIns="0">
            <a:spAutoFit/>
          </a:bodyPr>
          <a:lstStyle/>
          <a:p>
            <a:r>
              <a:rPr sz="900" b="0" i="0">
                <a:solidFill>
                  <a:srgbClr val="888888"/>
                </a:solidFill>
              </a:rPr>
              <a:t>Viti Science · Pfizer Sweden Regional Landscape · April 2026</a:t>
            </a:r>
          </a:p>
        </p:txBody>
      </p:sp>
      <p:sp>
        <p:nvSpPr>
          <p:cNvPr id="5" name="TextBox 4"/>
          <p:cNvSpPr txBox="1"/>
          <p:nvPr/>
        </p:nvSpPr>
        <p:spPr>
          <a:xfrm>
            <a:off x="10515600" y="6446520"/>
            <a:ext cx="1371600" cy="274320"/>
          </a:xfrm>
          <a:prstGeom prst="rect">
            <a:avLst/>
          </a:prstGeom>
          <a:noFill/>
        </p:spPr>
        <p:txBody>
          <a:bodyPr wrap="square" lIns="0" tIns="0" rIns="0" bIns="0">
            <a:spAutoFit/>
          </a:bodyPr>
          <a:lstStyle/>
          <a:p>
            <a:pPr algn="r"/>
            <a:r>
              <a:rPr sz="900" b="0" i="0">
                <a:solidFill>
                  <a:srgbClr val="888888"/>
                </a:solidFill>
              </a:rPr>
              <a:t>3 / 6</a:t>
            </a:r>
          </a:p>
        </p:txBody>
      </p:sp>
      <p:sp>
        <p:nvSpPr>
          <p:cNvPr id="6" name="TextBox 5"/>
          <p:cNvSpPr txBox="1"/>
          <p:nvPr/>
        </p:nvSpPr>
        <p:spPr>
          <a:xfrm>
            <a:off x="457200" y="777240"/>
            <a:ext cx="11274552" cy="777240"/>
          </a:xfrm>
          <a:prstGeom prst="rect">
            <a:avLst/>
          </a:prstGeom>
          <a:noFill/>
        </p:spPr>
        <p:txBody>
          <a:bodyPr wrap="square" lIns="0" tIns="0" rIns="0" bIns="0">
            <a:spAutoFit/>
          </a:bodyPr>
          <a:lstStyle/>
          <a:p>
            <a:r>
              <a:rPr sz="2400" b="1" i="0">
                <a:solidFill>
                  <a:srgbClr val="1F3A5F"/>
                </a:solidFill>
              </a:rPr>
              <a:t>Same dimensions captured across all 21 regions</a:t>
            </a:r>
          </a:p>
        </p:txBody>
      </p:sp>
      <p:sp>
        <p:nvSpPr>
          <p:cNvPr id="7" name="TextBox 6"/>
          <p:cNvSpPr txBox="1"/>
          <p:nvPr/>
        </p:nvSpPr>
        <p:spPr>
          <a:xfrm>
            <a:off x="457200" y="1508760"/>
            <a:ext cx="11274552" cy="200055"/>
          </a:xfrm>
          <a:prstGeom prst="rect">
            <a:avLst/>
          </a:prstGeom>
          <a:noFill/>
        </p:spPr>
        <p:txBody>
          <a:bodyPr wrap="square" lIns="0" tIns="0" rIns="0" bIns="0">
            <a:spAutoFit/>
          </a:bodyPr>
          <a:lstStyle/>
          <a:p>
            <a:r>
              <a:rPr sz="1300" b="0" i="0" dirty="0">
                <a:solidFill>
                  <a:srgbClr val="444444"/>
                </a:solidFill>
              </a:rPr>
              <a:t>A consistent profile per region ready to filter, compare, or hand to the field.</a:t>
            </a:r>
          </a:p>
        </p:txBody>
      </p:sp>
      <p:sp>
        <p:nvSpPr>
          <p:cNvPr id="8" name="TextBox 7"/>
          <p:cNvSpPr txBox="1"/>
          <p:nvPr/>
        </p:nvSpPr>
        <p:spPr>
          <a:xfrm>
            <a:off x="457200" y="2286000"/>
            <a:ext cx="5379600" cy="365760"/>
          </a:xfrm>
          <a:prstGeom prst="rect">
            <a:avLst/>
          </a:prstGeom>
          <a:noFill/>
        </p:spPr>
        <p:txBody>
          <a:bodyPr wrap="square" lIns="0" tIns="0" rIns="0" bIns="0">
            <a:spAutoFit/>
          </a:bodyPr>
          <a:lstStyle/>
          <a:p>
            <a:r>
              <a:rPr sz="1400" b="1" i="0" dirty="0">
                <a:solidFill>
                  <a:srgbClr val="1F3A5F"/>
                </a:solidFill>
              </a:rPr>
              <a:t>Dimensions captured (per region)</a:t>
            </a:r>
          </a:p>
        </p:txBody>
      </p:sp>
      <p:sp>
        <p:nvSpPr>
          <p:cNvPr id="9" name="TextBox 8"/>
          <p:cNvSpPr txBox="1"/>
          <p:nvPr/>
        </p:nvSpPr>
        <p:spPr>
          <a:xfrm>
            <a:off x="457200" y="2743200"/>
            <a:ext cx="5379600" cy="2277547"/>
          </a:xfrm>
          <a:prstGeom prst="rect">
            <a:avLst/>
          </a:prstGeom>
          <a:noFill/>
        </p:spPr>
        <p:txBody>
          <a:bodyPr wrap="square" lIns="0" tIns="0" rIns="0" bIns="0">
            <a:spAutoFit/>
          </a:bodyPr>
          <a:lstStyle/>
          <a:p>
            <a:pPr marL="228600" indent="-228600">
              <a:spcAft>
                <a:spcPts val="600"/>
              </a:spcAft>
              <a:buFont typeface="+mj-lt"/>
              <a:buAutoNum type="arabicPeriod"/>
            </a:pPr>
            <a:r>
              <a:rPr sz="1200" b="0" i="0" dirty="0">
                <a:solidFill>
                  <a:srgbClr val="444444"/>
                </a:solidFill>
              </a:rPr>
              <a:t>Population, demographics, 65+ growth </a:t>
            </a:r>
            <a:r>
              <a:rPr lang="en-GB" sz="1200" b="0" i="0" dirty="0">
                <a:solidFill>
                  <a:srgbClr val="444444"/>
                </a:solidFill>
              </a:rPr>
              <a:t>(</a:t>
            </a:r>
            <a:r>
              <a:rPr sz="1200" b="0" i="0" dirty="0">
                <a:solidFill>
                  <a:srgbClr val="444444"/>
                </a:solidFill>
              </a:rPr>
              <a:t>current and projected</a:t>
            </a:r>
            <a:r>
              <a:rPr lang="en-GB" sz="1200" b="0" i="0" dirty="0">
                <a:solidFill>
                  <a:srgbClr val="444444"/>
                </a:solidFill>
              </a:rPr>
              <a:t>)</a:t>
            </a:r>
            <a:endParaRPr sz="1200" b="0" i="0" dirty="0">
              <a:solidFill>
                <a:srgbClr val="444444"/>
              </a:solidFill>
            </a:endParaRPr>
          </a:p>
          <a:p>
            <a:pPr marL="228600" indent="-228600">
              <a:spcAft>
                <a:spcPts val="600"/>
              </a:spcAft>
              <a:buFont typeface="+mj-lt"/>
              <a:buAutoNum type="arabicPeriod"/>
            </a:pPr>
            <a:r>
              <a:rPr sz="1200" b="0" i="0" dirty="0">
                <a:solidFill>
                  <a:srgbClr val="444444"/>
                </a:solidFill>
              </a:rPr>
              <a:t>Life expectancy, cancer burden, mortality  </a:t>
            </a:r>
            <a:r>
              <a:rPr lang="en-GB" sz="1200" b="0" i="0" dirty="0">
                <a:solidFill>
                  <a:srgbClr val="444444"/>
                </a:solidFill>
              </a:rPr>
              <a:t>(</a:t>
            </a:r>
            <a:r>
              <a:rPr sz="1200" b="0" i="0" dirty="0">
                <a:solidFill>
                  <a:srgbClr val="444444"/>
                </a:solidFill>
              </a:rPr>
              <a:t>incidence by site</a:t>
            </a:r>
            <a:r>
              <a:rPr lang="en-GB" sz="1200" b="0" i="0" dirty="0">
                <a:solidFill>
                  <a:srgbClr val="444444"/>
                </a:solidFill>
              </a:rPr>
              <a:t>)</a:t>
            </a:r>
            <a:endParaRPr sz="1200" b="0" i="0" dirty="0">
              <a:solidFill>
                <a:srgbClr val="444444"/>
              </a:solidFill>
            </a:endParaRPr>
          </a:p>
          <a:p>
            <a:pPr marL="228600" indent="-228600">
              <a:spcAft>
                <a:spcPts val="600"/>
              </a:spcAft>
              <a:buFont typeface="+mj-lt"/>
              <a:buAutoNum type="arabicPeriod"/>
            </a:pPr>
            <a:r>
              <a:rPr sz="1200" b="0" i="0" dirty="0">
                <a:solidFill>
                  <a:srgbClr val="444444"/>
                </a:solidFill>
              </a:rPr>
              <a:t>Specialist wait times, quality and access KPIs</a:t>
            </a:r>
          </a:p>
          <a:p>
            <a:pPr marL="228600" indent="-228600">
              <a:spcAft>
                <a:spcPts val="600"/>
              </a:spcAft>
              <a:buFont typeface="+mj-lt"/>
              <a:buAutoNum type="arabicPeriod"/>
            </a:pPr>
            <a:r>
              <a:rPr sz="1200" b="0" i="0" dirty="0">
                <a:solidFill>
                  <a:srgbClr val="444444"/>
                </a:solidFill>
              </a:rPr>
              <a:t>Pfizer Rx footprint  </a:t>
            </a:r>
            <a:r>
              <a:rPr lang="en-GB" sz="1200" b="0" i="0" dirty="0">
                <a:solidFill>
                  <a:srgbClr val="444444"/>
                </a:solidFill>
              </a:rPr>
              <a:t>(</a:t>
            </a:r>
            <a:r>
              <a:rPr sz="1200" b="0" i="0" dirty="0">
                <a:solidFill>
                  <a:srgbClr val="444444"/>
                </a:solidFill>
              </a:rPr>
              <a:t>Rx volumes and sell-in by product</a:t>
            </a:r>
            <a:r>
              <a:rPr lang="en-GB" sz="1200" b="0" i="0" dirty="0">
                <a:solidFill>
                  <a:srgbClr val="444444"/>
                </a:solidFill>
              </a:rPr>
              <a:t>)</a:t>
            </a:r>
            <a:endParaRPr sz="1200" b="0" i="0" dirty="0">
              <a:solidFill>
                <a:srgbClr val="444444"/>
              </a:solidFill>
            </a:endParaRPr>
          </a:p>
          <a:p>
            <a:pPr marL="228600" indent="-228600">
              <a:spcAft>
                <a:spcPts val="600"/>
              </a:spcAft>
              <a:buFont typeface="+mj-lt"/>
              <a:buAutoNum type="arabicPeriod"/>
            </a:pPr>
            <a:r>
              <a:rPr sz="1200" b="0" i="0" dirty="0">
                <a:solidFill>
                  <a:srgbClr val="444444"/>
                </a:solidFill>
              </a:rPr>
              <a:t>Vaccine market share and sales detail (SEK and units)</a:t>
            </a:r>
          </a:p>
          <a:p>
            <a:pPr marL="228600" indent="-228600">
              <a:spcAft>
                <a:spcPts val="600"/>
              </a:spcAft>
              <a:buFont typeface="+mj-lt"/>
              <a:buAutoNum type="arabicPeriod"/>
            </a:pPr>
            <a:r>
              <a:rPr sz="1200" b="0" i="0" dirty="0">
                <a:solidFill>
                  <a:srgbClr val="444444"/>
                </a:solidFill>
              </a:rPr>
              <a:t>Regulatory signals </a:t>
            </a:r>
            <a:r>
              <a:rPr lang="en-GB" sz="1200" dirty="0">
                <a:solidFill>
                  <a:srgbClr val="444444"/>
                </a:solidFill>
              </a:rPr>
              <a:t>(</a:t>
            </a:r>
            <a:r>
              <a:rPr sz="1200" b="0" i="0" dirty="0">
                <a:solidFill>
                  <a:srgbClr val="444444"/>
                </a:solidFill>
              </a:rPr>
              <a:t>NT-</a:t>
            </a:r>
            <a:r>
              <a:rPr sz="1200" b="0" i="0" dirty="0" err="1">
                <a:solidFill>
                  <a:srgbClr val="444444"/>
                </a:solidFill>
              </a:rPr>
              <a:t>rådet</a:t>
            </a:r>
            <a:r>
              <a:rPr sz="1200" b="0" i="0" dirty="0">
                <a:solidFill>
                  <a:srgbClr val="444444"/>
                </a:solidFill>
              </a:rPr>
              <a:t>, TLV, RCC</a:t>
            </a:r>
            <a:r>
              <a:rPr lang="en-GB" sz="1200" b="0" i="0" dirty="0">
                <a:solidFill>
                  <a:srgbClr val="444444"/>
                </a:solidFill>
              </a:rPr>
              <a:t>)</a:t>
            </a:r>
            <a:endParaRPr sz="1200" b="0" i="0" dirty="0">
              <a:solidFill>
                <a:srgbClr val="444444"/>
              </a:solidFill>
            </a:endParaRPr>
          </a:p>
          <a:p>
            <a:pPr marL="228600" indent="-228600">
              <a:spcAft>
                <a:spcPts val="600"/>
              </a:spcAft>
              <a:buFont typeface="+mj-lt"/>
              <a:buAutoNum type="arabicPeriod"/>
            </a:pPr>
            <a:r>
              <a:rPr sz="1200" b="0" i="0" dirty="0">
                <a:solidFill>
                  <a:srgbClr val="444444"/>
                </a:solidFill>
              </a:rPr>
              <a:t>Regional governance structure  </a:t>
            </a:r>
            <a:r>
              <a:rPr lang="en-GB" sz="1200" b="0" i="0" dirty="0">
                <a:solidFill>
                  <a:srgbClr val="444444"/>
                </a:solidFill>
              </a:rPr>
              <a:t>(</a:t>
            </a:r>
            <a:r>
              <a:rPr sz="1200" b="0" i="0" dirty="0" err="1">
                <a:solidFill>
                  <a:srgbClr val="444444"/>
                </a:solidFill>
              </a:rPr>
              <a:t>regionstyrelse</a:t>
            </a:r>
            <a:r>
              <a:rPr sz="1200" b="0" i="0" dirty="0">
                <a:solidFill>
                  <a:srgbClr val="444444"/>
                </a:solidFill>
              </a:rPr>
              <a:t>, HSN, LK</a:t>
            </a:r>
            <a:r>
              <a:rPr lang="en-GB" sz="1200" b="0" i="0" dirty="0">
                <a:solidFill>
                  <a:srgbClr val="444444"/>
                </a:solidFill>
              </a:rPr>
              <a:t>)</a:t>
            </a:r>
            <a:endParaRPr sz="1200" b="0" i="0" dirty="0">
              <a:solidFill>
                <a:srgbClr val="444444"/>
              </a:solidFill>
            </a:endParaRPr>
          </a:p>
          <a:p>
            <a:pPr marL="228600" indent="-228600">
              <a:spcAft>
                <a:spcPts val="600"/>
              </a:spcAft>
              <a:buFont typeface="+mj-lt"/>
              <a:buAutoNum type="arabicPeriod"/>
            </a:pPr>
            <a:r>
              <a:rPr sz="1200" b="0" i="0" dirty="0" err="1">
                <a:solidFill>
                  <a:srgbClr val="444444"/>
                </a:solidFill>
              </a:rPr>
              <a:t>Verksamhetsplan</a:t>
            </a:r>
            <a:r>
              <a:rPr sz="1200" b="0" i="0" dirty="0">
                <a:solidFill>
                  <a:srgbClr val="444444"/>
                </a:solidFill>
              </a:rPr>
              <a:t> and regional plans, where published</a:t>
            </a:r>
          </a:p>
          <a:p>
            <a:pPr marL="228600" indent="-228600">
              <a:spcAft>
                <a:spcPts val="600"/>
              </a:spcAft>
              <a:buFont typeface="+mj-lt"/>
              <a:buAutoNum type="arabicPeriod"/>
            </a:pPr>
            <a:r>
              <a:rPr sz="1200" b="0" i="0" dirty="0">
                <a:solidFill>
                  <a:srgbClr val="444444"/>
                </a:solidFill>
              </a:rPr>
              <a:t>Named stakeholders and the regional LK </a:t>
            </a:r>
            <a:r>
              <a:rPr sz="1200" b="0" i="0" dirty="0" err="1">
                <a:solidFill>
                  <a:srgbClr val="444444"/>
                </a:solidFill>
              </a:rPr>
              <a:t>ledamot</a:t>
            </a:r>
            <a:r>
              <a:rPr sz="1200" b="0" i="0" dirty="0">
                <a:solidFill>
                  <a:srgbClr val="444444"/>
                </a:solidFill>
              </a:rPr>
              <a:t> pool</a:t>
            </a:r>
          </a:p>
        </p:txBody>
      </p:sp>
      <p:sp>
        <p:nvSpPr>
          <p:cNvPr id="10" name="TextBox 9"/>
          <p:cNvSpPr txBox="1"/>
          <p:nvPr/>
        </p:nvSpPr>
        <p:spPr>
          <a:xfrm>
            <a:off x="6336000" y="2286000"/>
            <a:ext cx="5379600" cy="365760"/>
          </a:xfrm>
          <a:prstGeom prst="rect">
            <a:avLst/>
          </a:prstGeom>
          <a:noFill/>
        </p:spPr>
        <p:txBody>
          <a:bodyPr wrap="square" lIns="0" tIns="0" rIns="0" bIns="0">
            <a:spAutoFit/>
          </a:bodyPr>
          <a:lstStyle/>
          <a:p>
            <a:r>
              <a:rPr sz="1400" b="1" i="0">
                <a:solidFill>
                  <a:srgbClr val="1F3A5F"/>
                </a:solidFill>
              </a:rPr>
              <a:t>Data sources</a:t>
            </a:r>
          </a:p>
        </p:txBody>
      </p:sp>
      <p:sp>
        <p:nvSpPr>
          <p:cNvPr id="11" name="TextBox 10"/>
          <p:cNvSpPr txBox="1"/>
          <p:nvPr/>
        </p:nvSpPr>
        <p:spPr>
          <a:xfrm>
            <a:off x="6336000" y="2743200"/>
            <a:ext cx="5379600" cy="2277547"/>
          </a:xfrm>
          <a:prstGeom prst="rect">
            <a:avLst/>
          </a:prstGeom>
          <a:noFill/>
        </p:spPr>
        <p:txBody>
          <a:bodyPr wrap="square" lIns="0" tIns="0" rIns="0" bIns="0">
            <a:spAutoFit/>
          </a:bodyPr>
          <a:lstStyle/>
          <a:p>
            <a:pPr marL="171450" indent="-171450">
              <a:spcAft>
                <a:spcPts val="600"/>
              </a:spcAft>
              <a:buFont typeface="Arial" panose="020B0604020202020204" pitchFamily="34" charset="0"/>
              <a:buChar char="•"/>
            </a:pPr>
            <a:r>
              <a:rPr sz="1200" b="0" i="0" dirty="0">
                <a:solidFill>
                  <a:srgbClr val="444444"/>
                </a:solidFill>
              </a:rPr>
              <a:t>SCB</a:t>
            </a:r>
            <a:r>
              <a:rPr lang="en-GB" sz="1200" b="0" i="0" dirty="0">
                <a:solidFill>
                  <a:srgbClr val="444444"/>
                </a:solidFill>
              </a:rPr>
              <a:t>:</a:t>
            </a:r>
            <a:r>
              <a:rPr sz="1200" b="0" i="0" dirty="0">
                <a:solidFill>
                  <a:srgbClr val="444444"/>
                </a:solidFill>
              </a:rPr>
              <a:t> population, demographics, projections</a:t>
            </a:r>
          </a:p>
          <a:p>
            <a:pPr marL="171450" indent="-171450">
              <a:spcAft>
                <a:spcPts val="600"/>
              </a:spcAft>
              <a:buFont typeface="Arial" panose="020B0604020202020204" pitchFamily="34" charset="0"/>
              <a:buChar char="•"/>
            </a:pPr>
            <a:r>
              <a:rPr sz="1200" b="0" i="0" dirty="0" err="1">
                <a:solidFill>
                  <a:srgbClr val="444444"/>
                </a:solidFill>
              </a:rPr>
              <a:t>Socialstyrelsen</a:t>
            </a:r>
            <a:r>
              <a:rPr sz="1200" b="0" i="0" dirty="0">
                <a:solidFill>
                  <a:srgbClr val="444444"/>
                </a:solidFill>
              </a:rPr>
              <a:t>, </a:t>
            </a:r>
            <a:r>
              <a:rPr sz="1200" b="0" i="0" dirty="0" err="1">
                <a:solidFill>
                  <a:srgbClr val="444444"/>
                </a:solidFill>
              </a:rPr>
              <a:t>Cancerregistret</a:t>
            </a:r>
            <a:r>
              <a:rPr lang="en-GB" sz="1200" dirty="0">
                <a:solidFill>
                  <a:srgbClr val="444444"/>
                </a:solidFill>
              </a:rPr>
              <a:t>: </a:t>
            </a:r>
            <a:r>
              <a:rPr sz="1200" b="0" i="0" dirty="0">
                <a:solidFill>
                  <a:srgbClr val="444444"/>
                </a:solidFill>
              </a:rPr>
              <a:t>burden and mortality</a:t>
            </a:r>
          </a:p>
          <a:p>
            <a:pPr marL="171450" indent="-171450">
              <a:spcAft>
                <a:spcPts val="600"/>
              </a:spcAft>
              <a:buFont typeface="Arial" panose="020B0604020202020204" pitchFamily="34" charset="0"/>
              <a:buChar char="•"/>
            </a:pPr>
            <a:r>
              <a:rPr sz="1200" b="0" i="0" dirty="0" err="1">
                <a:solidFill>
                  <a:srgbClr val="444444"/>
                </a:solidFill>
              </a:rPr>
              <a:t>Kolada</a:t>
            </a:r>
            <a:r>
              <a:rPr lang="en-GB" sz="1200" dirty="0">
                <a:solidFill>
                  <a:srgbClr val="444444"/>
                </a:solidFill>
              </a:rPr>
              <a:t>:</a:t>
            </a:r>
            <a:r>
              <a:rPr sz="1200" b="0" i="0" dirty="0">
                <a:solidFill>
                  <a:srgbClr val="444444"/>
                </a:solidFill>
              </a:rPr>
              <a:t> quality, access, KPIs</a:t>
            </a:r>
          </a:p>
          <a:p>
            <a:pPr marL="171450" indent="-171450">
              <a:spcAft>
                <a:spcPts val="600"/>
              </a:spcAft>
              <a:buFont typeface="Arial" panose="020B0604020202020204" pitchFamily="34" charset="0"/>
              <a:buChar char="•"/>
            </a:pPr>
            <a:r>
              <a:rPr sz="1200" b="0" i="0" dirty="0">
                <a:solidFill>
                  <a:srgbClr val="444444"/>
                </a:solidFill>
              </a:rPr>
              <a:t>IQVIA</a:t>
            </a:r>
            <a:r>
              <a:rPr lang="en-GB" sz="1200" b="0" i="0" dirty="0">
                <a:solidFill>
                  <a:srgbClr val="444444"/>
                </a:solidFill>
              </a:rPr>
              <a:t>:</a:t>
            </a:r>
            <a:r>
              <a:rPr sz="1200" b="0" i="0" dirty="0">
                <a:solidFill>
                  <a:srgbClr val="444444"/>
                </a:solidFill>
              </a:rPr>
              <a:t> three extracts: Vaccines, RD/IM, Oncology</a:t>
            </a:r>
          </a:p>
          <a:p>
            <a:pPr marL="171450" indent="-171450">
              <a:spcAft>
                <a:spcPts val="600"/>
              </a:spcAft>
              <a:buFont typeface="Arial" panose="020B0604020202020204" pitchFamily="34" charset="0"/>
              <a:buChar char="•"/>
            </a:pPr>
            <a:r>
              <a:rPr sz="1200" b="0" i="0" dirty="0" err="1">
                <a:solidFill>
                  <a:srgbClr val="444444"/>
                </a:solidFill>
              </a:rPr>
              <a:t>Läkemedelsregistret</a:t>
            </a:r>
            <a:r>
              <a:rPr lang="en-GB" sz="1200" dirty="0">
                <a:solidFill>
                  <a:srgbClr val="444444"/>
                </a:solidFill>
              </a:rPr>
              <a:t>:</a:t>
            </a:r>
            <a:r>
              <a:rPr sz="1200" b="0" i="0" dirty="0">
                <a:solidFill>
                  <a:srgbClr val="444444"/>
                </a:solidFill>
              </a:rPr>
              <a:t> Rx volumes</a:t>
            </a:r>
          </a:p>
          <a:p>
            <a:pPr marL="171450" indent="-171450">
              <a:spcAft>
                <a:spcPts val="600"/>
              </a:spcAft>
              <a:buFont typeface="Arial" panose="020B0604020202020204" pitchFamily="34" charset="0"/>
              <a:buChar char="•"/>
            </a:pPr>
            <a:r>
              <a:rPr sz="1200" b="0" i="0" dirty="0">
                <a:solidFill>
                  <a:srgbClr val="444444"/>
                </a:solidFill>
              </a:rPr>
              <a:t>NT-</a:t>
            </a:r>
            <a:r>
              <a:rPr sz="1200" b="0" i="0" dirty="0" err="1">
                <a:solidFill>
                  <a:srgbClr val="444444"/>
                </a:solidFill>
              </a:rPr>
              <a:t>rådet</a:t>
            </a:r>
            <a:r>
              <a:rPr sz="1200" b="0" i="0" dirty="0">
                <a:solidFill>
                  <a:srgbClr val="444444"/>
                </a:solidFill>
              </a:rPr>
              <a:t>, TLV</a:t>
            </a:r>
            <a:r>
              <a:rPr lang="en-GB" sz="1200" b="0" i="0" dirty="0">
                <a:solidFill>
                  <a:srgbClr val="444444"/>
                </a:solidFill>
              </a:rPr>
              <a:t>:</a:t>
            </a:r>
            <a:r>
              <a:rPr sz="1200" b="0" i="0" dirty="0">
                <a:solidFill>
                  <a:srgbClr val="444444"/>
                </a:solidFill>
              </a:rPr>
              <a:t> recommendation and reimbursement state</a:t>
            </a:r>
          </a:p>
          <a:p>
            <a:pPr marL="171450" indent="-171450">
              <a:spcAft>
                <a:spcPts val="600"/>
              </a:spcAft>
              <a:buFont typeface="Arial" panose="020B0604020202020204" pitchFamily="34" charset="0"/>
              <a:buChar char="•"/>
            </a:pPr>
            <a:r>
              <a:rPr sz="1200" b="0" i="0" dirty="0">
                <a:solidFill>
                  <a:srgbClr val="444444"/>
                </a:solidFill>
              </a:rPr>
              <a:t>RCC</a:t>
            </a:r>
            <a:r>
              <a:rPr lang="en-GB" sz="1200" b="0" i="0" dirty="0">
                <a:solidFill>
                  <a:srgbClr val="444444"/>
                </a:solidFill>
              </a:rPr>
              <a:t>:</a:t>
            </a:r>
            <a:r>
              <a:rPr sz="1200" b="0" i="0" dirty="0">
                <a:solidFill>
                  <a:srgbClr val="444444"/>
                </a:solidFill>
              </a:rPr>
              <a:t> regional cancer-care signals</a:t>
            </a:r>
          </a:p>
          <a:p>
            <a:pPr marL="171450" indent="-171450">
              <a:spcAft>
                <a:spcPts val="600"/>
              </a:spcAft>
              <a:buFont typeface="Arial" panose="020B0604020202020204" pitchFamily="34" charset="0"/>
              <a:buChar char="•"/>
            </a:pPr>
            <a:r>
              <a:rPr sz="1200" b="0" i="0" dirty="0">
                <a:solidFill>
                  <a:srgbClr val="444444"/>
                </a:solidFill>
              </a:rPr>
              <a:t>21 region websites</a:t>
            </a:r>
            <a:r>
              <a:rPr lang="en-GB" sz="1200" b="0" i="0" dirty="0">
                <a:solidFill>
                  <a:srgbClr val="444444"/>
                </a:solidFill>
              </a:rPr>
              <a:t>:</a:t>
            </a:r>
            <a:r>
              <a:rPr sz="1200" b="0" i="0" dirty="0">
                <a:solidFill>
                  <a:srgbClr val="444444"/>
                </a:solidFill>
              </a:rPr>
              <a:t> governance, plans, rosters</a:t>
            </a:r>
          </a:p>
          <a:p>
            <a:pPr marL="171450" indent="-171450">
              <a:spcAft>
                <a:spcPts val="600"/>
              </a:spcAft>
              <a:buFont typeface="Arial" panose="020B0604020202020204" pitchFamily="34" charset="0"/>
              <a:buChar char="•"/>
            </a:pPr>
            <a:r>
              <a:rPr sz="1200" b="0" i="0" dirty="0">
                <a:solidFill>
                  <a:srgbClr val="444444"/>
                </a:solidFill>
              </a:rPr>
              <a:t>Public meeting minutes</a:t>
            </a:r>
            <a:r>
              <a:rPr lang="en-GB" sz="1200" b="0" i="0" dirty="0">
                <a:solidFill>
                  <a:srgbClr val="444444"/>
                </a:solidFill>
              </a:rPr>
              <a:t>:</a:t>
            </a:r>
            <a:r>
              <a:rPr sz="1200" b="0" i="0" dirty="0">
                <a:solidFill>
                  <a:srgbClr val="444444"/>
                </a:solidFill>
              </a:rPr>
              <a:t> committee membership</a:t>
            </a:r>
          </a:p>
        </p:txBody>
      </p:sp>
      <p:sp>
        <p:nvSpPr>
          <p:cNvPr id="12" name="TextBox 11"/>
          <p:cNvSpPr txBox="1"/>
          <p:nvPr/>
        </p:nvSpPr>
        <p:spPr>
          <a:xfrm>
            <a:off x="457200" y="5550753"/>
            <a:ext cx="11274552" cy="338554"/>
          </a:xfrm>
          <a:prstGeom prst="rect">
            <a:avLst/>
          </a:prstGeom>
          <a:noFill/>
        </p:spPr>
        <p:txBody>
          <a:bodyPr wrap="square" lIns="0" tIns="0" rIns="0" bIns="0">
            <a:spAutoFit/>
          </a:bodyPr>
          <a:lstStyle/>
          <a:p>
            <a:r>
              <a:rPr sz="1100" b="0" i="0" dirty="0">
                <a:solidFill>
                  <a:srgbClr val="1F3A5F"/>
                </a:solidFill>
              </a:rPr>
              <a:t>Each region has its row in the Region master sheet; 65 underlying tabs hold per-source detail.</a:t>
            </a:r>
            <a:endParaRPr lang="en-GB" sz="1100" b="0" i="0" dirty="0">
              <a:solidFill>
                <a:srgbClr val="1F3A5F"/>
              </a:solidFill>
            </a:endParaRPr>
          </a:p>
          <a:p>
            <a:r>
              <a:rPr sz="1100" b="0" i="0" dirty="0">
                <a:solidFill>
                  <a:srgbClr val="1F3A5F"/>
                </a:solidFill>
              </a:rPr>
              <a:t>IQVIA layers cover April 2023 – March 2026 at brick-level granularity.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7315200" cy="274320"/>
          </a:xfrm>
          <a:prstGeom prst="rect">
            <a:avLst/>
          </a:prstGeom>
          <a:noFill/>
        </p:spPr>
        <p:txBody>
          <a:bodyPr wrap="square" lIns="0" tIns="0" rIns="0" bIns="0">
            <a:spAutoFit/>
          </a:bodyPr>
          <a:lstStyle/>
          <a:p>
            <a:r>
              <a:rPr sz="1000" b="1" i="0">
                <a:solidFill>
                  <a:srgbClr val="888888"/>
                </a:solidFill>
              </a:rPr>
              <a:t>STAKEHOLDERS MAPPED</a:t>
            </a:r>
          </a:p>
        </p:txBody>
      </p:sp>
      <p:cxnSp>
        <p:nvCxnSpPr>
          <p:cNvPr id="3" name="Connector 2"/>
          <p:cNvCxnSpPr/>
          <p:nvPr/>
        </p:nvCxnSpPr>
        <p:spPr>
          <a:xfrm>
            <a:off x="457200" y="603504"/>
            <a:ext cx="11274552"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46520"/>
            <a:ext cx="9144000" cy="274320"/>
          </a:xfrm>
          <a:prstGeom prst="rect">
            <a:avLst/>
          </a:prstGeom>
          <a:noFill/>
        </p:spPr>
        <p:txBody>
          <a:bodyPr wrap="square" lIns="0" tIns="0" rIns="0" bIns="0">
            <a:spAutoFit/>
          </a:bodyPr>
          <a:lstStyle/>
          <a:p>
            <a:r>
              <a:rPr sz="900" b="0" i="0">
                <a:solidFill>
                  <a:srgbClr val="888888"/>
                </a:solidFill>
              </a:rPr>
              <a:t>Viti Science · Pfizer Sweden Regional Landscape · April 2026</a:t>
            </a:r>
          </a:p>
        </p:txBody>
      </p:sp>
      <p:sp>
        <p:nvSpPr>
          <p:cNvPr id="5" name="TextBox 4"/>
          <p:cNvSpPr txBox="1"/>
          <p:nvPr/>
        </p:nvSpPr>
        <p:spPr>
          <a:xfrm>
            <a:off x="10515600" y="6446520"/>
            <a:ext cx="1371600" cy="274320"/>
          </a:xfrm>
          <a:prstGeom prst="rect">
            <a:avLst/>
          </a:prstGeom>
          <a:noFill/>
        </p:spPr>
        <p:txBody>
          <a:bodyPr wrap="square" lIns="0" tIns="0" rIns="0" bIns="0">
            <a:spAutoFit/>
          </a:bodyPr>
          <a:lstStyle/>
          <a:p>
            <a:pPr algn="r"/>
            <a:r>
              <a:rPr sz="900" b="0" i="0">
                <a:solidFill>
                  <a:srgbClr val="888888"/>
                </a:solidFill>
              </a:rPr>
              <a:t>4 / 6</a:t>
            </a:r>
          </a:p>
        </p:txBody>
      </p:sp>
      <p:sp>
        <p:nvSpPr>
          <p:cNvPr id="6" name="TextBox 5"/>
          <p:cNvSpPr txBox="1"/>
          <p:nvPr/>
        </p:nvSpPr>
        <p:spPr>
          <a:xfrm>
            <a:off x="457200" y="777240"/>
            <a:ext cx="11274552" cy="777240"/>
          </a:xfrm>
          <a:prstGeom prst="rect">
            <a:avLst/>
          </a:prstGeom>
          <a:noFill/>
        </p:spPr>
        <p:txBody>
          <a:bodyPr wrap="square" lIns="0" tIns="0" rIns="0" bIns="0">
            <a:spAutoFit/>
          </a:bodyPr>
          <a:lstStyle/>
          <a:p>
            <a:r>
              <a:rPr sz="2400" b="1" i="0">
                <a:solidFill>
                  <a:srgbClr val="1F3A5F"/>
                </a:solidFill>
              </a:rPr>
              <a:t>135 named individuals across regional and national tiers</a:t>
            </a:r>
          </a:p>
        </p:txBody>
      </p:sp>
      <p:sp>
        <p:nvSpPr>
          <p:cNvPr id="7" name="TextBox 6"/>
          <p:cNvSpPr txBox="1"/>
          <p:nvPr/>
        </p:nvSpPr>
        <p:spPr>
          <a:xfrm>
            <a:off x="457200" y="1508760"/>
            <a:ext cx="11274552" cy="502920"/>
          </a:xfrm>
          <a:prstGeom prst="rect">
            <a:avLst/>
          </a:prstGeom>
          <a:noFill/>
        </p:spPr>
        <p:txBody>
          <a:bodyPr wrap="square" lIns="0" tIns="0" rIns="0" bIns="0">
            <a:spAutoFit/>
          </a:bodyPr>
          <a:lstStyle/>
          <a:p>
            <a:r>
              <a:rPr sz="1300" b="0" i="0">
                <a:solidFill>
                  <a:srgbClr val="444444"/>
                </a:solidFill>
              </a:rPr>
              <a:t>A 21 × 5 grid for the regions, with the national governance tier layered above.</a:t>
            </a:r>
          </a:p>
        </p:txBody>
      </p:sp>
      <p:sp>
        <p:nvSpPr>
          <p:cNvPr id="8" name="TextBox 7"/>
          <p:cNvSpPr txBox="1"/>
          <p:nvPr/>
        </p:nvSpPr>
        <p:spPr>
          <a:xfrm>
            <a:off x="457200" y="2286000"/>
            <a:ext cx="5379600" cy="365760"/>
          </a:xfrm>
          <a:prstGeom prst="rect">
            <a:avLst/>
          </a:prstGeom>
          <a:noFill/>
        </p:spPr>
        <p:txBody>
          <a:bodyPr wrap="square" lIns="0" tIns="0" rIns="0" bIns="0">
            <a:spAutoFit/>
          </a:bodyPr>
          <a:lstStyle/>
          <a:p>
            <a:r>
              <a:rPr sz="1400" b="1" i="0">
                <a:solidFill>
                  <a:srgbClr val="1F3A5F"/>
                </a:solidFill>
              </a:rPr>
              <a:t>Structure</a:t>
            </a:r>
          </a:p>
        </p:txBody>
      </p:sp>
      <p:sp>
        <p:nvSpPr>
          <p:cNvPr id="9" name="TextBox 8"/>
          <p:cNvSpPr txBox="1"/>
          <p:nvPr/>
        </p:nvSpPr>
        <p:spPr>
          <a:xfrm>
            <a:off x="457200" y="2743200"/>
            <a:ext cx="5379600" cy="4000000"/>
          </a:xfrm>
          <a:prstGeom prst="rect">
            <a:avLst/>
          </a:prstGeom>
          <a:noFill/>
        </p:spPr>
        <p:txBody>
          <a:bodyPr wrap="square" lIns="0" tIns="0" rIns="0" bIns="0">
            <a:spAutoFit/>
          </a:bodyPr>
          <a:lstStyle/>
          <a:p>
            <a:pPr>
              <a:spcAft>
                <a:spcPts val="600"/>
              </a:spcAft>
            </a:pPr>
            <a:r>
              <a:rPr sz="1200" b="1" i="0" dirty="0">
                <a:solidFill>
                  <a:srgbClr val="1F3A5F"/>
                </a:solidFill>
              </a:rPr>
              <a:t>21 regions × 5 roles  =  105 cells</a:t>
            </a:r>
          </a:p>
          <a:p>
            <a:pPr lvl="1">
              <a:spcAft>
                <a:spcPts val="400"/>
              </a:spcAft>
            </a:pPr>
            <a:r>
              <a:rPr sz="1200" b="0" i="0" dirty="0" err="1">
                <a:solidFill>
                  <a:srgbClr val="444444"/>
                </a:solidFill>
              </a:rPr>
              <a:t>Regiondirektör</a:t>
            </a:r>
            <a:r>
              <a:rPr sz="1200" b="0" i="0" dirty="0">
                <a:solidFill>
                  <a:srgbClr val="444444"/>
                </a:solidFill>
              </a:rPr>
              <a:t> (RD)</a:t>
            </a:r>
          </a:p>
          <a:p>
            <a:pPr lvl="1">
              <a:spcAft>
                <a:spcPts val="400"/>
              </a:spcAft>
            </a:pPr>
            <a:r>
              <a:rPr sz="1200" b="0" i="0" dirty="0" err="1">
                <a:solidFill>
                  <a:srgbClr val="444444"/>
                </a:solidFill>
              </a:rPr>
              <a:t>Hälso</a:t>
            </a:r>
            <a:r>
              <a:rPr sz="1200" b="0" i="0" dirty="0">
                <a:solidFill>
                  <a:srgbClr val="444444"/>
                </a:solidFill>
              </a:rPr>
              <a:t>- </a:t>
            </a:r>
            <a:r>
              <a:rPr sz="1200" b="0" i="0" dirty="0" err="1">
                <a:solidFill>
                  <a:srgbClr val="444444"/>
                </a:solidFill>
              </a:rPr>
              <a:t>och</a:t>
            </a:r>
            <a:r>
              <a:rPr sz="1200" b="0" i="0" dirty="0">
                <a:solidFill>
                  <a:srgbClr val="444444"/>
                </a:solidFill>
              </a:rPr>
              <a:t> </a:t>
            </a:r>
            <a:r>
              <a:rPr sz="1200" b="0" i="0" dirty="0" err="1">
                <a:solidFill>
                  <a:srgbClr val="444444"/>
                </a:solidFill>
              </a:rPr>
              <a:t>sjukvårdsdirektör</a:t>
            </a:r>
            <a:r>
              <a:rPr sz="1200" b="0" i="0" dirty="0">
                <a:solidFill>
                  <a:srgbClr val="444444"/>
                </a:solidFill>
              </a:rPr>
              <a:t> (HSD)</a:t>
            </a:r>
          </a:p>
          <a:p>
            <a:pPr lvl="1">
              <a:spcAft>
                <a:spcPts val="400"/>
              </a:spcAft>
            </a:pPr>
            <a:r>
              <a:rPr sz="1200" b="0" i="0" dirty="0" err="1">
                <a:solidFill>
                  <a:srgbClr val="444444"/>
                </a:solidFill>
              </a:rPr>
              <a:t>Regionstyrelsens</a:t>
            </a:r>
            <a:r>
              <a:rPr sz="1200" b="0" i="0" dirty="0">
                <a:solidFill>
                  <a:srgbClr val="444444"/>
                </a:solidFill>
              </a:rPr>
              <a:t> </a:t>
            </a:r>
            <a:r>
              <a:rPr sz="1200" b="0" i="0" dirty="0" err="1">
                <a:solidFill>
                  <a:srgbClr val="444444"/>
                </a:solidFill>
              </a:rPr>
              <a:t>ordförande</a:t>
            </a:r>
            <a:r>
              <a:rPr sz="1200" b="0" i="0" dirty="0">
                <a:solidFill>
                  <a:srgbClr val="444444"/>
                </a:solidFill>
              </a:rPr>
              <a:t> (RS </a:t>
            </a:r>
            <a:r>
              <a:rPr sz="1200" b="0" i="0" dirty="0" err="1">
                <a:solidFill>
                  <a:srgbClr val="444444"/>
                </a:solidFill>
              </a:rPr>
              <a:t>ordf</a:t>
            </a:r>
            <a:r>
              <a:rPr sz="1200" b="0" i="0" dirty="0">
                <a:solidFill>
                  <a:srgbClr val="444444"/>
                </a:solidFill>
              </a:rPr>
              <a:t>)</a:t>
            </a:r>
          </a:p>
          <a:p>
            <a:pPr lvl="1">
              <a:spcAft>
                <a:spcPts val="400"/>
              </a:spcAft>
            </a:pPr>
            <a:r>
              <a:rPr sz="1200" b="0" i="0" dirty="0" err="1">
                <a:solidFill>
                  <a:srgbClr val="444444"/>
                </a:solidFill>
              </a:rPr>
              <a:t>Hälso</a:t>
            </a:r>
            <a:r>
              <a:rPr sz="1200" b="0" i="0" dirty="0">
                <a:solidFill>
                  <a:srgbClr val="444444"/>
                </a:solidFill>
              </a:rPr>
              <a:t>- </a:t>
            </a:r>
            <a:r>
              <a:rPr sz="1200" b="0" i="0" dirty="0" err="1">
                <a:solidFill>
                  <a:srgbClr val="444444"/>
                </a:solidFill>
              </a:rPr>
              <a:t>och</a:t>
            </a:r>
            <a:r>
              <a:rPr sz="1200" b="0" i="0" dirty="0">
                <a:solidFill>
                  <a:srgbClr val="444444"/>
                </a:solidFill>
              </a:rPr>
              <a:t> </a:t>
            </a:r>
            <a:r>
              <a:rPr sz="1200" b="0" i="0" dirty="0" err="1">
                <a:solidFill>
                  <a:srgbClr val="444444"/>
                </a:solidFill>
              </a:rPr>
              <a:t>sjukvårdsnämndens</a:t>
            </a:r>
            <a:r>
              <a:rPr sz="1200" b="0" i="0" dirty="0">
                <a:solidFill>
                  <a:srgbClr val="444444"/>
                </a:solidFill>
              </a:rPr>
              <a:t> </a:t>
            </a:r>
            <a:r>
              <a:rPr sz="1200" b="0" i="0" dirty="0" err="1">
                <a:solidFill>
                  <a:srgbClr val="444444"/>
                </a:solidFill>
              </a:rPr>
              <a:t>ordförande</a:t>
            </a:r>
            <a:r>
              <a:rPr sz="1200" b="0" i="0" dirty="0">
                <a:solidFill>
                  <a:srgbClr val="444444"/>
                </a:solidFill>
              </a:rPr>
              <a:t> (HSN </a:t>
            </a:r>
            <a:r>
              <a:rPr sz="1200" b="0" i="0" dirty="0" err="1">
                <a:solidFill>
                  <a:srgbClr val="444444"/>
                </a:solidFill>
              </a:rPr>
              <a:t>ordf</a:t>
            </a:r>
            <a:r>
              <a:rPr sz="1200" b="0" i="0" dirty="0">
                <a:solidFill>
                  <a:srgbClr val="444444"/>
                </a:solidFill>
              </a:rPr>
              <a:t>)</a:t>
            </a:r>
          </a:p>
          <a:p>
            <a:pPr lvl="1">
              <a:spcAft>
                <a:spcPts val="1200"/>
              </a:spcAft>
            </a:pPr>
            <a:r>
              <a:rPr sz="1200" b="0" i="0" dirty="0" err="1">
                <a:solidFill>
                  <a:srgbClr val="444444"/>
                </a:solidFill>
              </a:rPr>
              <a:t>Läkemedelskommittén</a:t>
            </a:r>
            <a:r>
              <a:rPr sz="1200" b="0" i="0" dirty="0">
                <a:solidFill>
                  <a:srgbClr val="444444"/>
                </a:solidFill>
              </a:rPr>
              <a:t> </a:t>
            </a:r>
            <a:r>
              <a:rPr sz="1200" b="0" i="0" dirty="0" err="1">
                <a:solidFill>
                  <a:srgbClr val="444444"/>
                </a:solidFill>
              </a:rPr>
              <a:t>ordförande</a:t>
            </a:r>
            <a:r>
              <a:rPr sz="1200" b="0" i="0" dirty="0">
                <a:solidFill>
                  <a:srgbClr val="444444"/>
                </a:solidFill>
              </a:rPr>
              <a:t> (LK </a:t>
            </a:r>
            <a:r>
              <a:rPr sz="1200" b="0" i="0" dirty="0" err="1">
                <a:solidFill>
                  <a:srgbClr val="444444"/>
                </a:solidFill>
              </a:rPr>
              <a:t>ordf</a:t>
            </a:r>
            <a:r>
              <a:rPr sz="1200" b="0" i="0" dirty="0">
                <a:solidFill>
                  <a:srgbClr val="444444"/>
                </a:solidFill>
              </a:rPr>
              <a:t>)</a:t>
            </a:r>
          </a:p>
          <a:p>
            <a:pPr>
              <a:spcAft>
                <a:spcPts val="600"/>
              </a:spcAft>
            </a:pPr>
            <a:r>
              <a:rPr sz="1200" b="1" i="0" dirty="0">
                <a:solidFill>
                  <a:srgbClr val="1F3A5F"/>
                </a:solidFill>
              </a:rPr>
              <a:t>National tier</a:t>
            </a:r>
          </a:p>
          <a:p>
            <a:pPr lvl="1">
              <a:spcAft>
                <a:spcPts val="400"/>
              </a:spcAft>
            </a:pPr>
            <a:r>
              <a:rPr sz="1200" b="0" i="0" dirty="0">
                <a:solidFill>
                  <a:srgbClr val="444444"/>
                </a:solidFill>
              </a:rPr>
              <a:t>NT-</a:t>
            </a:r>
            <a:r>
              <a:rPr sz="1200" b="0" i="0" dirty="0" err="1">
                <a:solidFill>
                  <a:srgbClr val="444444"/>
                </a:solidFill>
              </a:rPr>
              <a:t>rådet</a:t>
            </a:r>
            <a:r>
              <a:rPr sz="1200" b="0" i="0" dirty="0">
                <a:solidFill>
                  <a:srgbClr val="444444"/>
                </a:solidFill>
              </a:rPr>
              <a:t> — </a:t>
            </a:r>
            <a:r>
              <a:rPr sz="1200" b="0" i="0" dirty="0" err="1">
                <a:solidFill>
                  <a:srgbClr val="444444"/>
                </a:solidFill>
              </a:rPr>
              <a:t>ordförande</a:t>
            </a:r>
            <a:r>
              <a:rPr sz="1200" b="0" i="0" dirty="0">
                <a:solidFill>
                  <a:srgbClr val="444444"/>
                </a:solidFill>
              </a:rPr>
              <a:t>, vice </a:t>
            </a:r>
            <a:r>
              <a:rPr sz="1200" b="0" i="0" dirty="0" err="1">
                <a:solidFill>
                  <a:srgbClr val="444444"/>
                </a:solidFill>
              </a:rPr>
              <a:t>ordf</a:t>
            </a:r>
            <a:r>
              <a:rPr sz="1200" b="0" i="0" dirty="0">
                <a:solidFill>
                  <a:srgbClr val="444444"/>
                </a:solidFill>
              </a:rPr>
              <a:t>, members</a:t>
            </a:r>
          </a:p>
          <a:p>
            <a:pPr lvl="1">
              <a:spcAft>
                <a:spcPts val="400"/>
              </a:spcAft>
            </a:pPr>
            <a:r>
              <a:rPr sz="1200" b="0" i="0" dirty="0">
                <a:solidFill>
                  <a:srgbClr val="444444"/>
                </a:solidFill>
              </a:rPr>
              <a:t>NSG — </a:t>
            </a:r>
            <a:r>
              <a:rPr sz="1200" b="0" i="0" dirty="0" err="1">
                <a:solidFill>
                  <a:srgbClr val="444444"/>
                </a:solidFill>
              </a:rPr>
              <a:t>Nationell</a:t>
            </a:r>
            <a:r>
              <a:rPr sz="1200" b="0" i="0" dirty="0">
                <a:solidFill>
                  <a:srgbClr val="444444"/>
                </a:solidFill>
              </a:rPr>
              <a:t> </a:t>
            </a:r>
            <a:r>
              <a:rPr sz="1200" b="0" i="0" dirty="0" err="1">
                <a:solidFill>
                  <a:srgbClr val="444444"/>
                </a:solidFill>
              </a:rPr>
              <a:t>samverkansgrupp</a:t>
            </a:r>
            <a:endParaRPr sz="1200" b="0" i="0" dirty="0">
              <a:solidFill>
                <a:srgbClr val="444444"/>
              </a:solidFill>
            </a:endParaRPr>
          </a:p>
          <a:p>
            <a:pPr lvl="1">
              <a:spcAft>
                <a:spcPts val="400"/>
              </a:spcAft>
            </a:pPr>
            <a:r>
              <a:rPr sz="1200" b="0" i="0" dirty="0">
                <a:solidFill>
                  <a:srgbClr val="444444"/>
                </a:solidFill>
              </a:rPr>
              <a:t>TLV-related contacts</a:t>
            </a:r>
          </a:p>
          <a:p>
            <a:pPr lvl="1">
              <a:spcAft>
                <a:spcPts val="400"/>
              </a:spcAft>
            </a:pPr>
            <a:r>
              <a:rPr sz="1200" b="0" i="0" dirty="0">
                <a:solidFill>
                  <a:srgbClr val="444444"/>
                </a:solidFill>
              </a:rPr>
              <a:t>Medical society and clinical-network pool</a:t>
            </a:r>
          </a:p>
        </p:txBody>
      </p:sp>
      <p:sp>
        <p:nvSpPr>
          <p:cNvPr id="10" name="TextBox 9"/>
          <p:cNvSpPr txBox="1"/>
          <p:nvPr/>
        </p:nvSpPr>
        <p:spPr>
          <a:xfrm>
            <a:off x="6336000" y="2286000"/>
            <a:ext cx="5379600" cy="365760"/>
          </a:xfrm>
          <a:prstGeom prst="rect">
            <a:avLst/>
          </a:prstGeom>
          <a:noFill/>
        </p:spPr>
        <p:txBody>
          <a:bodyPr wrap="square" lIns="0" tIns="0" rIns="0" bIns="0">
            <a:spAutoFit/>
          </a:bodyPr>
          <a:lstStyle/>
          <a:p>
            <a:r>
              <a:rPr sz="1400" b="1" i="0" dirty="0">
                <a:solidFill>
                  <a:srgbClr val="1F3A5F"/>
                </a:solidFill>
              </a:rPr>
              <a:t>8 cornerstone individuals</a:t>
            </a:r>
          </a:p>
        </p:txBody>
      </p:sp>
      <p:sp>
        <p:nvSpPr>
          <p:cNvPr id="11" name="TextBox 10"/>
          <p:cNvSpPr txBox="1"/>
          <p:nvPr/>
        </p:nvSpPr>
        <p:spPr>
          <a:xfrm>
            <a:off x="6336000" y="2743200"/>
            <a:ext cx="5379600" cy="4200000"/>
          </a:xfrm>
          <a:prstGeom prst="rect">
            <a:avLst/>
          </a:prstGeom>
          <a:noFill/>
        </p:spPr>
        <p:txBody>
          <a:bodyPr wrap="square" lIns="0" tIns="0" rIns="0" bIns="0">
            <a:spAutoFit/>
          </a:bodyPr>
          <a:lstStyle/>
          <a:p>
            <a:pPr>
              <a:spcAft>
                <a:spcPts val="0"/>
              </a:spcAft>
            </a:pPr>
            <a:r>
              <a:rPr sz="1100" b="1" i="0" dirty="0">
                <a:solidFill>
                  <a:srgbClr val="1F3A5F"/>
                </a:solidFill>
              </a:rPr>
              <a:t>1.  </a:t>
            </a:r>
            <a:r>
              <a:rPr sz="1100" b="1" i="0" dirty="0" err="1">
                <a:solidFill>
                  <a:srgbClr val="1F3A5F"/>
                </a:solidFill>
              </a:rPr>
              <a:t>Mårten</a:t>
            </a:r>
            <a:r>
              <a:rPr sz="1100" b="1" i="0" dirty="0">
                <a:solidFill>
                  <a:srgbClr val="1F3A5F"/>
                </a:solidFill>
              </a:rPr>
              <a:t> </a:t>
            </a:r>
            <a:r>
              <a:rPr sz="1100" b="1" i="0" dirty="0" err="1">
                <a:solidFill>
                  <a:srgbClr val="1F3A5F"/>
                </a:solidFill>
              </a:rPr>
              <a:t>Lindström</a:t>
            </a:r>
            <a:endParaRPr sz="1100" b="1" i="0" dirty="0">
              <a:solidFill>
                <a:srgbClr val="1F3A5F"/>
              </a:solidFill>
            </a:endParaRPr>
          </a:p>
          <a:p>
            <a:pPr lvl="1">
              <a:spcAft>
                <a:spcPts val="600"/>
              </a:spcAft>
            </a:pPr>
            <a:r>
              <a:rPr sz="1000" b="0" i="0" dirty="0">
                <a:solidFill>
                  <a:srgbClr val="444444"/>
                </a:solidFill>
              </a:rPr>
              <a:t>NT-</a:t>
            </a:r>
            <a:r>
              <a:rPr sz="1000" b="0" i="0" dirty="0" err="1">
                <a:solidFill>
                  <a:srgbClr val="444444"/>
                </a:solidFill>
              </a:rPr>
              <a:t>rådet</a:t>
            </a:r>
            <a:r>
              <a:rPr sz="1000" b="0" i="0" dirty="0">
                <a:solidFill>
                  <a:srgbClr val="444444"/>
                </a:solidFill>
              </a:rPr>
              <a:t> </a:t>
            </a:r>
            <a:r>
              <a:rPr sz="1000" b="0" i="0" dirty="0" err="1">
                <a:solidFill>
                  <a:srgbClr val="444444"/>
                </a:solidFill>
              </a:rPr>
              <a:t>ordförande</a:t>
            </a:r>
            <a:r>
              <a:rPr sz="1000" b="0" i="0" dirty="0">
                <a:solidFill>
                  <a:srgbClr val="444444"/>
                </a:solidFill>
              </a:rPr>
              <a:t> · Region Jönköping</a:t>
            </a:r>
          </a:p>
          <a:p>
            <a:pPr>
              <a:spcAft>
                <a:spcPts val="0"/>
              </a:spcAft>
            </a:pPr>
            <a:r>
              <a:rPr sz="1100" b="1" i="0" dirty="0">
                <a:solidFill>
                  <a:srgbClr val="1F3A5F"/>
                </a:solidFill>
              </a:rPr>
              <a:t>2.  Pia </a:t>
            </a:r>
            <a:r>
              <a:rPr sz="1100" b="1" i="0" dirty="0" err="1">
                <a:solidFill>
                  <a:srgbClr val="1F3A5F"/>
                </a:solidFill>
              </a:rPr>
              <a:t>Näsvall</a:t>
            </a:r>
            <a:endParaRPr sz="1100" b="1" i="0" dirty="0">
              <a:solidFill>
                <a:srgbClr val="1F3A5F"/>
              </a:solidFill>
            </a:endParaRPr>
          </a:p>
          <a:p>
            <a:pPr lvl="1">
              <a:spcAft>
                <a:spcPts val="600"/>
              </a:spcAft>
            </a:pPr>
            <a:r>
              <a:rPr sz="1000" b="0" i="0" dirty="0">
                <a:solidFill>
                  <a:srgbClr val="444444"/>
                </a:solidFill>
              </a:rPr>
              <a:t>NSG </a:t>
            </a:r>
            <a:r>
              <a:rPr sz="1000" b="0" i="0" dirty="0" err="1">
                <a:solidFill>
                  <a:srgbClr val="444444"/>
                </a:solidFill>
              </a:rPr>
              <a:t>ordförande</a:t>
            </a:r>
            <a:r>
              <a:rPr sz="1000" b="0" i="0" dirty="0">
                <a:solidFill>
                  <a:srgbClr val="444444"/>
                </a:solidFill>
              </a:rPr>
              <a:t> · HSD </a:t>
            </a:r>
            <a:r>
              <a:rPr sz="1000" b="0" i="0" dirty="0" err="1">
                <a:solidFill>
                  <a:srgbClr val="444444"/>
                </a:solidFill>
              </a:rPr>
              <a:t>Västerbotten</a:t>
            </a:r>
            <a:endParaRPr sz="1000" b="0" i="0" dirty="0">
              <a:solidFill>
                <a:srgbClr val="444444"/>
              </a:solidFill>
            </a:endParaRPr>
          </a:p>
          <a:p>
            <a:pPr>
              <a:spcAft>
                <a:spcPts val="0"/>
              </a:spcAft>
            </a:pPr>
            <a:r>
              <a:rPr sz="1100" b="1" i="0" dirty="0">
                <a:solidFill>
                  <a:srgbClr val="1F3A5F"/>
                </a:solidFill>
              </a:rPr>
              <a:t>3.  Anders </a:t>
            </a:r>
            <a:r>
              <a:rPr sz="1100" b="1" i="0" dirty="0" err="1">
                <a:solidFill>
                  <a:srgbClr val="1F3A5F"/>
                </a:solidFill>
              </a:rPr>
              <a:t>Bergström</a:t>
            </a:r>
            <a:endParaRPr sz="1100" b="1" i="0" dirty="0">
              <a:solidFill>
                <a:srgbClr val="1F3A5F"/>
              </a:solidFill>
            </a:endParaRPr>
          </a:p>
          <a:p>
            <a:pPr lvl="1">
              <a:spcAft>
                <a:spcPts val="600"/>
              </a:spcAft>
            </a:pPr>
            <a:r>
              <a:rPr sz="1000" b="0" i="0" dirty="0">
                <a:solidFill>
                  <a:srgbClr val="444444"/>
                </a:solidFill>
              </a:rPr>
              <a:t>NT-</a:t>
            </a:r>
            <a:r>
              <a:rPr sz="1000" b="0" i="0" dirty="0" err="1">
                <a:solidFill>
                  <a:srgbClr val="444444"/>
                </a:solidFill>
              </a:rPr>
              <a:t>rådet</a:t>
            </a:r>
            <a:r>
              <a:rPr sz="1000" b="0" i="0" dirty="0">
                <a:solidFill>
                  <a:srgbClr val="444444"/>
                </a:solidFill>
              </a:rPr>
              <a:t> vice </a:t>
            </a:r>
            <a:r>
              <a:rPr sz="1000" b="0" i="0" dirty="0" err="1">
                <a:solidFill>
                  <a:srgbClr val="444444"/>
                </a:solidFill>
              </a:rPr>
              <a:t>ordförande</a:t>
            </a:r>
            <a:r>
              <a:rPr sz="1000" b="0" i="0" dirty="0">
                <a:solidFill>
                  <a:srgbClr val="444444"/>
                </a:solidFill>
              </a:rPr>
              <a:t> · Region </a:t>
            </a:r>
            <a:r>
              <a:rPr sz="1000" b="0" i="0" dirty="0" err="1">
                <a:solidFill>
                  <a:srgbClr val="444444"/>
                </a:solidFill>
              </a:rPr>
              <a:t>Norrbotten</a:t>
            </a:r>
            <a:endParaRPr sz="1000" b="0" i="0" dirty="0">
              <a:solidFill>
                <a:srgbClr val="444444"/>
              </a:solidFill>
            </a:endParaRPr>
          </a:p>
          <a:p>
            <a:pPr>
              <a:spcAft>
                <a:spcPts val="0"/>
              </a:spcAft>
            </a:pPr>
            <a:r>
              <a:rPr sz="1100" b="1" i="0" dirty="0">
                <a:solidFill>
                  <a:srgbClr val="1F3A5F"/>
                </a:solidFill>
              </a:rPr>
              <a:t>4.  Maria </a:t>
            </a:r>
            <a:r>
              <a:rPr sz="1100" b="1" i="0" dirty="0" err="1">
                <a:solidFill>
                  <a:srgbClr val="1F3A5F"/>
                </a:solidFill>
              </a:rPr>
              <a:t>Ekelund</a:t>
            </a:r>
            <a:endParaRPr sz="1100" b="1" i="0" dirty="0">
              <a:solidFill>
                <a:srgbClr val="1F3A5F"/>
              </a:solidFill>
            </a:endParaRPr>
          </a:p>
          <a:p>
            <a:pPr lvl="1">
              <a:spcAft>
                <a:spcPts val="600"/>
              </a:spcAft>
            </a:pPr>
            <a:r>
              <a:rPr sz="1000" b="0" i="0" dirty="0">
                <a:solidFill>
                  <a:srgbClr val="444444"/>
                </a:solidFill>
              </a:rPr>
              <a:t>NT-</a:t>
            </a:r>
            <a:r>
              <a:rPr sz="1000" b="0" i="0" dirty="0" err="1">
                <a:solidFill>
                  <a:srgbClr val="444444"/>
                </a:solidFill>
              </a:rPr>
              <a:t>rådet</a:t>
            </a:r>
            <a:r>
              <a:rPr sz="1000" b="0" i="0" dirty="0">
                <a:solidFill>
                  <a:srgbClr val="444444"/>
                </a:solidFill>
              </a:rPr>
              <a:t> · LK </a:t>
            </a:r>
            <a:r>
              <a:rPr sz="1000" b="0" i="0" dirty="0" err="1">
                <a:solidFill>
                  <a:srgbClr val="444444"/>
                </a:solidFill>
              </a:rPr>
              <a:t>ordf</a:t>
            </a:r>
            <a:r>
              <a:rPr sz="1000" b="0" i="0" dirty="0">
                <a:solidFill>
                  <a:srgbClr val="444444"/>
                </a:solidFill>
              </a:rPr>
              <a:t> Region Jönköping (dual)</a:t>
            </a:r>
          </a:p>
          <a:p>
            <a:pPr>
              <a:spcAft>
                <a:spcPts val="0"/>
              </a:spcAft>
            </a:pPr>
            <a:r>
              <a:rPr sz="1100" b="1" i="0" dirty="0">
                <a:solidFill>
                  <a:srgbClr val="1F3A5F"/>
                </a:solidFill>
              </a:rPr>
              <a:t>5.  Jan </a:t>
            </a:r>
            <a:r>
              <a:rPr sz="1100" b="1" i="0" dirty="0" err="1">
                <a:solidFill>
                  <a:srgbClr val="1F3A5F"/>
                </a:solidFill>
              </a:rPr>
              <a:t>Melin</a:t>
            </a:r>
            <a:endParaRPr sz="1100" b="1" i="0" dirty="0">
              <a:solidFill>
                <a:srgbClr val="1F3A5F"/>
              </a:solidFill>
            </a:endParaRPr>
          </a:p>
          <a:p>
            <a:pPr lvl="1">
              <a:spcAft>
                <a:spcPts val="600"/>
              </a:spcAft>
            </a:pPr>
            <a:r>
              <a:rPr sz="1000" b="0" i="0" dirty="0">
                <a:solidFill>
                  <a:srgbClr val="444444"/>
                </a:solidFill>
              </a:rPr>
              <a:t>NT-</a:t>
            </a:r>
            <a:r>
              <a:rPr sz="1000" b="0" i="0" dirty="0" err="1">
                <a:solidFill>
                  <a:srgbClr val="444444"/>
                </a:solidFill>
              </a:rPr>
              <a:t>rådet</a:t>
            </a:r>
            <a:r>
              <a:rPr sz="1000" b="0" i="0" dirty="0">
                <a:solidFill>
                  <a:srgbClr val="444444"/>
                </a:solidFill>
              </a:rPr>
              <a:t> · LK </a:t>
            </a:r>
            <a:r>
              <a:rPr sz="1000" b="0" i="0" dirty="0" err="1">
                <a:solidFill>
                  <a:srgbClr val="444444"/>
                </a:solidFill>
              </a:rPr>
              <a:t>ordf</a:t>
            </a:r>
            <a:r>
              <a:rPr sz="1000" b="0" i="0" dirty="0">
                <a:solidFill>
                  <a:srgbClr val="444444"/>
                </a:solidFill>
              </a:rPr>
              <a:t> Region Uppsala (dual)</a:t>
            </a:r>
          </a:p>
          <a:p>
            <a:pPr>
              <a:spcAft>
                <a:spcPts val="0"/>
              </a:spcAft>
            </a:pPr>
            <a:r>
              <a:rPr sz="1100" b="1" i="0" dirty="0">
                <a:solidFill>
                  <a:srgbClr val="1F3A5F"/>
                </a:solidFill>
              </a:rPr>
              <a:t>6.  Mats Ek</a:t>
            </a:r>
          </a:p>
          <a:p>
            <a:pPr lvl="1">
              <a:spcAft>
                <a:spcPts val="600"/>
              </a:spcAft>
            </a:pPr>
            <a:r>
              <a:rPr sz="1000" b="0" i="0" dirty="0">
                <a:solidFill>
                  <a:srgbClr val="444444"/>
                </a:solidFill>
              </a:rPr>
              <a:t>LK </a:t>
            </a:r>
            <a:r>
              <a:rPr sz="1000" b="0" i="0" dirty="0" err="1">
                <a:solidFill>
                  <a:srgbClr val="444444"/>
                </a:solidFill>
              </a:rPr>
              <a:t>ordförande</a:t>
            </a:r>
            <a:r>
              <a:rPr sz="1000" b="0" i="0" dirty="0">
                <a:solidFill>
                  <a:srgbClr val="444444"/>
                </a:solidFill>
              </a:rPr>
              <a:t> Region Stockholm</a:t>
            </a:r>
          </a:p>
          <a:p>
            <a:pPr>
              <a:spcAft>
                <a:spcPts val="0"/>
              </a:spcAft>
            </a:pPr>
            <a:r>
              <a:rPr sz="1100" b="1" i="0" dirty="0">
                <a:solidFill>
                  <a:srgbClr val="1F3A5F"/>
                </a:solidFill>
              </a:rPr>
              <a:t>7.  Johan Bratt</a:t>
            </a:r>
          </a:p>
          <a:p>
            <a:pPr lvl="1">
              <a:spcAft>
                <a:spcPts val="600"/>
              </a:spcAft>
            </a:pPr>
            <a:r>
              <a:rPr sz="1000" b="0" i="0" dirty="0">
                <a:solidFill>
                  <a:srgbClr val="444444"/>
                </a:solidFill>
              </a:rPr>
              <a:t>NSG </a:t>
            </a:r>
            <a:r>
              <a:rPr sz="1000" b="0" i="0" dirty="0" err="1">
                <a:solidFill>
                  <a:srgbClr val="444444"/>
                </a:solidFill>
              </a:rPr>
              <a:t>referensperson</a:t>
            </a:r>
            <a:r>
              <a:rPr sz="1000" b="0" i="0" dirty="0">
                <a:solidFill>
                  <a:srgbClr val="444444"/>
                </a:solidFill>
              </a:rPr>
              <a:t> · </a:t>
            </a:r>
            <a:r>
              <a:rPr sz="1000" b="0" i="0" dirty="0" err="1">
                <a:solidFill>
                  <a:srgbClr val="444444"/>
                </a:solidFill>
              </a:rPr>
              <a:t>Chefläkare</a:t>
            </a:r>
            <a:r>
              <a:rPr sz="1000" b="0" i="0" dirty="0">
                <a:solidFill>
                  <a:srgbClr val="444444"/>
                </a:solidFill>
              </a:rPr>
              <a:t> Region Stockholm</a:t>
            </a:r>
          </a:p>
          <a:p>
            <a:pPr>
              <a:spcAft>
                <a:spcPts val="0"/>
              </a:spcAft>
            </a:pPr>
            <a:r>
              <a:rPr sz="1100" b="1" i="0" dirty="0">
                <a:solidFill>
                  <a:srgbClr val="1F3A5F"/>
                </a:solidFill>
              </a:rPr>
              <a:t>8.  Rickard Malmström</a:t>
            </a:r>
          </a:p>
          <a:p>
            <a:pPr lvl="1">
              <a:spcAft>
                <a:spcPts val="400"/>
              </a:spcAft>
            </a:pPr>
            <a:r>
              <a:rPr sz="1000" b="0" i="0" dirty="0">
                <a:solidFill>
                  <a:srgbClr val="444444"/>
                </a:solidFill>
              </a:rPr>
              <a:t>NT-</a:t>
            </a:r>
            <a:r>
              <a:rPr sz="1000" b="0" i="0" dirty="0" err="1">
                <a:solidFill>
                  <a:srgbClr val="444444"/>
                </a:solidFill>
              </a:rPr>
              <a:t>rådet</a:t>
            </a:r>
            <a:r>
              <a:rPr sz="1000" b="0" i="0" dirty="0">
                <a:solidFill>
                  <a:srgbClr val="444444"/>
                </a:solidFill>
              </a:rPr>
              <a:t> · Stockholm LK vice </a:t>
            </a:r>
            <a:r>
              <a:rPr sz="1000" b="0" i="0" dirty="0" err="1">
                <a:solidFill>
                  <a:srgbClr val="444444"/>
                </a:solidFill>
              </a:rPr>
              <a:t>ordf</a:t>
            </a:r>
            <a:r>
              <a:rPr sz="1000" b="0" i="0" dirty="0">
                <a:solidFill>
                  <a:srgbClr val="444444"/>
                </a:solidFill>
              </a:rPr>
              <a:t> (dual)</a:t>
            </a:r>
          </a:p>
        </p:txBody>
      </p:sp>
      <p:sp>
        <p:nvSpPr>
          <p:cNvPr id="12" name="TextBox 11"/>
          <p:cNvSpPr txBox="1"/>
          <p:nvPr/>
        </p:nvSpPr>
        <p:spPr>
          <a:xfrm>
            <a:off x="457200" y="5897880"/>
            <a:ext cx="11274552" cy="365760"/>
          </a:xfrm>
          <a:prstGeom prst="rect">
            <a:avLst/>
          </a:prstGeom>
          <a:noFill/>
        </p:spPr>
        <p:txBody>
          <a:bodyPr wrap="square" lIns="0" tIns="0" rIns="0" bIns="0">
            <a:spAutoFit/>
          </a:bodyPr>
          <a:lstStyle/>
          <a:p>
            <a:r>
              <a:rPr sz="1100" b="0" i="0">
                <a:solidFill>
                  <a:srgbClr val="1F3A5F"/>
                </a:solidFill>
              </a:rPr>
              <a:t>Cornerstones selected by composite influence score from the 135-name pool. Three of eight sit in Stockholm; the full Stockholm LK ledamot pool (17 names) is captured beneath them.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7315200" cy="274320"/>
          </a:xfrm>
          <a:prstGeom prst="rect">
            <a:avLst/>
          </a:prstGeom>
          <a:noFill/>
        </p:spPr>
        <p:txBody>
          <a:bodyPr wrap="square" lIns="0" tIns="0" rIns="0" bIns="0">
            <a:spAutoFit/>
          </a:bodyPr>
          <a:lstStyle/>
          <a:p>
            <a:r>
              <a:rPr sz="1000" b="1" i="0">
                <a:solidFill>
                  <a:srgbClr val="888888"/>
                </a:solidFill>
              </a:rPr>
              <a:t>COVERAGE AND PENDING</a:t>
            </a:r>
          </a:p>
        </p:txBody>
      </p:sp>
      <p:cxnSp>
        <p:nvCxnSpPr>
          <p:cNvPr id="3" name="Connector 2"/>
          <p:cNvCxnSpPr/>
          <p:nvPr/>
        </p:nvCxnSpPr>
        <p:spPr>
          <a:xfrm>
            <a:off x="457200" y="603504"/>
            <a:ext cx="11274552"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46520"/>
            <a:ext cx="9144000" cy="274320"/>
          </a:xfrm>
          <a:prstGeom prst="rect">
            <a:avLst/>
          </a:prstGeom>
          <a:noFill/>
        </p:spPr>
        <p:txBody>
          <a:bodyPr wrap="square" lIns="0" tIns="0" rIns="0" bIns="0">
            <a:spAutoFit/>
          </a:bodyPr>
          <a:lstStyle/>
          <a:p>
            <a:r>
              <a:rPr sz="900" b="0" i="0">
                <a:solidFill>
                  <a:srgbClr val="888888"/>
                </a:solidFill>
              </a:rPr>
              <a:t>Viti Science · Pfizer Sweden Regional Landscape · April 2026</a:t>
            </a:r>
          </a:p>
        </p:txBody>
      </p:sp>
      <p:sp>
        <p:nvSpPr>
          <p:cNvPr id="5" name="TextBox 4"/>
          <p:cNvSpPr txBox="1"/>
          <p:nvPr/>
        </p:nvSpPr>
        <p:spPr>
          <a:xfrm>
            <a:off x="10515600" y="6446520"/>
            <a:ext cx="1371600" cy="274320"/>
          </a:xfrm>
          <a:prstGeom prst="rect">
            <a:avLst/>
          </a:prstGeom>
          <a:noFill/>
        </p:spPr>
        <p:txBody>
          <a:bodyPr wrap="square" lIns="0" tIns="0" rIns="0" bIns="0">
            <a:spAutoFit/>
          </a:bodyPr>
          <a:lstStyle/>
          <a:p>
            <a:pPr algn="r"/>
            <a:r>
              <a:rPr sz="900" b="0" i="0">
                <a:solidFill>
                  <a:srgbClr val="888888"/>
                </a:solidFill>
              </a:rPr>
              <a:t>5 / 6</a:t>
            </a:r>
          </a:p>
        </p:txBody>
      </p:sp>
      <p:sp>
        <p:nvSpPr>
          <p:cNvPr id="6" name="TextBox 5"/>
          <p:cNvSpPr txBox="1"/>
          <p:nvPr/>
        </p:nvSpPr>
        <p:spPr>
          <a:xfrm>
            <a:off x="457200" y="777240"/>
            <a:ext cx="11274552" cy="369332"/>
          </a:xfrm>
          <a:prstGeom prst="rect">
            <a:avLst/>
          </a:prstGeom>
          <a:noFill/>
        </p:spPr>
        <p:txBody>
          <a:bodyPr wrap="square" lIns="0" tIns="0" rIns="0" bIns="0">
            <a:spAutoFit/>
          </a:bodyPr>
          <a:lstStyle/>
          <a:p>
            <a:r>
              <a:rPr sz="2400" b="1" i="0" dirty="0">
                <a:solidFill>
                  <a:srgbClr val="1F3A5F"/>
                </a:solidFill>
              </a:rPr>
              <a:t>Where coverage stands</a:t>
            </a:r>
          </a:p>
        </p:txBody>
      </p:sp>
      <p:sp>
        <p:nvSpPr>
          <p:cNvPr id="7" name="TextBox 6"/>
          <p:cNvSpPr txBox="1"/>
          <p:nvPr/>
        </p:nvSpPr>
        <p:spPr>
          <a:xfrm>
            <a:off x="457200" y="1508760"/>
            <a:ext cx="11274552" cy="502920"/>
          </a:xfrm>
          <a:prstGeom prst="rect">
            <a:avLst/>
          </a:prstGeom>
          <a:noFill/>
        </p:spPr>
        <p:txBody>
          <a:bodyPr wrap="square" lIns="0" tIns="0" rIns="0" bIns="0">
            <a:spAutoFit/>
          </a:bodyPr>
          <a:lstStyle/>
          <a:p>
            <a:r>
              <a:rPr sz="1300" b="0" i="0" dirty="0">
                <a:solidFill>
                  <a:srgbClr val="444444"/>
                </a:solidFill>
              </a:rPr>
              <a:t>Contact coverage at 90% across the 135-name pool; a handful of items still tracking.</a:t>
            </a:r>
          </a:p>
        </p:txBody>
      </p:sp>
      <p:sp>
        <p:nvSpPr>
          <p:cNvPr id="8" name="TextBox 7"/>
          <p:cNvSpPr txBox="1"/>
          <p:nvPr/>
        </p:nvSpPr>
        <p:spPr>
          <a:xfrm>
            <a:off x="457200" y="2286000"/>
            <a:ext cx="5379600" cy="365760"/>
          </a:xfrm>
          <a:prstGeom prst="rect">
            <a:avLst/>
          </a:prstGeom>
          <a:noFill/>
        </p:spPr>
        <p:txBody>
          <a:bodyPr wrap="square" lIns="0" tIns="0" rIns="0" bIns="0">
            <a:spAutoFit/>
          </a:bodyPr>
          <a:lstStyle/>
          <a:p>
            <a:r>
              <a:rPr sz="1400" b="1" i="0">
                <a:solidFill>
                  <a:srgbClr val="1F3A5F"/>
                </a:solidFill>
              </a:rPr>
              <a:t>Contact coverage</a:t>
            </a:r>
          </a:p>
        </p:txBody>
      </p:sp>
      <p:sp>
        <p:nvSpPr>
          <p:cNvPr id="9" name="TextBox 8"/>
          <p:cNvSpPr txBox="1"/>
          <p:nvPr/>
        </p:nvSpPr>
        <p:spPr>
          <a:xfrm>
            <a:off x="457200" y="2743200"/>
            <a:ext cx="5379600" cy="1097280"/>
          </a:xfrm>
          <a:prstGeom prst="rect">
            <a:avLst/>
          </a:prstGeom>
          <a:noFill/>
        </p:spPr>
        <p:txBody>
          <a:bodyPr wrap="square" lIns="0" tIns="0" rIns="0" bIns="0">
            <a:spAutoFit/>
          </a:bodyPr>
          <a:lstStyle/>
          <a:p>
            <a:r>
              <a:rPr sz="6000" b="1" i="0">
                <a:solidFill>
                  <a:srgbClr val="1F3A5F"/>
                </a:solidFill>
              </a:rPr>
              <a:t>90%</a:t>
            </a:r>
          </a:p>
        </p:txBody>
      </p:sp>
      <p:sp>
        <p:nvSpPr>
          <p:cNvPr id="10" name="TextBox 9"/>
          <p:cNvSpPr txBox="1"/>
          <p:nvPr/>
        </p:nvSpPr>
        <p:spPr>
          <a:xfrm>
            <a:off x="457200" y="3840480"/>
            <a:ext cx="5379600" cy="365760"/>
          </a:xfrm>
          <a:prstGeom prst="rect">
            <a:avLst/>
          </a:prstGeom>
          <a:noFill/>
        </p:spPr>
        <p:txBody>
          <a:bodyPr wrap="square" lIns="0" tIns="0" rIns="0" bIns="0">
            <a:spAutoFit/>
          </a:bodyPr>
          <a:lstStyle/>
          <a:p>
            <a:r>
              <a:rPr sz="1300" b="0" i="0">
                <a:solidFill>
                  <a:srgbClr val="444444"/>
                </a:solidFill>
              </a:rPr>
              <a:t>of the 135 named stakeholders have captured contact information</a:t>
            </a:r>
          </a:p>
        </p:txBody>
      </p:sp>
      <p:sp>
        <p:nvSpPr>
          <p:cNvPr id="11" name="TextBox 10"/>
          <p:cNvSpPr txBox="1"/>
          <p:nvPr/>
        </p:nvSpPr>
        <p:spPr>
          <a:xfrm>
            <a:off x="457200" y="4486000"/>
            <a:ext cx="5379600" cy="661720"/>
          </a:xfrm>
          <a:prstGeom prst="rect">
            <a:avLst/>
          </a:prstGeom>
          <a:noFill/>
        </p:spPr>
        <p:txBody>
          <a:bodyPr wrap="square" lIns="0" tIns="0" rIns="0" bIns="0">
            <a:spAutoFit/>
          </a:bodyPr>
          <a:lstStyle/>
          <a:p>
            <a:pPr>
              <a:spcAft>
                <a:spcPts val="1200"/>
              </a:spcAft>
            </a:pPr>
            <a:r>
              <a:rPr sz="1100" b="0" i="1" dirty="0">
                <a:solidFill>
                  <a:srgbClr val="444444"/>
                </a:solidFill>
              </a:rPr>
              <a:t>Coverage spans every region and the national tier — every cell holds either a captured name or a flagged gap.</a:t>
            </a:r>
          </a:p>
          <a:p>
            <a:pPr>
              <a:spcAft>
                <a:spcPts val="600"/>
              </a:spcAft>
            </a:pPr>
            <a:r>
              <a:rPr sz="1100" b="0" i="1" dirty="0">
                <a:solidFill>
                  <a:srgbClr val="444444"/>
                </a:solidFill>
              </a:rPr>
              <a:t>Cornerstone-tier subset can be field-validated by </a:t>
            </a:r>
            <a:r>
              <a:rPr sz="1100" b="0" i="1" dirty="0" err="1">
                <a:solidFill>
                  <a:srgbClr val="444444"/>
                </a:solidFill>
              </a:rPr>
              <a:t>Pfize</a:t>
            </a:r>
            <a:r>
              <a:rPr lang="en-GB" sz="1100" b="0" i="1" dirty="0">
                <a:solidFill>
                  <a:srgbClr val="444444"/>
                </a:solidFill>
              </a:rPr>
              <a:t>r</a:t>
            </a:r>
            <a:endParaRPr sz="1100" b="0" i="1" dirty="0">
              <a:solidFill>
                <a:srgbClr val="444444"/>
              </a:solidFill>
            </a:endParaRPr>
          </a:p>
        </p:txBody>
      </p:sp>
      <p:sp>
        <p:nvSpPr>
          <p:cNvPr id="12" name="TextBox 11"/>
          <p:cNvSpPr txBox="1"/>
          <p:nvPr/>
        </p:nvSpPr>
        <p:spPr>
          <a:xfrm>
            <a:off x="6336000" y="2286000"/>
            <a:ext cx="5379600" cy="365760"/>
          </a:xfrm>
          <a:prstGeom prst="rect">
            <a:avLst/>
          </a:prstGeom>
          <a:noFill/>
        </p:spPr>
        <p:txBody>
          <a:bodyPr wrap="square" lIns="0" tIns="0" rIns="0" bIns="0">
            <a:spAutoFit/>
          </a:bodyPr>
          <a:lstStyle/>
          <a:p>
            <a:r>
              <a:rPr sz="1400" b="1" i="0">
                <a:solidFill>
                  <a:srgbClr val="1F3A5F"/>
                </a:solidFill>
              </a:rPr>
              <a:t>Items still tracking</a:t>
            </a:r>
          </a:p>
        </p:txBody>
      </p:sp>
      <p:sp>
        <p:nvSpPr>
          <p:cNvPr id="13" name="TextBox 12"/>
          <p:cNvSpPr txBox="1"/>
          <p:nvPr/>
        </p:nvSpPr>
        <p:spPr>
          <a:xfrm>
            <a:off x="6336000" y="2743200"/>
            <a:ext cx="5379600" cy="4200000"/>
          </a:xfrm>
          <a:prstGeom prst="rect">
            <a:avLst/>
          </a:prstGeom>
          <a:noFill/>
        </p:spPr>
        <p:txBody>
          <a:bodyPr wrap="square" lIns="0" tIns="0" rIns="0" bIns="0">
            <a:spAutoFit/>
          </a:bodyPr>
          <a:lstStyle/>
          <a:p>
            <a:pPr>
              <a:spcAft>
                <a:spcPts val="0"/>
              </a:spcAft>
            </a:pPr>
            <a:r>
              <a:rPr sz="1200" b="1" i="0" dirty="0">
                <a:solidFill>
                  <a:srgbClr val="1F3A5F"/>
                </a:solidFill>
              </a:rPr>
              <a:t>Region </a:t>
            </a:r>
            <a:r>
              <a:rPr sz="1200" b="1" i="0" dirty="0" err="1">
                <a:solidFill>
                  <a:srgbClr val="1F3A5F"/>
                </a:solidFill>
              </a:rPr>
              <a:t>Gävleborg</a:t>
            </a:r>
            <a:r>
              <a:rPr sz="1200" b="1" i="0" dirty="0">
                <a:solidFill>
                  <a:srgbClr val="1F3A5F"/>
                </a:solidFill>
              </a:rPr>
              <a:t> </a:t>
            </a:r>
            <a:r>
              <a:rPr sz="1200" b="1" i="0" dirty="0" err="1">
                <a:solidFill>
                  <a:srgbClr val="1F3A5F"/>
                </a:solidFill>
              </a:rPr>
              <a:t>verksamhetsplan</a:t>
            </a:r>
            <a:endParaRPr sz="1200" b="1" i="0" dirty="0">
              <a:solidFill>
                <a:srgbClr val="1F3A5F"/>
              </a:solidFill>
            </a:endParaRPr>
          </a:p>
          <a:p>
            <a:pPr lvl="1">
              <a:spcAft>
                <a:spcPts val="800"/>
              </a:spcAft>
            </a:pPr>
            <a:r>
              <a:rPr sz="1050" b="0" i="0" dirty="0">
                <a:solidFill>
                  <a:srgbClr val="444444"/>
                </a:solidFill>
              </a:rPr>
              <a:t>Site </a:t>
            </a:r>
            <a:r>
              <a:rPr sz="1050" b="0" i="0" dirty="0" err="1">
                <a:solidFill>
                  <a:srgbClr val="444444"/>
                </a:solidFill>
              </a:rPr>
              <a:t>reorganisation</a:t>
            </a:r>
            <a:r>
              <a:rPr sz="1050" b="0" i="0" dirty="0">
                <a:solidFill>
                  <a:srgbClr val="444444"/>
                </a:solidFill>
              </a:rPr>
              <a:t> broke the URL — manual retrieve.</a:t>
            </a:r>
          </a:p>
          <a:p>
            <a:pPr>
              <a:spcAft>
                <a:spcPts val="0"/>
              </a:spcAft>
            </a:pPr>
            <a:r>
              <a:rPr sz="1200" b="1" i="0" dirty="0">
                <a:solidFill>
                  <a:srgbClr val="1F3A5F"/>
                </a:solidFill>
              </a:rPr>
              <a:t>Region </a:t>
            </a:r>
            <a:r>
              <a:rPr sz="1200" b="1" i="0" dirty="0" err="1">
                <a:solidFill>
                  <a:srgbClr val="1F3A5F"/>
                </a:solidFill>
              </a:rPr>
              <a:t>Sörmland</a:t>
            </a:r>
            <a:r>
              <a:rPr sz="1200" b="1" i="0" dirty="0">
                <a:solidFill>
                  <a:srgbClr val="1F3A5F"/>
                </a:solidFill>
              </a:rPr>
              <a:t> </a:t>
            </a:r>
            <a:r>
              <a:rPr sz="1200" b="1" i="0" dirty="0" err="1">
                <a:solidFill>
                  <a:srgbClr val="1F3A5F"/>
                </a:solidFill>
              </a:rPr>
              <a:t>verksamhetsplan</a:t>
            </a:r>
            <a:endParaRPr sz="1200" b="1" i="0" dirty="0">
              <a:solidFill>
                <a:srgbClr val="1F3A5F"/>
              </a:solidFill>
            </a:endParaRPr>
          </a:p>
          <a:p>
            <a:pPr lvl="1">
              <a:spcAft>
                <a:spcPts val="800"/>
              </a:spcAft>
            </a:pPr>
            <a:r>
              <a:rPr sz="1050" b="0" i="0" dirty="0">
                <a:solidFill>
                  <a:srgbClr val="444444"/>
                </a:solidFill>
              </a:rPr>
              <a:t>2026 plan not yet publicly published at our pull date.</a:t>
            </a:r>
          </a:p>
          <a:p>
            <a:pPr>
              <a:spcAft>
                <a:spcPts val="0"/>
              </a:spcAft>
            </a:pPr>
            <a:r>
              <a:rPr sz="1200" b="1" i="0" dirty="0">
                <a:solidFill>
                  <a:srgbClr val="1F3A5F"/>
                </a:solidFill>
              </a:rPr>
              <a:t>Cornerstone-tier email verification</a:t>
            </a:r>
          </a:p>
          <a:p>
            <a:pPr lvl="1">
              <a:spcAft>
                <a:spcPts val="800"/>
              </a:spcAft>
            </a:pPr>
            <a:r>
              <a:rPr sz="1050" b="0" i="0" dirty="0">
                <a:solidFill>
                  <a:srgbClr val="444444"/>
                </a:solidFill>
              </a:rPr>
              <a:t>Pia </a:t>
            </a:r>
            <a:r>
              <a:rPr sz="1050" b="0" i="0" dirty="0" err="1">
                <a:solidFill>
                  <a:srgbClr val="444444"/>
                </a:solidFill>
              </a:rPr>
              <a:t>Näsvall</a:t>
            </a:r>
            <a:r>
              <a:rPr sz="1050" b="0" i="0" dirty="0">
                <a:solidFill>
                  <a:srgbClr val="444444"/>
                </a:solidFill>
              </a:rPr>
              <a:t> (URL only) and Johan Bratt (missing from contacts sheet).</a:t>
            </a:r>
          </a:p>
          <a:p>
            <a:pPr>
              <a:spcAft>
                <a:spcPts val="0"/>
              </a:spcAft>
            </a:pPr>
            <a:r>
              <a:rPr sz="1200" b="1" i="0" dirty="0">
                <a:solidFill>
                  <a:srgbClr val="1F3A5F"/>
                </a:solidFill>
              </a:rPr>
              <a:t>21 individual region profiles</a:t>
            </a:r>
          </a:p>
          <a:p>
            <a:pPr lvl="1">
              <a:spcAft>
                <a:spcPts val="800"/>
              </a:spcAft>
            </a:pPr>
            <a:r>
              <a:rPr sz="1050" b="0" i="0" dirty="0">
                <a:solidFill>
                  <a:srgbClr val="444444"/>
                </a:solidFill>
              </a:rPr>
              <a:t>Defined add-on workstream — underlying data already in workbook.</a:t>
            </a:r>
          </a:p>
          <a:p>
            <a:pPr>
              <a:spcAft>
                <a:spcPts val="0"/>
              </a:spcAft>
            </a:pPr>
            <a:r>
              <a:rPr sz="1200" b="1" i="0" dirty="0">
                <a:solidFill>
                  <a:srgbClr val="1F3A5F"/>
                </a:solidFill>
              </a:rPr>
              <a:t>Per-region GRP </a:t>
            </a:r>
            <a:r>
              <a:rPr sz="1200" b="1" i="0" dirty="0" err="1">
                <a:solidFill>
                  <a:srgbClr val="1F3A5F"/>
                </a:solidFill>
              </a:rPr>
              <a:t>normalisation</a:t>
            </a:r>
            <a:endParaRPr sz="1200" b="1" i="0" dirty="0">
              <a:solidFill>
                <a:srgbClr val="1F3A5F"/>
              </a:solidFill>
            </a:endParaRPr>
          </a:p>
          <a:p>
            <a:pPr lvl="1">
              <a:spcAft>
                <a:spcPts val="400"/>
              </a:spcAft>
            </a:pPr>
            <a:r>
              <a:rPr sz="1050" b="0" i="0" dirty="0">
                <a:solidFill>
                  <a:srgbClr val="444444"/>
                </a:solidFill>
              </a:rPr>
              <a:t>Per-100k everywhere today; additive on request.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7315200" cy="274320"/>
          </a:xfrm>
          <a:prstGeom prst="rect">
            <a:avLst/>
          </a:prstGeom>
          <a:noFill/>
        </p:spPr>
        <p:txBody>
          <a:bodyPr wrap="square" lIns="0" tIns="0" rIns="0" bIns="0">
            <a:spAutoFit/>
          </a:bodyPr>
          <a:lstStyle/>
          <a:p>
            <a:r>
              <a:rPr sz="1000" b="1" i="0">
                <a:solidFill>
                  <a:srgbClr val="888888"/>
                </a:solidFill>
              </a:rPr>
              <a:t>PFIZER SWEDEN  ·  REGIONAL LANDSCAPE</a:t>
            </a:r>
          </a:p>
        </p:txBody>
      </p:sp>
      <p:cxnSp>
        <p:nvCxnSpPr>
          <p:cNvPr id="3" name="Connector 2"/>
          <p:cNvCxnSpPr/>
          <p:nvPr/>
        </p:nvCxnSpPr>
        <p:spPr>
          <a:xfrm>
            <a:off x="457200" y="603504"/>
            <a:ext cx="11274552"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2743200"/>
            <a:ext cx="11274552" cy="738664"/>
          </a:xfrm>
          <a:prstGeom prst="rect">
            <a:avLst/>
          </a:prstGeom>
          <a:noFill/>
        </p:spPr>
        <p:txBody>
          <a:bodyPr wrap="square" lIns="0" tIns="0" rIns="0" bIns="0">
            <a:spAutoFit/>
          </a:bodyPr>
          <a:lstStyle/>
          <a:p>
            <a:pPr algn="ctr"/>
            <a:r>
              <a:rPr lang="en-GB" sz="4800" b="1" i="0" dirty="0">
                <a:solidFill>
                  <a:srgbClr val="1F3A5F"/>
                </a:solidFill>
              </a:rPr>
              <a:t>Draft slides </a:t>
            </a:r>
            <a:r>
              <a:rPr lang="en-GB" sz="4800" b="1" dirty="0">
                <a:solidFill>
                  <a:srgbClr val="1F3A5F"/>
                </a:solidFill>
              </a:rPr>
              <a:t>e</a:t>
            </a:r>
            <a:r>
              <a:rPr lang="en-GB" sz="4800" b="1" i="0" dirty="0">
                <a:solidFill>
                  <a:srgbClr val="1F3A5F"/>
                </a:solidFill>
              </a:rPr>
              <a:t>xample</a:t>
            </a:r>
            <a:endParaRPr sz="4800" b="1" i="0" dirty="0">
              <a:solidFill>
                <a:srgbClr val="1F3A5F"/>
              </a:solidFill>
            </a:endParaRPr>
          </a:p>
        </p:txBody>
      </p:sp>
    </p:spTree>
    <p:extLst>
      <p:ext uri="{BB962C8B-B14F-4D97-AF65-F5344CB8AC3E}">
        <p14:creationId xmlns:p14="http://schemas.microsoft.com/office/powerpoint/2010/main" val="451618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48768"/>
          </a:xfrm>
          <a:prstGeom prst="rect">
            <a:avLst/>
          </a:prstGeom>
          <a:solidFill>
            <a:srgbClr val="2B9FD4"/>
          </a:solidFill>
          <a:ln/>
        </p:spPr>
        <p:txBody>
          <a:bodyPr/>
          <a:lstStyle/>
          <a:p>
            <a:endParaRPr lang="en-GB" sz="2400"/>
          </a:p>
        </p:txBody>
      </p:sp>
      <p:sp>
        <p:nvSpPr>
          <p:cNvPr id="3" name="Text 1"/>
          <p:cNvSpPr/>
          <p:nvPr/>
        </p:nvSpPr>
        <p:spPr>
          <a:xfrm>
            <a:off x="731520" y="243840"/>
            <a:ext cx="8534400" cy="390144"/>
          </a:xfrm>
          <a:prstGeom prst="rect">
            <a:avLst/>
          </a:prstGeom>
          <a:noFill/>
          <a:ln/>
        </p:spPr>
        <p:txBody>
          <a:bodyPr wrap="square" lIns="0" tIns="0" rIns="0" bIns="0" rtlCol="0" anchor="ctr"/>
          <a:lstStyle/>
          <a:p>
            <a:r>
              <a:rPr lang="en-US" sz="1333" kern="0" spc="400" dirty="0">
                <a:solidFill>
                  <a:srgbClr val="5D6D7E"/>
                </a:solidFill>
                <a:latin typeface="Inter" pitchFamily="34" charset="0"/>
                <a:ea typeface="Inter" pitchFamily="34" charset="-122"/>
                <a:cs typeface="Inter" pitchFamily="34" charset="-120"/>
              </a:rPr>
              <a:t>PART B: REGION STOCKHOLM</a:t>
            </a:r>
            <a:endParaRPr lang="en-US" sz="1333" dirty="0"/>
          </a:p>
        </p:txBody>
      </p:sp>
      <p:sp>
        <p:nvSpPr>
          <p:cNvPr id="4" name="Text 2"/>
          <p:cNvSpPr/>
          <p:nvPr/>
        </p:nvSpPr>
        <p:spPr>
          <a:xfrm>
            <a:off x="731520" y="585216"/>
            <a:ext cx="10363200" cy="609600"/>
          </a:xfrm>
          <a:prstGeom prst="rect">
            <a:avLst/>
          </a:prstGeom>
          <a:noFill/>
          <a:ln/>
        </p:spPr>
        <p:txBody>
          <a:bodyPr wrap="square" lIns="0" tIns="0" rIns="0" bIns="0" rtlCol="0" anchor="ctr"/>
          <a:lstStyle/>
          <a:p>
            <a:r>
              <a:rPr lang="en-US" sz="2933" b="1" dirty="0">
                <a:solidFill>
                  <a:srgbClr val="2A3439"/>
                </a:solidFill>
                <a:latin typeface="Inter" pitchFamily="34" charset="0"/>
                <a:ea typeface="Inter" pitchFamily="34" charset="-122"/>
                <a:cs typeface="Inter" pitchFamily="34" charset="-120"/>
              </a:rPr>
              <a:t>Region Overview</a:t>
            </a:r>
            <a:endParaRPr lang="en-US" sz="2933" dirty="0"/>
          </a:p>
        </p:txBody>
      </p:sp>
      <p:sp>
        <p:nvSpPr>
          <p:cNvPr id="5" name="Text 3"/>
          <p:cNvSpPr/>
          <p:nvPr/>
        </p:nvSpPr>
        <p:spPr>
          <a:xfrm>
            <a:off x="731520" y="1121664"/>
            <a:ext cx="4876800" cy="304800"/>
          </a:xfrm>
          <a:prstGeom prst="rect">
            <a:avLst/>
          </a:prstGeom>
          <a:noFill/>
          <a:ln/>
        </p:spPr>
        <p:txBody>
          <a:bodyPr wrap="square" lIns="0" tIns="0" rIns="0" bIns="0" rtlCol="0" anchor="ctr"/>
          <a:lstStyle/>
          <a:p>
            <a:r>
              <a:rPr lang="en-US" sz="1333" dirty="0">
                <a:solidFill>
                  <a:srgbClr val="5D6D7E"/>
                </a:solidFill>
                <a:latin typeface="Inter" pitchFamily="34" charset="0"/>
                <a:ea typeface="Inter" pitchFamily="34" charset="-122"/>
                <a:cs typeface="Inter" pitchFamily="34" charset="-120"/>
              </a:rPr>
              <a:t>Healthcare region: Stockholm-Gotland</a:t>
            </a:r>
            <a:endParaRPr lang="en-US" sz="1333" dirty="0"/>
          </a:p>
        </p:txBody>
      </p:sp>
      <p:sp>
        <p:nvSpPr>
          <p:cNvPr id="6" name="Shape 4"/>
          <p:cNvSpPr/>
          <p:nvPr/>
        </p:nvSpPr>
        <p:spPr>
          <a:xfrm>
            <a:off x="609600" y="1584960"/>
            <a:ext cx="5303520" cy="1767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GB" sz="2400"/>
          </a:p>
        </p:txBody>
      </p:sp>
      <p:sp>
        <p:nvSpPr>
          <p:cNvPr id="7" name="Shape 5"/>
          <p:cNvSpPr/>
          <p:nvPr/>
        </p:nvSpPr>
        <p:spPr>
          <a:xfrm>
            <a:off x="609600" y="1584960"/>
            <a:ext cx="73152" cy="1767840"/>
          </a:xfrm>
          <a:prstGeom prst="rect">
            <a:avLst/>
          </a:prstGeom>
          <a:solidFill>
            <a:srgbClr val="2B9FD4"/>
          </a:solidFill>
          <a:ln/>
        </p:spPr>
        <p:txBody>
          <a:bodyPr/>
          <a:lstStyle/>
          <a:p>
            <a:endParaRPr lang="en-GB" sz="2400"/>
          </a:p>
        </p:txBody>
      </p:sp>
      <p:pic>
        <p:nvPicPr>
          <p:cNvPr id="8" name="Image 0" descr="preencoded.png"/>
          <p:cNvPicPr>
            <a:picLocks noChangeAspect="1"/>
          </p:cNvPicPr>
          <p:nvPr/>
        </p:nvPicPr>
        <p:blipFill>
          <a:blip r:embed="rId3"/>
          <a:stretch>
            <a:fillRect/>
          </a:stretch>
        </p:blipFill>
        <p:spPr>
          <a:xfrm>
            <a:off x="877824" y="1731264"/>
            <a:ext cx="341376" cy="341376"/>
          </a:xfrm>
          <a:prstGeom prst="rect">
            <a:avLst/>
          </a:prstGeom>
        </p:spPr>
      </p:pic>
      <p:sp>
        <p:nvSpPr>
          <p:cNvPr id="9" name="Text 6"/>
          <p:cNvSpPr/>
          <p:nvPr/>
        </p:nvSpPr>
        <p:spPr>
          <a:xfrm>
            <a:off x="1316736" y="1731264"/>
            <a:ext cx="3048000" cy="341376"/>
          </a:xfrm>
          <a:prstGeom prst="rect">
            <a:avLst/>
          </a:prstGeom>
          <a:noFill/>
          <a:ln/>
        </p:spPr>
        <p:txBody>
          <a:bodyPr wrap="square" lIns="0" tIns="0" rIns="0" bIns="0" rtlCol="0" anchor="ctr"/>
          <a:lstStyle/>
          <a:p>
            <a:r>
              <a:rPr lang="en-US" sz="1733" b="1" dirty="0">
                <a:solidFill>
                  <a:srgbClr val="2A3439"/>
                </a:solidFill>
                <a:latin typeface="Inter" pitchFamily="34" charset="0"/>
                <a:ea typeface="Inter" pitchFamily="34" charset="-122"/>
                <a:cs typeface="Inter" pitchFamily="34" charset="-120"/>
              </a:rPr>
              <a:t>Demographics</a:t>
            </a:r>
            <a:endParaRPr lang="en-US" sz="1733" dirty="0"/>
          </a:p>
        </p:txBody>
      </p:sp>
      <p:sp>
        <p:nvSpPr>
          <p:cNvPr id="10" name="Text 7"/>
          <p:cNvSpPr/>
          <p:nvPr/>
        </p:nvSpPr>
        <p:spPr>
          <a:xfrm>
            <a:off x="877824" y="2194560"/>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2,473,307</a:t>
            </a:r>
            <a:endParaRPr lang="en-US" sz="1600" dirty="0"/>
          </a:p>
        </p:txBody>
      </p:sp>
      <p:sp>
        <p:nvSpPr>
          <p:cNvPr id="11" name="Text 8"/>
          <p:cNvSpPr/>
          <p:nvPr/>
        </p:nvSpPr>
        <p:spPr>
          <a:xfrm>
            <a:off x="877824" y="2438400"/>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Population</a:t>
            </a:r>
            <a:endParaRPr lang="en-US" sz="1067" dirty="0"/>
          </a:p>
        </p:txBody>
      </p:sp>
      <p:sp>
        <p:nvSpPr>
          <p:cNvPr id="12" name="Text 9"/>
          <p:cNvSpPr/>
          <p:nvPr/>
        </p:nvSpPr>
        <p:spPr>
          <a:xfrm>
            <a:off x="2523744" y="2194560"/>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16.9%</a:t>
            </a:r>
            <a:endParaRPr lang="en-US" sz="1600" dirty="0"/>
          </a:p>
        </p:txBody>
      </p:sp>
      <p:sp>
        <p:nvSpPr>
          <p:cNvPr id="13" name="Text 10"/>
          <p:cNvSpPr/>
          <p:nvPr/>
        </p:nvSpPr>
        <p:spPr>
          <a:xfrm>
            <a:off x="2523744" y="2438400"/>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65+ share</a:t>
            </a:r>
            <a:endParaRPr lang="en-US" sz="1067" dirty="0"/>
          </a:p>
        </p:txBody>
      </p:sp>
      <p:sp>
        <p:nvSpPr>
          <p:cNvPr id="14" name="Text 11"/>
          <p:cNvSpPr/>
          <p:nvPr/>
        </p:nvSpPr>
        <p:spPr>
          <a:xfrm>
            <a:off x="4169664" y="2194560"/>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833 kSEK</a:t>
            </a:r>
            <a:endParaRPr lang="en-US" sz="1600" dirty="0"/>
          </a:p>
        </p:txBody>
      </p:sp>
      <p:sp>
        <p:nvSpPr>
          <p:cNvPr id="15" name="Text 12"/>
          <p:cNvSpPr/>
          <p:nvPr/>
        </p:nvSpPr>
        <p:spPr>
          <a:xfrm>
            <a:off x="4169664" y="2438400"/>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GRP/capita</a:t>
            </a:r>
            <a:endParaRPr lang="en-US" sz="1067" dirty="0"/>
          </a:p>
        </p:txBody>
      </p:sp>
      <p:sp>
        <p:nvSpPr>
          <p:cNvPr id="16" name="Text 13"/>
          <p:cNvSpPr/>
          <p:nvPr/>
        </p:nvSpPr>
        <p:spPr>
          <a:xfrm>
            <a:off x="877824" y="2706624"/>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+35%</a:t>
            </a:r>
            <a:endParaRPr lang="en-US" sz="1600" dirty="0"/>
          </a:p>
        </p:txBody>
      </p:sp>
      <p:sp>
        <p:nvSpPr>
          <p:cNvPr id="17" name="Text 14"/>
          <p:cNvSpPr/>
          <p:nvPr/>
        </p:nvSpPr>
        <p:spPr>
          <a:xfrm>
            <a:off x="877824" y="2950464"/>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65+ by 2040</a:t>
            </a:r>
            <a:endParaRPr lang="en-US" sz="1067" dirty="0"/>
          </a:p>
        </p:txBody>
      </p:sp>
      <p:sp>
        <p:nvSpPr>
          <p:cNvPr id="18" name="Text 15"/>
          <p:cNvSpPr/>
          <p:nvPr/>
        </p:nvSpPr>
        <p:spPr>
          <a:xfrm>
            <a:off x="2523744" y="2706624"/>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84.4 yrs</a:t>
            </a:r>
            <a:endParaRPr lang="en-US" sz="1600" dirty="0"/>
          </a:p>
        </p:txBody>
      </p:sp>
      <p:sp>
        <p:nvSpPr>
          <p:cNvPr id="19" name="Text 16"/>
          <p:cNvSpPr/>
          <p:nvPr/>
        </p:nvSpPr>
        <p:spPr>
          <a:xfrm>
            <a:off x="2523744" y="2950464"/>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Life expectancy</a:t>
            </a:r>
            <a:endParaRPr lang="en-US" sz="1067" dirty="0"/>
          </a:p>
        </p:txBody>
      </p:sp>
      <p:sp>
        <p:nvSpPr>
          <p:cNvPr id="20" name="Text 17"/>
          <p:cNvSpPr/>
          <p:nvPr/>
        </p:nvSpPr>
        <p:spPr>
          <a:xfrm>
            <a:off x="4169664" y="2706624"/>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27.6%</a:t>
            </a:r>
            <a:endParaRPr lang="en-US" sz="1600" dirty="0"/>
          </a:p>
        </p:txBody>
      </p:sp>
      <p:sp>
        <p:nvSpPr>
          <p:cNvPr id="21" name="Text 18"/>
          <p:cNvSpPr/>
          <p:nvPr/>
        </p:nvSpPr>
        <p:spPr>
          <a:xfrm>
            <a:off x="4169664" y="2950464"/>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Foreign-born</a:t>
            </a:r>
            <a:endParaRPr lang="en-US" sz="1067" dirty="0"/>
          </a:p>
        </p:txBody>
      </p:sp>
      <p:sp>
        <p:nvSpPr>
          <p:cNvPr id="22" name="Shape 19"/>
          <p:cNvSpPr/>
          <p:nvPr/>
        </p:nvSpPr>
        <p:spPr>
          <a:xfrm>
            <a:off x="609600" y="3535680"/>
            <a:ext cx="5303520" cy="17678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GB" sz="2400"/>
          </a:p>
        </p:txBody>
      </p:sp>
      <p:sp>
        <p:nvSpPr>
          <p:cNvPr id="23" name="Shape 20"/>
          <p:cNvSpPr/>
          <p:nvPr/>
        </p:nvSpPr>
        <p:spPr>
          <a:xfrm>
            <a:off x="609600" y="3535680"/>
            <a:ext cx="73152" cy="1767840"/>
          </a:xfrm>
          <a:prstGeom prst="rect">
            <a:avLst/>
          </a:prstGeom>
          <a:solidFill>
            <a:srgbClr val="2B9FD4"/>
          </a:solidFill>
          <a:ln/>
        </p:spPr>
        <p:txBody>
          <a:bodyPr/>
          <a:lstStyle/>
          <a:p>
            <a:endParaRPr lang="en-GB" sz="2400"/>
          </a:p>
        </p:txBody>
      </p:sp>
      <p:pic>
        <p:nvPicPr>
          <p:cNvPr id="24" name="Image 1" descr="preencoded.png"/>
          <p:cNvPicPr>
            <a:picLocks noChangeAspect="1"/>
          </p:cNvPicPr>
          <p:nvPr/>
        </p:nvPicPr>
        <p:blipFill>
          <a:blip r:embed="rId4"/>
          <a:stretch>
            <a:fillRect/>
          </a:stretch>
        </p:blipFill>
        <p:spPr>
          <a:xfrm>
            <a:off x="877824" y="3681984"/>
            <a:ext cx="341376" cy="341376"/>
          </a:xfrm>
          <a:prstGeom prst="rect">
            <a:avLst/>
          </a:prstGeom>
        </p:spPr>
      </p:pic>
      <p:sp>
        <p:nvSpPr>
          <p:cNvPr id="25" name="Text 21"/>
          <p:cNvSpPr/>
          <p:nvPr/>
        </p:nvSpPr>
        <p:spPr>
          <a:xfrm>
            <a:off x="1316736" y="3681984"/>
            <a:ext cx="3048000" cy="341376"/>
          </a:xfrm>
          <a:prstGeom prst="rect">
            <a:avLst/>
          </a:prstGeom>
          <a:noFill/>
          <a:ln/>
        </p:spPr>
        <p:txBody>
          <a:bodyPr wrap="square" lIns="0" tIns="0" rIns="0" bIns="0" rtlCol="0" anchor="ctr"/>
          <a:lstStyle/>
          <a:p>
            <a:r>
              <a:rPr lang="en-US" sz="1733" b="1" dirty="0">
                <a:solidFill>
                  <a:srgbClr val="2A3439"/>
                </a:solidFill>
                <a:latin typeface="Inter" pitchFamily="34" charset="0"/>
                <a:ea typeface="Inter" pitchFamily="34" charset="-122"/>
                <a:cs typeface="Inter" pitchFamily="34" charset="-120"/>
              </a:rPr>
              <a:t>Healthcare Budget</a:t>
            </a:r>
            <a:endParaRPr lang="en-US" sz="1733" dirty="0"/>
          </a:p>
        </p:txBody>
      </p:sp>
      <p:sp>
        <p:nvSpPr>
          <p:cNvPr id="26" name="Text 22"/>
          <p:cNvSpPr/>
          <p:nvPr/>
        </p:nvSpPr>
        <p:spPr>
          <a:xfrm>
            <a:off x="877824" y="4145280"/>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35,421 SEK</a:t>
            </a:r>
            <a:endParaRPr lang="en-US" sz="1600" dirty="0"/>
          </a:p>
        </p:txBody>
      </p:sp>
      <p:sp>
        <p:nvSpPr>
          <p:cNvPr id="27" name="Text 23"/>
          <p:cNvSpPr/>
          <p:nvPr/>
        </p:nvSpPr>
        <p:spPr>
          <a:xfrm>
            <a:off x="877824" y="4389120"/>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HC cost/capita</a:t>
            </a:r>
            <a:endParaRPr lang="en-US" sz="1067" dirty="0"/>
          </a:p>
        </p:txBody>
      </p:sp>
      <p:sp>
        <p:nvSpPr>
          <p:cNvPr id="28" name="Text 24"/>
          <p:cNvSpPr/>
          <p:nvPr/>
        </p:nvSpPr>
        <p:spPr>
          <a:xfrm>
            <a:off x="2523744" y="4145280"/>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3,104 SEK</a:t>
            </a:r>
            <a:endParaRPr lang="en-US" sz="1600" dirty="0"/>
          </a:p>
        </p:txBody>
      </p:sp>
      <p:sp>
        <p:nvSpPr>
          <p:cNvPr id="29" name="Text 25"/>
          <p:cNvSpPr/>
          <p:nvPr/>
        </p:nvSpPr>
        <p:spPr>
          <a:xfrm>
            <a:off x="2523744" y="4389120"/>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Pharma/capita</a:t>
            </a:r>
            <a:endParaRPr lang="en-US" sz="1067" dirty="0"/>
          </a:p>
        </p:txBody>
      </p:sp>
      <p:sp>
        <p:nvSpPr>
          <p:cNvPr id="30" name="Text 26"/>
          <p:cNvSpPr/>
          <p:nvPr/>
        </p:nvSpPr>
        <p:spPr>
          <a:xfrm>
            <a:off x="4169664" y="4145280"/>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5,722 SEK</a:t>
            </a:r>
            <a:endParaRPr lang="en-US" sz="1600" dirty="0"/>
          </a:p>
        </p:txBody>
      </p:sp>
      <p:sp>
        <p:nvSpPr>
          <p:cNvPr id="31" name="Text 27"/>
          <p:cNvSpPr/>
          <p:nvPr/>
        </p:nvSpPr>
        <p:spPr>
          <a:xfrm>
            <a:off x="4169664" y="4389120"/>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Primary care/cap</a:t>
            </a:r>
            <a:endParaRPr lang="en-US" sz="1067" dirty="0"/>
          </a:p>
        </p:txBody>
      </p:sp>
      <p:sp>
        <p:nvSpPr>
          <p:cNvPr id="32" name="Text 28"/>
          <p:cNvSpPr/>
          <p:nvPr/>
        </p:nvSpPr>
        <p:spPr>
          <a:xfrm>
            <a:off x="877824" y="4657344"/>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8.8%</a:t>
            </a:r>
            <a:endParaRPr lang="en-US" sz="1600" dirty="0"/>
          </a:p>
        </p:txBody>
      </p:sp>
      <p:sp>
        <p:nvSpPr>
          <p:cNvPr id="33" name="Text 29"/>
          <p:cNvSpPr/>
          <p:nvPr/>
        </p:nvSpPr>
        <p:spPr>
          <a:xfrm>
            <a:off x="877824" y="4901184"/>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Pharma % of HC</a:t>
            </a:r>
            <a:endParaRPr lang="en-US" sz="1067" dirty="0"/>
          </a:p>
        </p:txBody>
      </p:sp>
      <p:sp>
        <p:nvSpPr>
          <p:cNvPr id="34" name="Text 30"/>
          <p:cNvSpPr/>
          <p:nvPr/>
        </p:nvSpPr>
        <p:spPr>
          <a:xfrm>
            <a:off x="2523744" y="4657344"/>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85 SEK</a:t>
            </a:r>
            <a:endParaRPr lang="en-US" sz="1600" dirty="0"/>
          </a:p>
        </p:txBody>
      </p:sp>
      <p:sp>
        <p:nvSpPr>
          <p:cNvPr id="35" name="Text 31"/>
          <p:cNvSpPr/>
          <p:nvPr/>
        </p:nvSpPr>
        <p:spPr>
          <a:xfrm>
            <a:off x="2523744" y="4901184"/>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Vaccine sell-in/cap</a:t>
            </a:r>
            <a:endParaRPr lang="en-US" sz="1067" dirty="0"/>
          </a:p>
        </p:txBody>
      </p:sp>
      <p:sp>
        <p:nvSpPr>
          <p:cNvPr id="36" name="Text 32"/>
          <p:cNvSpPr/>
          <p:nvPr/>
        </p:nvSpPr>
        <p:spPr>
          <a:xfrm>
            <a:off x="4169664" y="4657344"/>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4,119</a:t>
            </a:r>
            <a:endParaRPr lang="en-US" sz="1600" dirty="0"/>
          </a:p>
        </p:txBody>
      </p:sp>
      <p:sp>
        <p:nvSpPr>
          <p:cNvPr id="37" name="Text 33"/>
          <p:cNvSpPr/>
          <p:nvPr/>
        </p:nvSpPr>
        <p:spPr>
          <a:xfrm>
            <a:off x="4169664" y="4901184"/>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Specialists</a:t>
            </a:r>
            <a:endParaRPr lang="en-US" sz="1067" dirty="0"/>
          </a:p>
        </p:txBody>
      </p:sp>
      <p:sp>
        <p:nvSpPr>
          <p:cNvPr id="38" name="Shape 34"/>
          <p:cNvSpPr/>
          <p:nvPr/>
        </p:nvSpPr>
        <p:spPr>
          <a:xfrm>
            <a:off x="6217920" y="1584960"/>
            <a:ext cx="5364480" cy="18288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GB" sz="2400"/>
          </a:p>
        </p:txBody>
      </p:sp>
      <p:sp>
        <p:nvSpPr>
          <p:cNvPr id="39" name="Shape 35"/>
          <p:cNvSpPr/>
          <p:nvPr/>
        </p:nvSpPr>
        <p:spPr>
          <a:xfrm>
            <a:off x="6217920" y="1584960"/>
            <a:ext cx="73152" cy="1828800"/>
          </a:xfrm>
          <a:prstGeom prst="rect">
            <a:avLst/>
          </a:prstGeom>
          <a:solidFill>
            <a:srgbClr val="1B7FA3"/>
          </a:solidFill>
          <a:ln/>
        </p:spPr>
        <p:txBody>
          <a:bodyPr/>
          <a:lstStyle/>
          <a:p>
            <a:endParaRPr lang="en-GB" sz="2400"/>
          </a:p>
        </p:txBody>
      </p:sp>
      <p:pic>
        <p:nvPicPr>
          <p:cNvPr id="40" name="Image 2" descr="preencoded.png"/>
          <p:cNvPicPr>
            <a:picLocks noChangeAspect="1"/>
          </p:cNvPicPr>
          <p:nvPr/>
        </p:nvPicPr>
        <p:blipFill>
          <a:blip r:embed="rId5"/>
          <a:stretch>
            <a:fillRect/>
          </a:stretch>
        </p:blipFill>
        <p:spPr>
          <a:xfrm>
            <a:off x="6461760" y="1731264"/>
            <a:ext cx="341376" cy="341376"/>
          </a:xfrm>
          <a:prstGeom prst="rect">
            <a:avLst/>
          </a:prstGeom>
        </p:spPr>
      </p:pic>
      <p:sp>
        <p:nvSpPr>
          <p:cNvPr id="41" name="Text 36"/>
          <p:cNvSpPr/>
          <p:nvPr/>
        </p:nvSpPr>
        <p:spPr>
          <a:xfrm>
            <a:off x="6888480" y="1731264"/>
            <a:ext cx="3657600" cy="341376"/>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Population Projections</a:t>
            </a:r>
            <a:endParaRPr lang="en-US" sz="1600" dirty="0"/>
          </a:p>
        </p:txBody>
      </p:sp>
      <p:sp>
        <p:nvSpPr>
          <p:cNvPr id="42" name="Text 37"/>
          <p:cNvSpPr/>
          <p:nvPr/>
        </p:nvSpPr>
        <p:spPr>
          <a:xfrm>
            <a:off x="6461760" y="2218944"/>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2,631,239</a:t>
            </a:r>
            <a:endParaRPr lang="en-US" sz="1600" dirty="0"/>
          </a:p>
        </p:txBody>
      </p:sp>
      <p:sp>
        <p:nvSpPr>
          <p:cNvPr id="43" name="Text 38"/>
          <p:cNvSpPr/>
          <p:nvPr/>
        </p:nvSpPr>
        <p:spPr>
          <a:xfrm>
            <a:off x="6461760" y="2462784"/>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Pop 2040</a:t>
            </a:r>
            <a:endParaRPr lang="en-US" sz="1067" dirty="0"/>
          </a:p>
        </p:txBody>
      </p:sp>
      <p:sp>
        <p:nvSpPr>
          <p:cNvPr id="44" name="Text 39"/>
          <p:cNvSpPr/>
          <p:nvPr/>
        </p:nvSpPr>
        <p:spPr>
          <a:xfrm>
            <a:off x="8168640" y="2218944"/>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564,308</a:t>
            </a:r>
            <a:endParaRPr lang="en-US" sz="1600" dirty="0"/>
          </a:p>
        </p:txBody>
      </p:sp>
      <p:sp>
        <p:nvSpPr>
          <p:cNvPr id="45" name="Text 40"/>
          <p:cNvSpPr/>
          <p:nvPr/>
        </p:nvSpPr>
        <p:spPr>
          <a:xfrm>
            <a:off x="8168640" y="2462784"/>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65+ in 2040</a:t>
            </a:r>
            <a:endParaRPr lang="en-US" sz="1067" dirty="0"/>
          </a:p>
        </p:txBody>
      </p:sp>
      <p:sp>
        <p:nvSpPr>
          <p:cNvPr id="46" name="Text 41"/>
          <p:cNvSpPr/>
          <p:nvPr/>
        </p:nvSpPr>
        <p:spPr>
          <a:xfrm>
            <a:off x="9875520" y="2218944"/>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2,747,015</a:t>
            </a:r>
            <a:endParaRPr lang="en-US" sz="1600" dirty="0"/>
          </a:p>
        </p:txBody>
      </p:sp>
      <p:sp>
        <p:nvSpPr>
          <p:cNvPr id="47" name="Text 42"/>
          <p:cNvSpPr/>
          <p:nvPr/>
        </p:nvSpPr>
        <p:spPr>
          <a:xfrm>
            <a:off x="9875520" y="2462784"/>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Pop 2050</a:t>
            </a:r>
            <a:endParaRPr lang="en-US" sz="1067" dirty="0"/>
          </a:p>
        </p:txBody>
      </p:sp>
      <p:sp>
        <p:nvSpPr>
          <p:cNvPr id="48" name="Text 43"/>
          <p:cNvSpPr/>
          <p:nvPr/>
        </p:nvSpPr>
        <p:spPr>
          <a:xfrm>
            <a:off x="6461760" y="2731008"/>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25,657</a:t>
            </a:r>
            <a:endParaRPr lang="en-US" sz="1600" dirty="0"/>
          </a:p>
        </p:txBody>
      </p:sp>
      <p:sp>
        <p:nvSpPr>
          <p:cNvPr id="49" name="Text 44"/>
          <p:cNvSpPr/>
          <p:nvPr/>
        </p:nvSpPr>
        <p:spPr>
          <a:xfrm>
            <a:off x="6461760" y="2974848"/>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Births 2024</a:t>
            </a:r>
            <a:endParaRPr lang="en-US" sz="1067" dirty="0"/>
          </a:p>
        </p:txBody>
      </p:sp>
      <p:sp>
        <p:nvSpPr>
          <p:cNvPr id="50" name="Text 45"/>
          <p:cNvSpPr/>
          <p:nvPr/>
        </p:nvSpPr>
        <p:spPr>
          <a:xfrm>
            <a:off x="8168640" y="2731008"/>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495,084</a:t>
            </a:r>
            <a:endParaRPr lang="en-US" sz="1600" dirty="0"/>
          </a:p>
        </p:txBody>
      </p:sp>
      <p:sp>
        <p:nvSpPr>
          <p:cNvPr id="51" name="Text 46"/>
          <p:cNvSpPr/>
          <p:nvPr/>
        </p:nvSpPr>
        <p:spPr>
          <a:xfrm>
            <a:off x="8168640" y="2974848"/>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Women 15-44</a:t>
            </a:r>
            <a:endParaRPr lang="en-US" sz="1067" dirty="0"/>
          </a:p>
        </p:txBody>
      </p:sp>
      <p:sp>
        <p:nvSpPr>
          <p:cNvPr id="52" name="Text 47"/>
          <p:cNvSpPr/>
          <p:nvPr/>
        </p:nvSpPr>
        <p:spPr>
          <a:xfrm>
            <a:off x="9875520" y="2731008"/>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25,673</a:t>
            </a:r>
            <a:endParaRPr lang="en-US" sz="1600" dirty="0"/>
          </a:p>
        </p:txBody>
      </p:sp>
      <p:sp>
        <p:nvSpPr>
          <p:cNvPr id="53" name="Text 48"/>
          <p:cNvSpPr/>
          <p:nvPr/>
        </p:nvSpPr>
        <p:spPr>
          <a:xfrm>
            <a:off x="9875520" y="2974848"/>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Infants 0-1</a:t>
            </a:r>
            <a:endParaRPr lang="en-US" sz="1067" dirty="0"/>
          </a:p>
        </p:txBody>
      </p:sp>
      <p:sp>
        <p:nvSpPr>
          <p:cNvPr id="54" name="Shape 49"/>
          <p:cNvSpPr/>
          <p:nvPr/>
        </p:nvSpPr>
        <p:spPr>
          <a:xfrm>
            <a:off x="6217920" y="3596640"/>
            <a:ext cx="5364480" cy="170688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GB" sz="2400"/>
          </a:p>
        </p:txBody>
      </p:sp>
      <p:sp>
        <p:nvSpPr>
          <p:cNvPr id="55" name="Shape 50"/>
          <p:cNvSpPr/>
          <p:nvPr/>
        </p:nvSpPr>
        <p:spPr>
          <a:xfrm>
            <a:off x="6217920" y="3596640"/>
            <a:ext cx="73152" cy="1706880"/>
          </a:xfrm>
          <a:prstGeom prst="rect">
            <a:avLst/>
          </a:prstGeom>
          <a:solidFill>
            <a:srgbClr val="1B7FA3"/>
          </a:solidFill>
          <a:ln/>
        </p:spPr>
        <p:txBody>
          <a:bodyPr/>
          <a:lstStyle/>
          <a:p>
            <a:endParaRPr lang="en-GB" sz="2400"/>
          </a:p>
        </p:txBody>
      </p:sp>
      <p:pic>
        <p:nvPicPr>
          <p:cNvPr id="56" name="Image 3" descr="preencoded.png"/>
          <p:cNvPicPr>
            <a:picLocks noChangeAspect="1"/>
          </p:cNvPicPr>
          <p:nvPr/>
        </p:nvPicPr>
        <p:blipFill>
          <a:blip r:embed="rId6"/>
          <a:stretch>
            <a:fillRect/>
          </a:stretch>
        </p:blipFill>
        <p:spPr>
          <a:xfrm>
            <a:off x="6461760" y="3742944"/>
            <a:ext cx="341376" cy="341376"/>
          </a:xfrm>
          <a:prstGeom prst="rect">
            <a:avLst/>
          </a:prstGeom>
        </p:spPr>
      </p:pic>
      <p:sp>
        <p:nvSpPr>
          <p:cNvPr id="57" name="Text 51"/>
          <p:cNvSpPr/>
          <p:nvPr/>
        </p:nvSpPr>
        <p:spPr>
          <a:xfrm>
            <a:off x="6888480" y="3742944"/>
            <a:ext cx="3657600" cy="341376"/>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Health Equity Indicators</a:t>
            </a:r>
            <a:endParaRPr lang="en-US" sz="1600" dirty="0"/>
          </a:p>
        </p:txBody>
      </p:sp>
      <p:sp>
        <p:nvSpPr>
          <p:cNvPr id="58" name="Text 52"/>
          <p:cNvSpPr/>
          <p:nvPr/>
        </p:nvSpPr>
        <p:spPr>
          <a:xfrm>
            <a:off x="6461760" y="4206240"/>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153.4/100k</a:t>
            </a:r>
            <a:endParaRPr lang="en-US" sz="1600" dirty="0"/>
          </a:p>
        </p:txBody>
      </p:sp>
      <p:sp>
        <p:nvSpPr>
          <p:cNvPr id="59" name="Text 53"/>
          <p:cNvSpPr/>
          <p:nvPr/>
        </p:nvSpPr>
        <p:spPr>
          <a:xfrm>
            <a:off x="6461760" y="4450080"/>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Premature mort. 25-64</a:t>
            </a:r>
            <a:endParaRPr lang="en-US" sz="1067" dirty="0"/>
          </a:p>
        </p:txBody>
      </p:sp>
      <p:sp>
        <p:nvSpPr>
          <p:cNvPr id="60" name="Text 54"/>
          <p:cNvSpPr/>
          <p:nvPr/>
        </p:nvSpPr>
        <p:spPr>
          <a:xfrm>
            <a:off x="8168640" y="4206240"/>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41.1/100k</a:t>
            </a:r>
            <a:endParaRPr lang="en-US" sz="1600" dirty="0"/>
          </a:p>
        </p:txBody>
      </p:sp>
      <p:sp>
        <p:nvSpPr>
          <p:cNvPr id="61" name="Text 55"/>
          <p:cNvSpPr/>
          <p:nvPr/>
        </p:nvSpPr>
        <p:spPr>
          <a:xfrm>
            <a:off x="8168640" y="4450080"/>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HC-amenable mort.</a:t>
            </a:r>
            <a:endParaRPr lang="en-US" sz="1067" dirty="0"/>
          </a:p>
        </p:txBody>
      </p:sp>
      <p:sp>
        <p:nvSpPr>
          <p:cNvPr id="62" name="Text 56"/>
          <p:cNvSpPr/>
          <p:nvPr/>
        </p:nvSpPr>
        <p:spPr>
          <a:xfrm>
            <a:off x="9875520" y="4206240"/>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12.4/100k</a:t>
            </a:r>
            <a:endParaRPr lang="en-US" sz="1600" dirty="0"/>
          </a:p>
        </p:txBody>
      </p:sp>
      <p:sp>
        <p:nvSpPr>
          <p:cNvPr id="63" name="Text 57"/>
          <p:cNvSpPr/>
          <p:nvPr/>
        </p:nvSpPr>
        <p:spPr>
          <a:xfrm>
            <a:off x="9875520" y="4450080"/>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Suicide 25+</a:t>
            </a:r>
            <a:endParaRPr lang="en-US" sz="1067" dirty="0"/>
          </a:p>
        </p:txBody>
      </p:sp>
      <p:sp>
        <p:nvSpPr>
          <p:cNvPr id="64" name="Text 58"/>
          <p:cNvSpPr/>
          <p:nvPr/>
        </p:nvSpPr>
        <p:spPr>
          <a:xfrm>
            <a:off x="6461760" y="4718304"/>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58.6%</a:t>
            </a:r>
            <a:endParaRPr lang="en-US" sz="1600" dirty="0"/>
          </a:p>
        </p:txBody>
      </p:sp>
      <p:sp>
        <p:nvSpPr>
          <p:cNvPr id="65" name="Text 59"/>
          <p:cNvSpPr/>
          <p:nvPr/>
        </p:nvSpPr>
        <p:spPr>
          <a:xfrm>
            <a:off x="6461760" y="4962144"/>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Post-secondary edu</a:t>
            </a:r>
            <a:endParaRPr lang="en-US" sz="1067" dirty="0"/>
          </a:p>
        </p:txBody>
      </p:sp>
      <p:sp>
        <p:nvSpPr>
          <p:cNvPr id="66" name="Text 60"/>
          <p:cNvSpPr/>
          <p:nvPr/>
        </p:nvSpPr>
        <p:spPr>
          <a:xfrm>
            <a:off x="8168640" y="4718304"/>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5.5%</a:t>
            </a:r>
            <a:endParaRPr lang="en-US" sz="1600" dirty="0"/>
          </a:p>
        </p:txBody>
      </p:sp>
      <p:sp>
        <p:nvSpPr>
          <p:cNvPr id="67" name="Text 61"/>
          <p:cNvSpPr/>
          <p:nvPr/>
        </p:nvSpPr>
        <p:spPr>
          <a:xfrm>
            <a:off x="8168640" y="4962144"/>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Daily smokers</a:t>
            </a:r>
            <a:endParaRPr lang="en-US" sz="1067" dirty="0"/>
          </a:p>
        </p:txBody>
      </p:sp>
      <p:sp>
        <p:nvSpPr>
          <p:cNvPr id="68" name="Text 62"/>
          <p:cNvSpPr/>
          <p:nvPr/>
        </p:nvSpPr>
        <p:spPr>
          <a:xfrm>
            <a:off x="9875520" y="4718304"/>
            <a:ext cx="1706880" cy="268224"/>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46.5%</a:t>
            </a:r>
            <a:endParaRPr lang="en-US" sz="1600" dirty="0"/>
          </a:p>
        </p:txBody>
      </p:sp>
      <p:sp>
        <p:nvSpPr>
          <p:cNvPr id="69" name="Text 63"/>
          <p:cNvSpPr/>
          <p:nvPr/>
        </p:nvSpPr>
        <p:spPr>
          <a:xfrm>
            <a:off x="9875520" y="4962144"/>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Overweight/obese</a:t>
            </a:r>
            <a:endParaRPr lang="en-US" sz="1067" dirty="0"/>
          </a:p>
        </p:txBody>
      </p:sp>
      <p:sp>
        <p:nvSpPr>
          <p:cNvPr id="70" name="Text 64"/>
          <p:cNvSpPr/>
          <p:nvPr/>
        </p:nvSpPr>
        <p:spPr>
          <a:xfrm>
            <a:off x="609600" y="6400800"/>
            <a:ext cx="9144000" cy="304800"/>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Source: SCB, Kolada, Folkhälsomyndigheten (2024)</a:t>
            </a:r>
            <a:endParaRPr lang="en-US" sz="933" dirty="0"/>
          </a:p>
        </p:txBody>
      </p:sp>
      <p:pic>
        <p:nvPicPr>
          <p:cNvPr id="71" name="Image 4" descr="/home/claude/logo-light.jpg"/>
          <p:cNvPicPr>
            <a:picLocks noChangeAspect="1"/>
          </p:cNvPicPr>
          <p:nvPr/>
        </p:nvPicPr>
        <p:blipFill>
          <a:blip r:embed="rId7"/>
          <a:stretch>
            <a:fillRect/>
          </a:stretch>
        </p:blipFill>
        <p:spPr>
          <a:xfrm>
            <a:off x="9753600" y="6278880"/>
            <a:ext cx="1950720"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48768"/>
          </a:xfrm>
          <a:prstGeom prst="rect">
            <a:avLst/>
          </a:prstGeom>
          <a:solidFill>
            <a:srgbClr val="2B9FD4"/>
          </a:solidFill>
          <a:ln/>
        </p:spPr>
        <p:txBody>
          <a:bodyPr/>
          <a:lstStyle/>
          <a:p>
            <a:endParaRPr lang="en-GB" sz="2400"/>
          </a:p>
        </p:txBody>
      </p:sp>
      <p:sp>
        <p:nvSpPr>
          <p:cNvPr id="3" name="Text 1"/>
          <p:cNvSpPr/>
          <p:nvPr/>
        </p:nvSpPr>
        <p:spPr>
          <a:xfrm>
            <a:off x="731520" y="243840"/>
            <a:ext cx="8534400" cy="390144"/>
          </a:xfrm>
          <a:prstGeom prst="rect">
            <a:avLst/>
          </a:prstGeom>
          <a:noFill/>
          <a:ln/>
        </p:spPr>
        <p:txBody>
          <a:bodyPr wrap="square" lIns="0" tIns="0" rIns="0" bIns="0" rtlCol="0" anchor="ctr"/>
          <a:lstStyle/>
          <a:p>
            <a:r>
              <a:rPr lang="en-US" sz="1333" kern="0" spc="400" dirty="0">
                <a:solidFill>
                  <a:srgbClr val="5D6D7E"/>
                </a:solidFill>
                <a:latin typeface="Inter" pitchFamily="34" charset="0"/>
                <a:ea typeface="Inter" pitchFamily="34" charset="-122"/>
                <a:cs typeface="Inter" pitchFamily="34" charset="-120"/>
              </a:rPr>
              <a:t>PART B: REGION STOCKHOLM</a:t>
            </a:r>
            <a:endParaRPr lang="en-US" sz="1333" dirty="0"/>
          </a:p>
        </p:txBody>
      </p:sp>
      <p:sp>
        <p:nvSpPr>
          <p:cNvPr id="4" name="Text 2"/>
          <p:cNvSpPr/>
          <p:nvPr/>
        </p:nvSpPr>
        <p:spPr>
          <a:xfrm>
            <a:off x="731520" y="585216"/>
            <a:ext cx="10363200" cy="609600"/>
          </a:xfrm>
          <a:prstGeom prst="rect">
            <a:avLst/>
          </a:prstGeom>
          <a:noFill/>
          <a:ln/>
        </p:spPr>
        <p:txBody>
          <a:bodyPr wrap="square" lIns="0" tIns="0" rIns="0" bIns="0" rtlCol="0" anchor="ctr"/>
          <a:lstStyle/>
          <a:p>
            <a:r>
              <a:rPr lang="en-US" sz="2933" b="1" dirty="0">
                <a:solidFill>
                  <a:srgbClr val="2A3439"/>
                </a:solidFill>
                <a:latin typeface="Inter" pitchFamily="34" charset="0"/>
                <a:ea typeface="Inter" pitchFamily="34" charset="-122"/>
                <a:cs typeface="Inter" pitchFamily="34" charset="-120"/>
              </a:rPr>
              <a:t>Disease Burden &amp; Epidemiology</a:t>
            </a:r>
            <a:endParaRPr lang="en-US" sz="2933" dirty="0"/>
          </a:p>
        </p:txBody>
      </p:sp>
      <p:sp>
        <p:nvSpPr>
          <p:cNvPr id="5" name="Shape 3"/>
          <p:cNvSpPr/>
          <p:nvPr/>
        </p:nvSpPr>
        <p:spPr>
          <a:xfrm>
            <a:off x="609600" y="1341120"/>
            <a:ext cx="5303520" cy="24384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GB" sz="2400"/>
          </a:p>
        </p:txBody>
      </p:sp>
      <p:sp>
        <p:nvSpPr>
          <p:cNvPr id="6" name="Shape 4"/>
          <p:cNvSpPr/>
          <p:nvPr/>
        </p:nvSpPr>
        <p:spPr>
          <a:xfrm>
            <a:off x="609600" y="1341120"/>
            <a:ext cx="73152" cy="2438400"/>
          </a:xfrm>
          <a:prstGeom prst="rect">
            <a:avLst/>
          </a:prstGeom>
          <a:solidFill>
            <a:srgbClr val="2B9FD4"/>
          </a:solidFill>
          <a:ln/>
        </p:spPr>
        <p:txBody>
          <a:bodyPr/>
          <a:lstStyle/>
          <a:p>
            <a:endParaRPr lang="en-GB" sz="2400"/>
          </a:p>
        </p:txBody>
      </p:sp>
      <p:pic>
        <p:nvPicPr>
          <p:cNvPr id="7" name="Image 0" descr="preencoded.png"/>
          <p:cNvPicPr>
            <a:picLocks noChangeAspect="1"/>
          </p:cNvPicPr>
          <p:nvPr/>
        </p:nvPicPr>
        <p:blipFill>
          <a:blip r:embed="rId3"/>
          <a:stretch>
            <a:fillRect/>
          </a:stretch>
        </p:blipFill>
        <p:spPr>
          <a:xfrm>
            <a:off x="877824" y="1463040"/>
            <a:ext cx="304800" cy="304800"/>
          </a:xfrm>
          <a:prstGeom prst="rect">
            <a:avLst/>
          </a:prstGeom>
        </p:spPr>
      </p:pic>
      <p:sp>
        <p:nvSpPr>
          <p:cNvPr id="8" name="Text 5"/>
          <p:cNvSpPr/>
          <p:nvPr/>
        </p:nvSpPr>
        <p:spPr>
          <a:xfrm>
            <a:off x="1243584" y="1463040"/>
            <a:ext cx="3048000" cy="304800"/>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Cancer Burden</a:t>
            </a:r>
            <a:endParaRPr lang="en-US" sz="1600" dirty="0"/>
          </a:p>
        </p:txBody>
      </p:sp>
      <p:sp>
        <p:nvSpPr>
          <p:cNvPr id="9" name="Text 6"/>
          <p:cNvSpPr/>
          <p:nvPr/>
        </p:nvSpPr>
        <p:spPr>
          <a:xfrm>
            <a:off x="877824" y="1889760"/>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207.9/100k</a:t>
            </a:r>
            <a:endParaRPr lang="en-US" sz="1333" dirty="0"/>
          </a:p>
        </p:txBody>
      </p:sp>
      <p:sp>
        <p:nvSpPr>
          <p:cNvPr id="10" name="Text 7"/>
          <p:cNvSpPr/>
          <p:nvPr/>
        </p:nvSpPr>
        <p:spPr>
          <a:xfrm>
            <a:off x="877824" y="2133600"/>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Breast cancer</a:t>
            </a:r>
            <a:endParaRPr lang="en-US" sz="933" dirty="0"/>
          </a:p>
        </p:txBody>
      </p:sp>
      <p:sp>
        <p:nvSpPr>
          <p:cNvPr id="11" name="Text 8"/>
          <p:cNvSpPr/>
          <p:nvPr/>
        </p:nvSpPr>
        <p:spPr>
          <a:xfrm>
            <a:off x="2523744" y="1889760"/>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185.1/100k</a:t>
            </a:r>
            <a:endParaRPr lang="en-US" sz="1333" dirty="0"/>
          </a:p>
        </p:txBody>
      </p:sp>
      <p:sp>
        <p:nvSpPr>
          <p:cNvPr id="12" name="Text 9"/>
          <p:cNvSpPr/>
          <p:nvPr/>
        </p:nvSpPr>
        <p:spPr>
          <a:xfrm>
            <a:off x="2523744" y="2133600"/>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Prostate cancer</a:t>
            </a:r>
            <a:endParaRPr lang="en-US" sz="933" dirty="0"/>
          </a:p>
        </p:txBody>
      </p:sp>
      <p:sp>
        <p:nvSpPr>
          <p:cNvPr id="13" name="Text 10"/>
          <p:cNvSpPr/>
          <p:nvPr/>
        </p:nvSpPr>
        <p:spPr>
          <a:xfrm>
            <a:off x="4169664" y="1889760"/>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38.1/100k</a:t>
            </a:r>
            <a:endParaRPr lang="en-US" sz="1333" dirty="0"/>
          </a:p>
        </p:txBody>
      </p:sp>
      <p:sp>
        <p:nvSpPr>
          <p:cNvPr id="14" name="Text 11"/>
          <p:cNvSpPr/>
          <p:nvPr/>
        </p:nvSpPr>
        <p:spPr>
          <a:xfrm>
            <a:off x="4169664" y="2133600"/>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Lung cancer</a:t>
            </a:r>
            <a:endParaRPr lang="en-US" sz="933" dirty="0"/>
          </a:p>
        </p:txBody>
      </p:sp>
      <p:sp>
        <p:nvSpPr>
          <p:cNvPr id="15" name="Text 12"/>
          <p:cNvSpPr/>
          <p:nvPr/>
        </p:nvSpPr>
        <p:spPr>
          <a:xfrm>
            <a:off x="877824" y="2353056"/>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~5,141</a:t>
            </a:r>
            <a:endParaRPr lang="en-US" sz="1333" dirty="0"/>
          </a:p>
        </p:txBody>
      </p:sp>
      <p:sp>
        <p:nvSpPr>
          <p:cNvPr id="16" name="Text 13"/>
          <p:cNvSpPr/>
          <p:nvPr/>
        </p:nvSpPr>
        <p:spPr>
          <a:xfrm>
            <a:off x="877824" y="2596896"/>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Implied breast cases</a:t>
            </a:r>
            <a:endParaRPr lang="en-US" sz="933" dirty="0"/>
          </a:p>
        </p:txBody>
      </p:sp>
      <p:sp>
        <p:nvSpPr>
          <p:cNvPr id="17" name="Text 14"/>
          <p:cNvSpPr/>
          <p:nvPr/>
        </p:nvSpPr>
        <p:spPr>
          <a:xfrm>
            <a:off x="2523744" y="2353056"/>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~4,578</a:t>
            </a:r>
            <a:endParaRPr lang="en-US" sz="1333" dirty="0"/>
          </a:p>
        </p:txBody>
      </p:sp>
      <p:sp>
        <p:nvSpPr>
          <p:cNvPr id="18" name="Text 15"/>
          <p:cNvSpPr/>
          <p:nvPr/>
        </p:nvSpPr>
        <p:spPr>
          <a:xfrm>
            <a:off x="2523744" y="2596896"/>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Implied prostate cases</a:t>
            </a:r>
            <a:endParaRPr lang="en-US" sz="933" dirty="0"/>
          </a:p>
        </p:txBody>
      </p:sp>
      <p:sp>
        <p:nvSpPr>
          <p:cNvPr id="19" name="Text 16"/>
          <p:cNvSpPr/>
          <p:nvPr/>
        </p:nvSpPr>
        <p:spPr>
          <a:xfrm>
            <a:off x="4169664" y="2353056"/>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~944</a:t>
            </a:r>
            <a:endParaRPr lang="en-US" sz="1333" dirty="0"/>
          </a:p>
        </p:txBody>
      </p:sp>
      <p:sp>
        <p:nvSpPr>
          <p:cNvPr id="20" name="Text 17"/>
          <p:cNvSpPr/>
          <p:nvPr/>
        </p:nvSpPr>
        <p:spPr>
          <a:xfrm>
            <a:off x="4169664" y="2596896"/>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Implied lung cases</a:t>
            </a:r>
            <a:endParaRPr lang="en-US" sz="933" dirty="0"/>
          </a:p>
        </p:txBody>
      </p:sp>
      <p:sp>
        <p:nvSpPr>
          <p:cNvPr id="21" name="Text 18"/>
          <p:cNvSpPr/>
          <p:nvPr/>
        </p:nvSpPr>
        <p:spPr>
          <a:xfrm>
            <a:off x="877824" y="2816352"/>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56.8%</a:t>
            </a:r>
            <a:endParaRPr lang="en-US" sz="1333" dirty="0"/>
          </a:p>
        </p:txBody>
      </p:sp>
      <p:sp>
        <p:nvSpPr>
          <p:cNvPr id="22" name="Text 19"/>
          <p:cNvSpPr/>
          <p:nvPr/>
        </p:nvSpPr>
        <p:spPr>
          <a:xfrm>
            <a:off x="877824" y="3060192"/>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Breast screening detect</a:t>
            </a:r>
            <a:endParaRPr lang="en-US" sz="933" dirty="0"/>
          </a:p>
        </p:txBody>
      </p:sp>
      <p:sp>
        <p:nvSpPr>
          <p:cNvPr id="23" name="Text 20"/>
          <p:cNvSpPr/>
          <p:nvPr/>
        </p:nvSpPr>
        <p:spPr>
          <a:xfrm>
            <a:off x="2523744" y="2816352"/>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38.9%</a:t>
            </a:r>
            <a:endParaRPr lang="en-US" sz="1333" dirty="0"/>
          </a:p>
        </p:txBody>
      </p:sp>
      <p:sp>
        <p:nvSpPr>
          <p:cNvPr id="24" name="Text 21"/>
          <p:cNvSpPr/>
          <p:nvPr/>
        </p:nvSpPr>
        <p:spPr>
          <a:xfrm>
            <a:off x="2523744" y="3060192"/>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Breast surg &lt;28d</a:t>
            </a:r>
            <a:endParaRPr lang="en-US" sz="933" dirty="0"/>
          </a:p>
        </p:txBody>
      </p:sp>
      <p:sp>
        <p:nvSpPr>
          <p:cNvPr id="25" name="Text 22"/>
          <p:cNvSpPr/>
          <p:nvPr/>
        </p:nvSpPr>
        <p:spPr>
          <a:xfrm>
            <a:off x="4169664" y="2816352"/>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45.9/100k</a:t>
            </a:r>
            <a:endParaRPr lang="en-US" sz="1333" dirty="0"/>
          </a:p>
        </p:txBody>
      </p:sp>
      <p:sp>
        <p:nvSpPr>
          <p:cNvPr id="26" name="Text 23"/>
          <p:cNvSpPr/>
          <p:nvPr/>
        </p:nvSpPr>
        <p:spPr>
          <a:xfrm>
            <a:off x="4169664" y="3060192"/>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Lung ca mortality</a:t>
            </a:r>
            <a:endParaRPr lang="en-US" sz="933" dirty="0"/>
          </a:p>
        </p:txBody>
      </p:sp>
      <p:sp>
        <p:nvSpPr>
          <p:cNvPr id="27" name="Shape 24"/>
          <p:cNvSpPr/>
          <p:nvPr/>
        </p:nvSpPr>
        <p:spPr>
          <a:xfrm>
            <a:off x="609600" y="3962400"/>
            <a:ext cx="5303520" cy="18897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GB" sz="2400"/>
          </a:p>
        </p:txBody>
      </p:sp>
      <p:sp>
        <p:nvSpPr>
          <p:cNvPr id="28" name="Shape 25"/>
          <p:cNvSpPr/>
          <p:nvPr/>
        </p:nvSpPr>
        <p:spPr>
          <a:xfrm>
            <a:off x="609600" y="3962400"/>
            <a:ext cx="73152" cy="1889760"/>
          </a:xfrm>
          <a:prstGeom prst="rect">
            <a:avLst/>
          </a:prstGeom>
          <a:solidFill>
            <a:srgbClr val="1B7FA3"/>
          </a:solidFill>
          <a:ln/>
        </p:spPr>
        <p:txBody>
          <a:bodyPr/>
          <a:lstStyle/>
          <a:p>
            <a:endParaRPr lang="en-GB" sz="2400"/>
          </a:p>
        </p:txBody>
      </p:sp>
      <p:pic>
        <p:nvPicPr>
          <p:cNvPr id="29" name="Image 1" descr="preencoded.png"/>
          <p:cNvPicPr>
            <a:picLocks noChangeAspect="1"/>
          </p:cNvPicPr>
          <p:nvPr/>
        </p:nvPicPr>
        <p:blipFill>
          <a:blip r:embed="rId4"/>
          <a:stretch>
            <a:fillRect/>
          </a:stretch>
        </p:blipFill>
        <p:spPr>
          <a:xfrm>
            <a:off x="877824" y="4084320"/>
            <a:ext cx="304800" cy="304800"/>
          </a:xfrm>
          <a:prstGeom prst="rect">
            <a:avLst/>
          </a:prstGeom>
        </p:spPr>
      </p:pic>
      <p:sp>
        <p:nvSpPr>
          <p:cNvPr id="30" name="Text 26"/>
          <p:cNvSpPr/>
          <p:nvPr/>
        </p:nvSpPr>
        <p:spPr>
          <a:xfrm>
            <a:off x="1243584" y="4084320"/>
            <a:ext cx="4267200" cy="304800"/>
          </a:xfrm>
          <a:prstGeom prst="rect">
            <a:avLst/>
          </a:prstGeom>
          <a:noFill/>
          <a:ln/>
        </p:spPr>
        <p:txBody>
          <a:bodyPr wrap="square" lIns="0" tIns="0" rIns="0" bIns="0" rtlCol="0" anchor="ctr"/>
          <a:lstStyle/>
          <a:p>
            <a:r>
              <a:rPr lang="en-US" sz="1467" b="1" dirty="0">
                <a:solidFill>
                  <a:srgbClr val="2A3439"/>
                </a:solidFill>
                <a:latin typeface="Inter" pitchFamily="34" charset="0"/>
                <a:ea typeface="Inter" pitchFamily="34" charset="-122"/>
                <a:cs typeface="Inter" pitchFamily="34" charset="-120"/>
              </a:rPr>
              <a:t>Infectious Disease Epidemiology</a:t>
            </a:r>
            <a:endParaRPr lang="en-US" sz="1467" dirty="0"/>
          </a:p>
        </p:txBody>
      </p:sp>
      <p:sp>
        <p:nvSpPr>
          <p:cNvPr id="31" name="Text 27"/>
          <p:cNvSpPr/>
          <p:nvPr/>
        </p:nvSpPr>
        <p:spPr>
          <a:xfrm>
            <a:off x="877824" y="4511040"/>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137</a:t>
            </a:r>
            <a:endParaRPr lang="en-US" sz="1333" dirty="0"/>
          </a:p>
        </p:txBody>
      </p:sp>
      <p:sp>
        <p:nvSpPr>
          <p:cNvPr id="32" name="Text 28"/>
          <p:cNvSpPr/>
          <p:nvPr/>
        </p:nvSpPr>
        <p:spPr>
          <a:xfrm>
            <a:off x="877824" y="4754880"/>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TBE cases 2025</a:t>
            </a:r>
            <a:endParaRPr lang="en-US" sz="933" dirty="0"/>
          </a:p>
        </p:txBody>
      </p:sp>
      <p:sp>
        <p:nvSpPr>
          <p:cNvPr id="33" name="Text 29"/>
          <p:cNvSpPr/>
          <p:nvPr/>
        </p:nvSpPr>
        <p:spPr>
          <a:xfrm>
            <a:off x="2523744" y="4511040"/>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5.5/100k</a:t>
            </a:r>
            <a:endParaRPr lang="en-US" sz="1333" dirty="0"/>
          </a:p>
        </p:txBody>
      </p:sp>
      <p:sp>
        <p:nvSpPr>
          <p:cNvPr id="34" name="Text 30"/>
          <p:cNvSpPr/>
          <p:nvPr/>
        </p:nvSpPr>
        <p:spPr>
          <a:xfrm>
            <a:off x="2523744" y="4754880"/>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TBE incidence</a:t>
            </a:r>
            <a:endParaRPr lang="en-US" sz="933" dirty="0"/>
          </a:p>
        </p:txBody>
      </p:sp>
      <p:sp>
        <p:nvSpPr>
          <p:cNvPr id="35" name="Text 31"/>
          <p:cNvSpPr/>
          <p:nvPr/>
        </p:nvSpPr>
        <p:spPr>
          <a:xfrm>
            <a:off x="4169664" y="4511040"/>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105</a:t>
            </a:r>
            <a:endParaRPr lang="en-US" sz="1333" dirty="0"/>
          </a:p>
        </p:txBody>
      </p:sp>
      <p:sp>
        <p:nvSpPr>
          <p:cNvPr id="36" name="Text 32"/>
          <p:cNvSpPr/>
          <p:nvPr/>
        </p:nvSpPr>
        <p:spPr>
          <a:xfrm>
            <a:off x="4169664" y="4754880"/>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TBE cases 2024</a:t>
            </a:r>
            <a:endParaRPr lang="en-US" sz="933" dirty="0"/>
          </a:p>
        </p:txBody>
      </p:sp>
      <p:sp>
        <p:nvSpPr>
          <p:cNvPr id="37" name="Text 33"/>
          <p:cNvSpPr/>
          <p:nvPr/>
        </p:nvSpPr>
        <p:spPr>
          <a:xfrm>
            <a:off x="877824" y="4974336"/>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357</a:t>
            </a:r>
            <a:endParaRPr lang="en-US" sz="1333" dirty="0"/>
          </a:p>
        </p:txBody>
      </p:sp>
      <p:sp>
        <p:nvSpPr>
          <p:cNvPr id="38" name="Text 34"/>
          <p:cNvSpPr/>
          <p:nvPr/>
        </p:nvSpPr>
        <p:spPr>
          <a:xfrm>
            <a:off x="877824" y="5218176"/>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IPD cases 2025</a:t>
            </a:r>
            <a:endParaRPr lang="en-US" sz="933" dirty="0"/>
          </a:p>
        </p:txBody>
      </p:sp>
      <p:sp>
        <p:nvSpPr>
          <p:cNvPr id="39" name="Text 35"/>
          <p:cNvSpPr/>
          <p:nvPr/>
        </p:nvSpPr>
        <p:spPr>
          <a:xfrm>
            <a:off x="2523744" y="4974336"/>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14.4/100k</a:t>
            </a:r>
            <a:endParaRPr lang="en-US" sz="1333" dirty="0"/>
          </a:p>
        </p:txBody>
      </p:sp>
      <p:sp>
        <p:nvSpPr>
          <p:cNvPr id="40" name="Text 36"/>
          <p:cNvSpPr/>
          <p:nvPr/>
        </p:nvSpPr>
        <p:spPr>
          <a:xfrm>
            <a:off x="2523744" y="5218176"/>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IPD incidence</a:t>
            </a:r>
            <a:endParaRPr lang="en-US" sz="933" dirty="0"/>
          </a:p>
        </p:txBody>
      </p:sp>
      <p:sp>
        <p:nvSpPr>
          <p:cNvPr id="41" name="Text 37"/>
          <p:cNvSpPr/>
          <p:nvPr/>
        </p:nvSpPr>
        <p:spPr>
          <a:xfrm>
            <a:off x="4169664" y="4974336"/>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323</a:t>
            </a:r>
            <a:endParaRPr lang="en-US" sz="1333" dirty="0"/>
          </a:p>
        </p:txBody>
      </p:sp>
      <p:sp>
        <p:nvSpPr>
          <p:cNvPr id="42" name="Text 38"/>
          <p:cNvSpPr/>
          <p:nvPr/>
        </p:nvSpPr>
        <p:spPr>
          <a:xfrm>
            <a:off x="4169664" y="5218176"/>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IPD cases 2024</a:t>
            </a:r>
            <a:endParaRPr lang="en-US" sz="933" dirty="0"/>
          </a:p>
        </p:txBody>
      </p:sp>
      <p:sp>
        <p:nvSpPr>
          <p:cNvPr id="43" name="Text 39"/>
          <p:cNvSpPr/>
          <p:nvPr/>
        </p:nvSpPr>
        <p:spPr>
          <a:xfrm>
            <a:off x="877824" y="5437632"/>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261/1,000</a:t>
            </a:r>
            <a:endParaRPr lang="en-US" sz="1333" dirty="0"/>
          </a:p>
        </p:txBody>
      </p:sp>
      <p:sp>
        <p:nvSpPr>
          <p:cNvPr id="44" name="Text 40"/>
          <p:cNvSpPr/>
          <p:nvPr/>
        </p:nvSpPr>
        <p:spPr>
          <a:xfrm>
            <a:off x="877824" y="5681472"/>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Antibiotic Rx</a:t>
            </a:r>
            <a:endParaRPr lang="en-US" sz="933" dirty="0"/>
          </a:p>
        </p:txBody>
      </p:sp>
      <p:sp>
        <p:nvSpPr>
          <p:cNvPr id="45" name="Text 41"/>
          <p:cNvSpPr/>
          <p:nvPr/>
        </p:nvSpPr>
        <p:spPr>
          <a:xfrm>
            <a:off x="2523744" y="5437632"/>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91.8%</a:t>
            </a:r>
            <a:endParaRPr lang="en-US" sz="1333" dirty="0"/>
          </a:p>
        </p:txBody>
      </p:sp>
      <p:sp>
        <p:nvSpPr>
          <p:cNvPr id="46" name="Text 42"/>
          <p:cNvSpPr/>
          <p:nvPr/>
        </p:nvSpPr>
        <p:spPr>
          <a:xfrm>
            <a:off x="2523744" y="5681472"/>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MPR 2yo coverage</a:t>
            </a:r>
            <a:endParaRPr lang="en-US" sz="933" dirty="0"/>
          </a:p>
        </p:txBody>
      </p:sp>
      <p:sp>
        <p:nvSpPr>
          <p:cNvPr id="47" name="Text 43"/>
          <p:cNvSpPr/>
          <p:nvPr/>
        </p:nvSpPr>
        <p:spPr>
          <a:xfrm>
            <a:off x="4169664" y="5437632"/>
            <a:ext cx="170688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86.1%</a:t>
            </a:r>
            <a:endParaRPr lang="en-US" sz="1333" dirty="0"/>
          </a:p>
        </p:txBody>
      </p:sp>
      <p:sp>
        <p:nvSpPr>
          <p:cNvPr id="48" name="Text 44"/>
          <p:cNvSpPr/>
          <p:nvPr/>
        </p:nvSpPr>
        <p:spPr>
          <a:xfrm>
            <a:off x="4169664" y="5681472"/>
            <a:ext cx="1706880" cy="195072"/>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HPV girls coverage</a:t>
            </a:r>
            <a:endParaRPr lang="en-US" sz="933" dirty="0"/>
          </a:p>
        </p:txBody>
      </p:sp>
      <p:sp>
        <p:nvSpPr>
          <p:cNvPr id="49" name="Shape 45"/>
          <p:cNvSpPr/>
          <p:nvPr/>
        </p:nvSpPr>
        <p:spPr>
          <a:xfrm>
            <a:off x="6217920" y="1341120"/>
            <a:ext cx="5364480" cy="24384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GB" sz="2400"/>
          </a:p>
        </p:txBody>
      </p:sp>
      <p:sp>
        <p:nvSpPr>
          <p:cNvPr id="50" name="Shape 46"/>
          <p:cNvSpPr/>
          <p:nvPr/>
        </p:nvSpPr>
        <p:spPr>
          <a:xfrm>
            <a:off x="6217920" y="1341120"/>
            <a:ext cx="73152" cy="2438400"/>
          </a:xfrm>
          <a:prstGeom prst="rect">
            <a:avLst/>
          </a:prstGeom>
          <a:solidFill>
            <a:srgbClr val="2B9FD4"/>
          </a:solidFill>
          <a:ln/>
        </p:spPr>
        <p:txBody>
          <a:bodyPr/>
          <a:lstStyle/>
          <a:p>
            <a:endParaRPr lang="en-GB" sz="2400"/>
          </a:p>
        </p:txBody>
      </p:sp>
      <p:pic>
        <p:nvPicPr>
          <p:cNvPr id="51" name="Image 2" descr="preencoded.png"/>
          <p:cNvPicPr>
            <a:picLocks noChangeAspect="1"/>
          </p:cNvPicPr>
          <p:nvPr/>
        </p:nvPicPr>
        <p:blipFill>
          <a:blip r:embed="rId5"/>
          <a:stretch>
            <a:fillRect/>
          </a:stretch>
        </p:blipFill>
        <p:spPr>
          <a:xfrm>
            <a:off x="6461760" y="1463040"/>
            <a:ext cx="304800" cy="304800"/>
          </a:xfrm>
          <a:prstGeom prst="rect">
            <a:avLst/>
          </a:prstGeom>
        </p:spPr>
      </p:pic>
      <p:sp>
        <p:nvSpPr>
          <p:cNvPr id="52" name="Text 47"/>
          <p:cNvSpPr/>
          <p:nvPr/>
        </p:nvSpPr>
        <p:spPr>
          <a:xfrm>
            <a:off x="6827520" y="1463040"/>
            <a:ext cx="4267200" cy="304800"/>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Pipeline Therapeutic Areas</a:t>
            </a:r>
            <a:endParaRPr lang="en-US" sz="1600" dirty="0"/>
          </a:p>
        </p:txBody>
      </p:sp>
      <p:sp>
        <p:nvSpPr>
          <p:cNvPr id="53" name="Text 48"/>
          <p:cNvSpPr/>
          <p:nvPr/>
        </p:nvSpPr>
        <p:spPr>
          <a:xfrm>
            <a:off x="6461760" y="2008672"/>
            <a:ext cx="4876800" cy="1463040"/>
          </a:xfrm>
          <a:prstGeom prst="rect">
            <a:avLst/>
          </a:prstGeom>
          <a:noFill/>
          <a:ln/>
        </p:spPr>
        <p:txBody>
          <a:bodyPr wrap="square" lIns="0" tIns="0" rIns="0" bIns="0" rtlCol="0" anchor="ctr"/>
          <a:lstStyle/>
          <a:p>
            <a:pPr>
              <a:lnSpc>
                <a:spcPct val="120000"/>
              </a:lnSpc>
            </a:pPr>
            <a:r>
              <a:rPr lang="en-US" sz="1333" b="1" dirty="0">
                <a:solidFill>
                  <a:srgbClr val="2A3439"/>
                </a:solidFill>
                <a:latin typeface="Inter" pitchFamily="34" charset="0"/>
                <a:ea typeface="Inter" pitchFamily="34" charset="-122"/>
                <a:cs typeface="Inter" pitchFamily="34" charset="-120"/>
              </a:rPr>
              <a:t>Obesity</a:t>
            </a:r>
            <a:endParaRPr lang="en-US" sz="1333" dirty="0"/>
          </a:p>
          <a:p>
            <a:pPr>
              <a:lnSpc>
                <a:spcPct val="120000"/>
              </a:lnSpc>
            </a:pPr>
            <a:r>
              <a:rPr lang="en-US" sz="1067" dirty="0">
                <a:solidFill>
                  <a:srgbClr val="5D6D7E"/>
                </a:solidFill>
                <a:latin typeface="Inter" pitchFamily="34" charset="0"/>
                <a:ea typeface="Inter" pitchFamily="34" charset="-122"/>
                <a:cs typeface="Inter" pitchFamily="34" charset="-120"/>
              </a:rPr>
              <a:t>46.5% overweight/obese prevalence in Stockholm. Among the lowest nationally but still affecting nearly half the adult population.</a:t>
            </a:r>
            <a:endParaRPr lang="en-US" sz="1333" dirty="0"/>
          </a:p>
          <a:p>
            <a:pPr>
              <a:lnSpc>
                <a:spcPct val="120000"/>
              </a:lnSpc>
            </a:pPr>
            <a:r>
              <a:rPr lang="en-US" sz="1333" b="1" dirty="0">
                <a:solidFill>
                  <a:srgbClr val="2A3439"/>
                </a:solidFill>
                <a:latin typeface="Inter" pitchFamily="34" charset="0"/>
                <a:ea typeface="Inter" pitchFamily="34" charset="-122"/>
                <a:cs typeface="Inter" pitchFamily="34" charset="-120"/>
              </a:rPr>
              <a:t>Prostate cancer</a:t>
            </a:r>
            <a:endParaRPr lang="en-US" sz="1333" dirty="0"/>
          </a:p>
          <a:p>
            <a:pPr>
              <a:lnSpc>
                <a:spcPct val="120000"/>
              </a:lnSpc>
            </a:pPr>
            <a:r>
              <a:rPr lang="en-US" sz="1067" dirty="0">
                <a:solidFill>
                  <a:srgbClr val="5D6D7E"/>
                </a:solidFill>
                <a:latin typeface="Inter" pitchFamily="34" charset="0"/>
                <a:ea typeface="Inter" pitchFamily="34" charset="-122"/>
                <a:cs typeface="Inter" pitchFamily="34" charset="-120"/>
              </a:rPr>
              <a:t>185.1/100k incidence (4,578 implied cases). 5th highest nationally. Stockholm is the largest patient pool by volume.</a:t>
            </a:r>
            <a:endParaRPr lang="en-US" sz="1333" dirty="0"/>
          </a:p>
          <a:p>
            <a:pPr>
              <a:lnSpc>
                <a:spcPct val="120000"/>
              </a:lnSpc>
            </a:pPr>
            <a:r>
              <a:rPr lang="en-US" sz="1333" b="1" dirty="0">
                <a:solidFill>
                  <a:srgbClr val="2A3439"/>
                </a:solidFill>
                <a:latin typeface="Inter" pitchFamily="34" charset="0"/>
                <a:ea typeface="Inter" pitchFamily="34" charset="-122"/>
                <a:cs typeface="Inter" pitchFamily="34" charset="-120"/>
              </a:rPr>
              <a:t>Lung cancer</a:t>
            </a:r>
            <a:endParaRPr lang="en-US" sz="1333" dirty="0"/>
          </a:p>
          <a:p>
            <a:pPr>
              <a:lnSpc>
                <a:spcPct val="120000"/>
              </a:lnSpc>
            </a:pPr>
            <a:r>
              <a:rPr lang="en-US" sz="1067" dirty="0">
                <a:solidFill>
                  <a:srgbClr val="5D6D7E"/>
                </a:solidFill>
                <a:latin typeface="Inter" pitchFamily="34" charset="0"/>
                <a:ea typeface="Inter" pitchFamily="34" charset="-122"/>
                <a:cs typeface="Inter" pitchFamily="34" charset="-120"/>
              </a:rPr>
              <a:t>38.1/100k incidence (944 implied cases). Mortality 45.9/100k. 5.5% daily smokers (lowest nationally).</a:t>
            </a:r>
            <a:endParaRPr lang="en-US" sz="1333" dirty="0"/>
          </a:p>
        </p:txBody>
      </p:sp>
      <p:sp>
        <p:nvSpPr>
          <p:cNvPr id="54" name="Shape 49"/>
          <p:cNvSpPr/>
          <p:nvPr/>
        </p:nvSpPr>
        <p:spPr>
          <a:xfrm>
            <a:off x="6217920" y="3962400"/>
            <a:ext cx="5364480" cy="18897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GB" sz="2400"/>
          </a:p>
        </p:txBody>
      </p:sp>
      <p:sp>
        <p:nvSpPr>
          <p:cNvPr id="55" name="Shape 50"/>
          <p:cNvSpPr/>
          <p:nvPr/>
        </p:nvSpPr>
        <p:spPr>
          <a:xfrm>
            <a:off x="6217920" y="3962400"/>
            <a:ext cx="73152" cy="1889760"/>
          </a:xfrm>
          <a:prstGeom prst="rect">
            <a:avLst/>
          </a:prstGeom>
          <a:solidFill>
            <a:srgbClr val="1B7FA3"/>
          </a:solidFill>
          <a:ln/>
        </p:spPr>
        <p:txBody>
          <a:bodyPr/>
          <a:lstStyle/>
          <a:p>
            <a:endParaRPr lang="en-GB" sz="2400"/>
          </a:p>
        </p:txBody>
      </p:sp>
      <p:pic>
        <p:nvPicPr>
          <p:cNvPr id="56" name="Image 3" descr="preencoded.png"/>
          <p:cNvPicPr>
            <a:picLocks noChangeAspect="1"/>
          </p:cNvPicPr>
          <p:nvPr/>
        </p:nvPicPr>
        <p:blipFill>
          <a:blip r:embed="rId6"/>
          <a:stretch>
            <a:fillRect/>
          </a:stretch>
        </p:blipFill>
        <p:spPr>
          <a:xfrm>
            <a:off x="6461760" y="4084320"/>
            <a:ext cx="304800" cy="304800"/>
          </a:xfrm>
          <a:prstGeom prst="rect">
            <a:avLst/>
          </a:prstGeom>
        </p:spPr>
      </p:pic>
      <p:sp>
        <p:nvSpPr>
          <p:cNvPr id="57" name="Text 51"/>
          <p:cNvSpPr/>
          <p:nvPr/>
        </p:nvSpPr>
        <p:spPr>
          <a:xfrm>
            <a:off x="6827520" y="4084320"/>
            <a:ext cx="4267200" cy="304800"/>
          </a:xfrm>
          <a:prstGeom prst="rect">
            <a:avLst/>
          </a:prstGeom>
          <a:noFill/>
          <a:ln/>
        </p:spPr>
        <p:txBody>
          <a:bodyPr wrap="square" lIns="0" tIns="0" rIns="0" bIns="0" rtlCol="0" anchor="ctr"/>
          <a:lstStyle/>
          <a:p>
            <a:r>
              <a:rPr lang="en-US" sz="1467" b="1" dirty="0">
                <a:solidFill>
                  <a:srgbClr val="2A3439"/>
                </a:solidFill>
                <a:latin typeface="Inter" pitchFamily="34" charset="0"/>
                <a:ea typeface="Inter" pitchFamily="34" charset="-122"/>
                <a:cs typeface="Inter" pitchFamily="34" charset="-120"/>
              </a:rPr>
              <a:t>Cardiovascular &amp; Rare Disease</a:t>
            </a:r>
            <a:endParaRPr lang="en-US" sz="1467" dirty="0"/>
          </a:p>
        </p:txBody>
      </p:sp>
      <p:sp>
        <p:nvSpPr>
          <p:cNvPr id="58" name="Text 52"/>
          <p:cNvSpPr/>
          <p:nvPr/>
        </p:nvSpPr>
        <p:spPr>
          <a:xfrm>
            <a:off x="6461760" y="4511040"/>
            <a:ext cx="4876800" cy="1219200"/>
          </a:xfrm>
          <a:prstGeom prst="rect">
            <a:avLst/>
          </a:prstGeom>
          <a:noFill/>
          <a:ln/>
        </p:spPr>
        <p:txBody>
          <a:bodyPr wrap="square" lIns="0" tIns="0" rIns="0" bIns="0" rtlCol="0" anchor="ctr"/>
          <a:lstStyle/>
          <a:p>
            <a:pPr>
              <a:lnSpc>
                <a:spcPct val="130000"/>
              </a:lnSpc>
            </a:pPr>
            <a:r>
              <a:rPr lang="en-US" sz="1200" b="1" dirty="0">
                <a:solidFill>
                  <a:srgbClr val="2A3439"/>
                </a:solidFill>
                <a:latin typeface="Inter" pitchFamily="34" charset="0"/>
                <a:ea typeface="Inter" pitchFamily="34" charset="-122"/>
                <a:cs typeface="Inter" pitchFamily="34" charset="-120"/>
              </a:rPr>
              <a:t>MI incidence: </a:t>
            </a:r>
            <a:r>
              <a:rPr lang="en-US" sz="1200" dirty="0">
                <a:solidFill>
                  <a:srgbClr val="5D6D7E"/>
                </a:solidFill>
                <a:latin typeface="Inter" pitchFamily="34" charset="0"/>
                <a:ea typeface="Inter" pitchFamily="34" charset="-122"/>
                <a:cs typeface="Inter" pitchFamily="34" charset="-120"/>
              </a:rPr>
              <a:t>207.2/100k (prevalence 193/100k)</a:t>
            </a:r>
            <a:endParaRPr lang="en-US" sz="1200" dirty="0"/>
          </a:p>
          <a:p>
            <a:pPr>
              <a:lnSpc>
                <a:spcPct val="130000"/>
              </a:lnSpc>
            </a:pPr>
            <a:r>
              <a:rPr lang="en-US" sz="1200" b="1" dirty="0">
                <a:solidFill>
                  <a:srgbClr val="2A3439"/>
                </a:solidFill>
                <a:latin typeface="Inter" pitchFamily="34" charset="0"/>
                <a:ea typeface="Inter" pitchFamily="34" charset="-122"/>
                <a:cs typeface="Inter" pitchFamily="34" charset="-120"/>
              </a:rPr>
              <a:t>Heart care quality: </a:t>
            </a:r>
            <a:r>
              <a:rPr lang="en-US" sz="1200" dirty="0">
                <a:solidFill>
                  <a:srgbClr val="5D6D7E"/>
                </a:solidFill>
                <a:latin typeface="Inter" pitchFamily="34" charset="0"/>
                <a:ea typeface="Inter" pitchFamily="34" charset="-122"/>
                <a:cs typeface="Inter" pitchFamily="34" charset="-120"/>
              </a:rPr>
              <a:t>92.6/100 (highest nationally)</a:t>
            </a:r>
            <a:endParaRPr lang="en-US" sz="1200" dirty="0"/>
          </a:p>
          <a:p>
            <a:pPr>
              <a:lnSpc>
                <a:spcPct val="130000"/>
              </a:lnSpc>
            </a:pPr>
            <a:r>
              <a:rPr lang="en-US" sz="1200" b="1" dirty="0">
                <a:solidFill>
                  <a:srgbClr val="2A3439"/>
                </a:solidFill>
                <a:latin typeface="Inter" pitchFamily="34" charset="0"/>
                <a:ea typeface="Inter" pitchFamily="34" charset="-122"/>
                <a:cs typeface="Inter" pitchFamily="34" charset="-120"/>
              </a:rPr>
              <a:t>ATTR-CM (Vyndaqel): </a:t>
            </a:r>
            <a:r>
              <a:rPr lang="en-US" sz="1200" dirty="0">
                <a:solidFill>
                  <a:srgbClr val="5D6D7E"/>
                </a:solidFill>
                <a:latin typeface="Inter" pitchFamily="34" charset="0"/>
                <a:ea typeface="Inter" pitchFamily="34" charset="-122"/>
                <a:cs typeface="Inter" pitchFamily="34" charset="-120"/>
              </a:rPr>
              <a:t>82 patients (3.32/100k). 93.7% market share.</a:t>
            </a:r>
            <a:endParaRPr lang="en-US" sz="1200" dirty="0"/>
          </a:p>
          <a:p>
            <a:pPr>
              <a:lnSpc>
                <a:spcPct val="130000"/>
              </a:lnSpc>
            </a:pPr>
            <a:r>
              <a:rPr lang="en-US" sz="1200" b="1" dirty="0">
                <a:solidFill>
                  <a:srgbClr val="2A3439"/>
                </a:solidFill>
                <a:latin typeface="Inter" pitchFamily="34" charset="0"/>
                <a:ea typeface="Inter" pitchFamily="34" charset="-122"/>
                <a:cs typeface="Inter" pitchFamily="34" charset="-120"/>
              </a:rPr>
              <a:t>Haemophilia (Hympavzi): </a:t>
            </a:r>
            <a:r>
              <a:rPr lang="en-US" sz="1200" dirty="0">
                <a:solidFill>
                  <a:srgbClr val="5D6D7E"/>
                </a:solidFill>
                <a:latin typeface="Inter" pitchFamily="34" charset="0"/>
                <a:ea typeface="Inter" pitchFamily="34" charset="-122"/>
                <a:cs typeface="Inter" pitchFamily="34" charset="-120"/>
              </a:rPr>
              <a:t>BeneFIX 40.6M SEK + Refacto AF 382k SEK (3yr). Largest haemophilia market nationally.</a:t>
            </a:r>
            <a:endParaRPr lang="en-US" sz="1200" dirty="0"/>
          </a:p>
        </p:txBody>
      </p:sp>
      <p:sp>
        <p:nvSpPr>
          <p:cNvPr id="59" name="Text 53"/>
          <p:cNvSpPr/>
          <p:nvPr/>
        </p:nvSpPr>
        <p:spPr>
          <a:xfrm>
            <a:off x="609600" y="6400800"/>
            <a:ext cx="9144000" cy="304800"/>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Source: Socialstyrelsen, RCC, Folkhälsomyndigheten, IQVIA (2024-2025)</a:t>
            </a:r>
            <a:endParaRPr lang="en-US" sz="933" dirty="0"/>
          </a:p>
        </p:txBody>
      </p:sp>
      <p:pic>
        <p:nvPicPr>
          <p:cNvPr id="60" name="Image 4" descr="/home/claude/logo-light.jpg"/>
          <p:cNvPicPr>
            <a:picLocks noChangeAspect="1"/>
          </p:cNvPicPr>
          <p:nvPr/>
        </p:nvPicPr>
        <p:blipFill>
          <a:blip r:embed="rId7"/>
          <a:stretch>
            <a:fillRect/>
          </a:stretch>
        </p:blipFill>
        <p:spPr>
          <a:xfrm>
            <a:off x="9753600" y="6278880"/>
            <a:ext cx="1950720"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48768"/>
          </a:xfrm>
          <a:prstGeom prst="rect">
            <a:avLst/>
          </a:prstGeom>
          <a:solidFill>
            <a:srgbClr val="2B9FD4"/>
          </a:solidFill>
          <a:ln/>
        </p:spPr>
        <p:txBody>
          <a:bodyPr/>
          <a:lstStyle/>
          <a:p>
            <a:endParaRPr lang="en-GB" sz="2400"/>
          </a:p>
        </p:txBody>
      </p:sp>
      <p:sp>
        <p:nvSpPr>
          <p:cNvPr id="3" name="Text 1"/>
          <p:cNvSpPr/>
          <p:nvPr/>
        </p:nvSpPr>
        <p:spPr>
          <a:xfrm>
            <a:off x="731520" y="243840"/>
            <a:ext cx="8534400" cy="390144"/>
          </a:xfrm>
          <a:prstGeom prst="rect">
            <a:avLst/>
          </a:prstGeom>
          <a:noFill/>
          <a:ln/>
        </p:spPr>
        <p:txBody>
          <a:bodyPr wrap="square" lIns="0" tIns="0" rIns="0" bIns="0" rtlCol="0" anchor="ctr"/>
          <a:lstStyle/>
          <a:p>
            <a:r>
              <a:rPr lang="en-US" sz="1333" kern="0" spc="400" dirty="0">
                <a:solidFill>
                  <a:srgbClr val="5D6D7E"/>
                </a:solidFill>
                <a:latin typeface="Inter" pitchFamily="34" charset="0"/>
                <a:ea typeface="Inter" pitchFamily="34" charset="-122"/>
                <a:cs typeface="Inter" pitchFamily="34" charset="-120"/>
              </a:rPr>
              <a:t>PART B: REGION STOCKHOLM</a:t>
            </a:r>
            <a:endParaRPr lang="en-US" sz="1333" dirty="0"/>
          </a:p>
        </p:txBody>
      </p:sp>
      <p:sp>
        <p:nvSpPr>
          <p:cNvPr id="4" name="Text 2"/>
          <p:cNvSpPr/>
          <p:nvPr/>
        </p:nvSpPr>
        <p:spPr>
          <a:xfrm>
            <a:off x="731520" y="585216"/>
            <a:ext cx="10363200" cy="609600"/>
          </a:xfrm>
          <a:prstGeom prst="rect">
            <a:avLst/>
          </a:prstGeom>
          <a:noFill/>
          <a:ln/>
        </p:spPr>
        <p:txBody>
          <a:bodyPr wrap="square" lIns="0" tIns="0" rIns="0" bIns="0" rtlCol="0" anchor="ctr"/>
          <a:lstStyle/>
          <a:p>
            <a:r>
              <a:rPr lang="en-US" sz="2933" b="1" dirty="0">
                <a:solidFill>
                  <a:srgbClr val="2A3439"/>
                </a:solidFill>
                <a:latin typeface="Inter" pitchFamily="34" charset="0"/>
                <a:ea typeface="Inter" pitchFamily="34" charset="-122"/>
                <a:cs typeface="Inter" pitchFamily="34" charset="-120"/>
              </a:rPr>
              <a:t>Pfizer Product Portfolio</a:t>
            </a:r>
            <a:endParaRPr lang="en-US" sz="2933" dirty="0"/>
          </a:p>
        </p:txBody>
      </p:sp>
      <p:graphicFrame>
        <p:nvGraphicFramePr>
          <p:cNvPr id="10" name="Table 0"/>
          <p:cNvGraphicFramePr>
            <a:graphicFrameLocks noGrp="1"/>
          </p:cNvGraphicFramePr>
          <p:nvPr/>
        </p:nvGraphicFramePr>
        <p:xfrm>
          <a:off x="487680" y="1280160"/>
          <a:ext cx="9875520" cy="2692400"/>
        </p:xfrm>
        <a:graphic>
          <a:graphicData uri="http://schemas.openxmlformats.org/drawingml/2006/table">
            <a:tbl>
              <a:tblPr/>
              <a:tblGrid>
                <a:gridCol w="14630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853440">
                  <a:extLst>
                    <a:ext uri="{9D8B030D-6E8A-4147-A177-3AD203B41FA5}">
                      <a16:colId xmlns:a16="http://schemas.microsoft.com/office/drawing/2014/main" val="20003"/>
                    </a:ext>
                  </a:extLst>
                </a:gridCol>
                <a:gridCol w="134112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gridCol w="1219200">
                  <a:extLst>
                    <a:ext uri="{9D8B030D-6E8A-4147-A177-3AD203B41FA5}">
                      <a16:colId xmlns:a16="http://schemas.microsoft.com/office/drawing/2014/main" val="20006"/>
                    </a:ext>
                  </a:extLst>
                </a:gridCol>
              </a:tblGrid>
              <a:tr h="264160">
                <a:tc>
                  <a:txBody>
                    <a:bodyPr/>
                    <a:lstStyle/>
                    <a:p>
                      <a:pPr marL="0" indent="0" algn="l">
                        <a:buNone/>
                      </a:pPr>
                      <a:r>
                        <a:rPr lang="en-US" sz="1100" b="1" dirty="0">
                          <a:solidFill>
                            <a:srgbClr val="FFFFFF"/>
                          </a:solidFill>
                          <a:latin typeface="Inter" pitchFamily="34" charset="0"/>
                          <a:ea typeface="Inter" pitchFamily="34" charset="-122"/>
                          <a:cs typeface="Inter" pitchFamily="34" charset="-120"/>
                        </a:rPr>
                        <a:t>Product</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2B9FD4"/>
                    </a:solidFill>
                  </a:tcPr>
                </a:tc>
                <a:tc>
                  <a:txBody>
                    <a:bodyPr/>
                    <a:lstStyle/>
                    <a:p>
                      <a:pPr marL="0" indent="0" algn="l">
                        <a:buNone/>
                      </a:pPr>
                      <a:r>
                        <a:rPr lang="en-US" sz="1100" b="1" dirty="0">
                          <a:solidFill>
                            <a:srgbClr val="FFFFFF"/>
                          </a:solidFill>
                          <a:latin typeface="Inter" pitchFamily="34" charset="0"/>
                          <a:ea typeface="Inter" pitchFamily="34" charset="-122"/>
                          <a:cs typeface="Inter" pitchFamily="34" charset="-120"/>
                        </a:rPr>
                        <a:t>Indication</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2B9FD4"/>
                    </a:solidFill>
                  </a:tcPr>
                </a:tc>
                <a:tc>
                  <a:txBody>
                    <a:bodyPr/>
                    <a:lstStyle/>
                    <a:p>
                      <a:pPr marL="0" indent="0" algn="ctr">
                        <a:buNone/>
                      </a:pPr>
                      <a:r>
                        <a:rPr lang="en-US" sz="1100" b="1" dirty="0">
                          <a:solidFill>
                            <a:srgbClr val="FFFFFF"/>
                          </a:solidFill>
                          <a:latin typeface="Inter" pitchFamily="34" charset="0"/>
                          <a:ea typeface="Inter" pitchFamily="34" charset="-122"/>
                          <a:cs typeface="Inter" pitchFamily="34" charset="-120"/>
                        </a:rPr>
                        <a:t>Pts 2024</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2B9FD4"/>
                    </a:solidFill>
                  </a:tcPr>
                </a:tc>
                <a:tc>
                  <a:txBody>
                    <a:bodyPr/>
                    <a:lstStyle/>
                    <a:p>
                      <a:pPr marL="0" indent="0" algn="ctr">
                        <a:buNone/>
                      </a:pPr>
                      <a:r>
                        <a:rPr lang="en-US" sz="1100" b="1" dirty="0">
                          <a:solidFill>
                            <a:srgbClr val="FFFFFF"/>
                          </a:solidFill>
                          <a:latin typeface="Inter" pitchFamily="34" charset="0"/>
                          <a:ea typeface="Inter" pitchFamily="34" charset="-122"/>
                          <a:cs typeface="Inter" pitchFamily="34" charset="-120"/>
                        </a:rPr>
                        <a:t>/100k</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2B9FD4"/>
                    </a:solidFill>
                  </a:tcPr>
                </a:tc>
                <a:tc>
                  <a:txBody>
                    <a:bodyPr/>
                    <a:lstStyle/>
                    <a:p>
                      <a:pPr marL="0" indent="0" algn="ctr">
                        <a:buNone/>
                      </a:pPr>
                      <a:r>
                        <a:rPr lang="en-US" sz="1100" b="1" dirty="0">
                          <a:solidFill>
                            <a:srgbClr val="FFFFFF"/>
                          </a:solidFill>
                          <a:latin typeface="Inter" pitchFamily="34" charset="0"/>
                          <a:ea typeface="Inter" pitchFamily="34" charset="-122"/>
                          <a:cs typeface="Inter" pitchFamily="34" charset="-120"/>
                        </a:rPr>
                        <a:t>3yr SEK (M)</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2B9FD4"/>
                    </a:solidFill>
                  </a:tcPr>
                </a:tc>
                <a:tc>
                  <a:txBody>
                    <a:bodyPr/>
                    <a:lstStyle/>
                    <a:p>
                      <a:pPr marL="0" indent="0" algn="ctr">
                        <a:buNone/>
                      </a:pPr>
                      <a:r>
                        <a:rPr lang="en-US" sz="1100" b="1" dirty="0">
                          <a:solidFill>
                            <a:srgbClr val="FFFFFF"/>
                          </a:solidFill>
                          <a:latin typeface="Inter" pitchFamily="34" charset="0"/>
                          <a:ea typeface="Inter" pitchFamily="34" charset="-122"/>
                          <a:cs typeface="Inter" pitchFamily="34" charset="-120"/>
                        </a:rPr>
                        <a:t>NT-rådet</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2B9FD4"/>
                    </a:solidFill>
                  </a:tcPr>
                </a:tc>
                <a:tc>
                  <a:txBody>
                    <a:bodyPr/>
                    <a:lstStyle/>
                    <a:p>
                      <a:pPr marL="0" indent="0" algn="ctr">
                        <a:buNone/>
                      </a:pPr>
                      <a:r>
                        <a:rPr lang="en-US" sz="1100" b="1" dirty="0">
                          <a:solidFill>
                            <a:srgbClr val="FFFFFF"/>
                          </a:solidFill>
                          <a:latin typeface="Inter" pitchFamily="34" charset="0"/>
                          <a:ea typeface="Inter" pitchFamily="34" charset="-122"/>
                          <a:cs typeface="Inter" pitchFamily="34" charset="-120"/>
                        </a:rPr>
                        <a:t>Trend</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2B9FD4"/>
                    </a:solidFill>
                  </a:tcPr>
                </a:tc>
                <a:extLst>
                  <a:ext uri="{0D108BD9-81ED-4DB2-BD59-A6C34878D82A}">
                    <a16:rowId xmlns:a16="http://schemas.microsoft.com/office/drawing/2014/main" val="10000"/>
                  </a:ext>
                </a:extLst>
              </a:tr>
              <a:tr h="264160">
                <a:tc>
                  <a:txBody>
                    <a:bodyPr/>
                    <a:lstStyle/>
                    <a:p>
                      <a:pPr marL="0" indent="0" algn="l">
                        <a:buNone/>
                      </a:pPr>
                      <a:r>
                        <a:rPr lang="en-US" sz="1100" b="1" dirty="0">
                          <a:solidFill>
                            <a:srgbClr val="2A3439"/>
                          </a:solidFill>
                          <a:latin typeface="Inter" pitchFamily="34" charset="0"/>
                          <a:ea typeface="Inter" pitchFamily="34" charset="-122"/>
                          <a:cs typeface="Inter" pitchFamily="34" charset="-120"/>
                        </a:rPr>
                        <a:t>Vyndaqel</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A3439"/>
                          </a:solidFill>
                          <a:latin typeface="Inter" pitchFamily="34" charset="0"/>
                          <a:ea typeface="Inter" pitchFamily="34" charset="-122"/>
                          <a:cs typeface="Inter" pitchFamily="34" charset="-120"/>
                        </a:rPr>
                        <a:t>ATTR Cardiomyopathy</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82</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3.32</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283.5</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A3439"/>
                          </a:solidFill>
                          <a:latin typeface="Inter" pitchFamily="34" charset="0"/>
                          <a:ea typeface="Inter" pitchFamily="34" charset="-122"/>
                          <a:cs typeface="Inter" pitchFamily="34" charset="-120"/>
                        </a:rPr>
                        <a:t>Nat'l agreement</a:t>
                      </a:r>
                      <a:endParaRPr lang="en-US" sz="9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B8A5A"/>
                          </a:solidFill>
                          <a:latin typeface="Inter" pitchFamily="34" charset="0"/>
                          <a:ea typeface="Inter" pitchFamily="34" charset="-122"/>
                          <a:cs typeface="Inter" pitchFamily="34" charset="-120"/>
                        </a:rPr>
                        <a:t>Growing</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4160">
                <a:tc>
                  <a:txBody>
                    <a:bodyPr/>
                    <a:lstStyle/>
                    <a:p>
                      <a:pPr marL="0" indent="0" algn="l">
                        <a:buNone/>
                      </a:pPr>
                      <a:r>
                        <a:rPr lang="en-US" sz="1100" b="1" dirty="0">
                          <a:solidFill>
                            <a:srgbClr val="2A3439"/>
                          </a:solidFill>
                          <a:latin typeface="Inter" pitchFamily="34" charset="0"/>
                          <a:ea typeface="Inter" pitchFamily="34" charset="-122"/>
                          <a:cs typeface="Inter" pitchFamily="34" charset="-120"/>
                        </a:rPr>
                        <a:t>Ibrance</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l">
                        <a:buNone/>
                      </a:pPr>
                      <a:r>
                        <a:rPr lang="en-US" sz="1100" dirty="0">
                          <a:solidFill>
                            <a:srgbClr val="2A3439"/>
                          </a:solidFill>
                          <a:latin typeface="Inter" pitchFamily="34" charset="0"/>
                          <a:ea typeface="Inter" pitchFamily="34" charset="-122"/>
                          <a:cs typeface="Inter" pitchFamily="34" charset="-120"/>
                        </a:rPr>
                        <a:t>HR+/HER2- Breast Ca</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155</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6.27</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73.7</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900" dirty="0">
                          <a:solidFill>
                            <a:srgbClr val="2A3439"/>
                          </a:solidFill>
                          <a:latin typeface="Inter" pitchFamily="34" charset="0"/>
                          <a:ea typeface="Inter" pitchFamily="34" charset="-122"/>
                          <a:cs typeface="Inter" pitchFamily="34" charset="-120"/>
                        </a:rPr>
                        <a:t>Regional disadv.</a:t>
                      </a:r>
                      <a:endParaRPr lang="en-US" sz="9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b="1" dirty="0">
                          <a:solidFill>
                            <a:srgbClr val="C0392B"/>
                          </a:solidFill>
                          <a:latin typeface="Inter" pitchFamily="34" charset="0"/>
                          <a:ea typeface="Inter" pitchFamily="34" charset="-122"/>
                          <a:cs typeface="Inter" pitchFamily="34" charset="-120"/>
                        </a:rPr>
                        <a:t>Declining</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extLst>
                  <a:ext uri="{0D108BD9-81ED-4DB2-BD59-A6C34878D82A}">
                    <a16:rowId xmlns:a16="http://schemas.microsoft.com/office/drawing/2014/main" val="10002"/>
                  </a:ext>
                </a:extLst>
              </a:tr>
              <a:tr h="264160">
                <a:tc>
                  <a:txBody>
                    <a:bodyPr/>
                    <a:lstStyle/>
                    <a:p>
                      <a:pPr marL="0" indent="0" algn="l">
                        <a:buNone/>
                      </a:pPr>
                      <a:r>
                        <a:rPr lang="en-US" sz="1100" b="1" dirty="0">
                          <a:solidFill>
                            <a:srgbClr val="2A3439"/>
                          </a:solidFill>
                          <a:latin typeface="Inter" pitchFamily="34" charset="0"/>
                          <a:ea typeface="Inter" pitchFamily="34" charset="-122"/>
                          <a:cs typeface="Inter" pitchFamily="34" charset="-120"/>
                        </a:rPr>
                        <a:t>Lorviqua</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A3439"/>
                          </a:solidFill>
                          <a:latin typeface="Inter" pitchFamily="34" charset="0"/>
                          <a:ea typeface="Inter" pitchFamily="34" charset="-122"/>
                          <a:cs typeface="Inter" pitchFamily="34" charset="-120"/>
                        </a:rPr>
                        <a:t>ALK+ NSCLC</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9</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0.36</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37.8</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A3439"/>
                          </a:solidFill>
                          <a:latin typeface="Inter" pitchFamily="34" charset="0"/>
                          <a:ea typeface="Inter" pitchFamily="34" charset="-122"/>
                          <a:cs typeface="Inter" pitchFamily="34" charset="-120"/>
                        </a:rPr>
                        <a:t>RCC decision</a:t>
                      </a:r>
                      <a:endParaRPr lang="en-US" sz="9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A3439"/>
                          </a:solidFill>
                          <a:latin typeface="Inter" pitchFamily="34" charset="0"/>
                          <a:ea typeface="Inter" pitchFamily="34" charset="-122"/>
                          <a:cs typeface="Inter" pitchFamily="34" charset="-120"/>
                        </a:rPr>
                        <a:t>Stable</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4160">
                <a:tc>
                  <a:txBody>
                    <a:bodyPr/>
                    <a:lstStyle/>
                    <a:p>
                      <a:pPr marL="0" indent="0" algn="l">
                        <a:buNone/>
                      </a:pPr>
                      <a:r>
                        <a:rPr lang="en-US" sz="1100" b="1" dirty="0">
                          <a:solidFill>
                            <a:srgbClr val="2A3439"/>
                          </a:solidFill>
                          <a:latin typeface="Inter" pitchFamily="34" charset="0"/>
                          <a:ea typeface="Inter" pitchFamily="34" charset="-122"/>
                          <a:cs typeface="Inter" pitchFamily="34" charset="-120"/>
                        </a:rPr>
                        <a:t>Tukysa</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l">
                        <a:buNone/>
                      </a:pPr>
                      <a:r>
                        <a:rPr lang="en-US" sz="1100" dirty="0">
                          <a:solidFill>
                            <a:srgbClr val="2A3439"/>
                          </a:solidFill>
                          <a:latin typeface="Inter" pitchFamily="34" charset="0"/>
                          <a:ea typeface="Inter" pitchFamily="34" charset="-122"/>
                          <a:cs typeface="Inter" pitchFamily="34" charset="-120"/>
                        </a:rPr>
                        <a:t>HER2+ Breast Ca</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15</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0.61</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13.2</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900" dirty="0">
                          <a:solidFill>
                            <a:srgbClr val="2A3439"/>
                          </a:solidFill>
                          <a:latin typeface="Inter" pitchFamily="34" charset="0"/>
                          <a:ea typeface="Inter" pitchFamily="34" charset="-122"/>
                          <a:cs typeface="Inter" pitchFamily="34" charset="-120"/>
                        </a:rPr>
                        <a:t>NT recommend.</a:t>
                      </a:r>
                      <a:endParaRPr lang="en-US" sz="9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b="1" dirty="0">
                          <a:solidFill>
                            <a:srgbClr val="1B8A5A"/>
                          </a:solidFill>
                          <a:latin typeface="Inter" pitchFamily="34" charset="0"/>
                          <a:ea typeface="Inter" pitchFamily="34" charset="-122"/>
                          <a:cs typeface="Inter" pitchFamily="34" charset="-120"/>
                        </a:rPr>
                        <a:t>Growing</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extLst>
                  <a:ext uri="{0D108BD9-81ED-4DB2-BD59-A6C34878D82A}">
                    <a16:rowId xmlns:a16="http://schemas.microsoft.com/office/drawing/2014/main" val="10004"/>
                  </a:ext>
                </a:extLst>
              </a:tr>
              <a:tr h="264160">
                <a:tc>
                  <a:txBody>
                    <a:bodyPr/>
                    <a:lstStyle/>
                    <a:p>
                      <a:pPr marL="0" indent="0" algn="l">
                        <a:buNone/>
                      </a:pPr>
                      <a:r>
                        <a:rPr lang="en-US" sz="1100" b="1" dirty="0">
                          <a:solidFill>
                            <a:srgbClr val="2A3439"/>
                          </a:solidFill>
                          <a:latin typeface="Inter" pitchFamily="34" charset="0"/>
                          <a:ea typeface="Inter" pitchFamily="34" charset="-122"/>
                          <a:cs typeface="Inter" pitchFamily="34" charset="-120"/>
                        </a:rPr>
                        <a:t>Elrexfio</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A3439"/>
                          </a:solidFill>
                          <a:latin typeface="Inter" pitchFamily="34" charset="0"/>
                          <a:ea typeface="Inter" pitchFamily="34" charset="-122"/>
                          <a:cs typeface="Inter" pitchFamily="34" charset="-120"/>
                        </a:rPr>
                        <a:t>Multiple Myeloma</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80.8</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A3439"/>
                          </a:solidFill>
                          <a:latin typeface="Inter" pitchFamily="34" charset="0"/>
                          <a:ea typeface="Inter" pitchFamily="34" charset="-122"/>
                          <a:cs typeface="Inter" pitchFamily="34" charset="-120"/>
                        </a:rPr>
                        <a:t>NT recommend.</a:t>
                      </a:r>
                      <a:endParaRPr lang="en-US" sz="9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B9FD4"/>
                          </a:solidFill>
                          <a:latin typeface="Inter" pitchFamily="34" charset="0"/>
                          <a:ea typeface="Inter" pitchFamily="34" charset="-122"/>
                          <a:cs typeface="Inter" pitchFamily="34" charset="-120"/>
                        </a:rPr>
                        <a:t>Launch</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4160">
                <a:tc>
                  <a:txBody>
                    <a:bodyPr/>
                    <a:lstStyle/>
                    <a:p>
                      <a:pPr marL="0" indent="0" algn="l">
                        <a:buNone/>
                      </a:pPr>
                      <a:r>
                        <a:rPr lang="en-US" sz="1100" b="1" dirty="0">
                          <a:solidFill>
                            <a:srgbClr val="2A3439"/>
                          </a:solidFill>
                          <a:latin typeface="Inter" pitchFamily="34" charset="0"/>
                          <a:ea typeface="Inter" pitchFamily="34" charset="-122"/>
                          <a:cs typeface="Inter" pitchFamily="34" charset="-120"/>
                        </a:rPr>
                        <a:t>Talzenna</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l">
                        <a:buNone/>
                      </a:pPr>
                      <a:r>
                        <a:rPr lang="en-US" sz="1100" dirty="0">
                          <a:solidFill>
                            <a:srgbClr val="2A3439"/>
                          </a:solidFill>
                          <a:latin typeface="Inter" pitchFamily="34" charset="0"/>
                          <a:ea typeface="Inter" pitchFamily="34" charset="-122"/>
                          <a:cs typeface="Inter" pitchFamily="34" charset="-120"/>
                        </a:rPr>
                        <a:t>BRCA Breast Ca</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6</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0.24</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5.1</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900" dirty="0">
                          <a:solidFill>
                            <a:srgbClr val="2A3439"/>
                          </a:solidFill>
                          <a:latin typeface="Inter" pitchFamily="34" charset="0"/>
                          <a:ea typeface="Inter" pitchFamily="34" charset="-122"/>
                          <a:cs typeface="Inter" pitchFamily="34" charset="-120"/>
                        </a:rPr>
                        <a:t>Nat'l agreement</a:t>
                      </a:r>
                      <a:endParaRPr lang="en-US" sz="9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b="1" dirty="0">
                          <a:solidFill>
                            <a:srgbClr val="2A3439"/>
                          </a:solidFill>
                          <a:latin typeface="Inter" pitchFamily="34" charset="0"/>
                          <a:ea typeface="Inter" pitchFamily="34" charset="-122"/>
                          <a:cs typeface="Inter" pitchFamily="34" charset="-120"/>
                        </a:rPr>
                        <a:t>Stable</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extLst>
                  <a:ext uri="{0D108BD9-81ED-4DB2-BD59-A6C34878D82A}">
                    <a16:rowId xmlns:a16="http://schemas.microsoft.com/office/drawing/2014/main" val="10006"/>
                  </a:ext>
                </a:extLst>
              </a:tr>
              <a:tr h="264160">
                <a:tc>
                  <a:txBody>
                    <a:bodyPr/>
                    <a:lstStyle/>
                    <a:p>
                      <a:pPr marL="0" indent="0" algn="l">
                        <a:buNone/>
                      </a:pPr>
                      <a:r>
                        <a:rPr lang="en-US" sz="1100" b="1" dirty="0">
                          <a:solidFill>
                            <a:srgbClr val="2A3439"/>
                          </a:solidFill>
                          <a:latin typeface="Inter" pitchFamily="34" charset="0"/>
                          <a:ea typeface="Inter" pitchFamily="34" charset="-122"/>
                          <a:cs typeface="Inter" pitchFamily="34" charset="-120"/>
                        </a:rPr>
                        <a:t>Vydura</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A3439"/>
                          </a:solidFill>
                          <a:latin typeface="Inter" pitchFamily="34" charset="0"/>
                          <a:ea typeface="Inter" pitchFamily="34" charset="-122"/>
                          <a:cs typeface="Inter" pitchFamily="34" charset="-120"/>
                        </a:rPr>
                        <a:t>Migraine</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974</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39.38</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18.9</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A3439"/>
                          </a:solidFill>
                          <a:latin typeface="Inter" pitchFamily="34" charset="0"/>
                          <a:ea typeface="Inter" pitchFamily="34" charset="-122"/>
                          <a:cs typeface="Inter" pitchFamily="34" charset="-120"/>
                        </a:rPr>
                        <a:t>—</a:t>
                      </a:r>
                      <a:endParaRPr lang="en-US" sz="9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B8A5A"/>
                          </a:solidFill>
                          <a:latin typeface="Inter" pitchFamily="34" charset="0"/>
                          <a:ea typeface="Inter" pitchFamily="34" charset="-122"/>
                          <a:cs typeface="Inter" pitchFamily="34" charset="-120"/>
                        </a:rPr>
                        <a:t>Growing</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64160">
                <a:tc>
                  <a:txBody>
                    <a:bodyPr/>
                    <a:lstStyle/>
                    <a:p>
                      <a:pPr marL="0" indent="0" algn="l">
                        <a:buNone/>
                      </a:pPr>
                      <a:r>
                        <a:rPr lang="en-US" sz="1100" b="1" dirty="0">
                          <a:solidFill>
                            <a:srgbClr val="2A3439"/>
                          </a:solidFill>
                          <a:latin typeface="Inter" pitchFamily="34" charset="0"/>
                          <a:ea typeface="Inter" pitchFamily="34" charset="-122"/>
                          <a:cs typeface="Inter" pitchFamily="34" charset="-120"/>
                        </a:rPr>
                        <a:t>Paxlovid</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l">
                        <a:buNone/>
                      </a:pPr>
                      <a:r>
                        <a:rPr lang="en-US" sz="1100" dirty="0">
                          <a:solidFill>
                            <a:srgbClr val="2A3439"/>
                          </a:solidFill>
                          <a:latin typeface="Inter" pitchFamily="34" charset="0"/>
                          <a:ea typeface="Inter" pitchFamily="34" charset="-122"/>
                          <a:cs typeface="Inter" pitchFamily="34" charset="-120"/>
                        </a:rPr>
                        <a:t>COVID-19</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267</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10.80</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21.2</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900" dirty="0">
                          <a:solidFill>
                            <a:srgbClr val="2A3439"/>
                          </a:solidFill>
                          <a:latin typeface="Inter" pitchFamily="34" charset="0"/>
                          <a:ea typeface="Inter" pitchFamily="34" charset="-122"/>
                          <a:cs typeface="Inter" pitchFamily="34" charset="-120"/>
                        </a:rPr>
                        <a:t>—</a:t>
                      </a:r>
                      <a:endParaRPr lang="en-US" sz="9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tc>
                  <a:txBody>
                    <a:bodyPr/>
                    <a:lstStyle/>
                    <a:p>
                      <a:pPr marL="0" indent="0" algn="ctr">
                        <a:buNone/>
                      </a:pPr>
                      <a:r>
                        <a:rPr lang="en-US" sz="1100" b="1" dirty="0">
                          <a:solidFill>
                            <a:srgbClr val="2A3439"/>
                          </a:solidFill>
                          <a:latin typeface="Inter" pitchFamily="34" charset="0"/>
                          <a:ea typeface="Inter" pitchFamily="34" charset="-122"/>
                          <a:cs typeface="Inter" pitchFamily="34" charset="-120"/>
                        </a:rPr>
                        <a:t>Variable</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F6FC"/>
                    </a:solidFill>
                  </a:tcPr>
                </a:tc>
                <a:extLst>
                  <a:ext uri="{0D108BD9-81ED-4DB2-BD59-A6C34878D82A}">
                    <a16:rowId xmlns:a16="http://schemas.microsoft.com/office/drawing/2014/main" val="10008"/>
                  </a:ext>
                </a:extLst>
              </a:tr>
              <a:tr h="264160">
                <a:tc>
                  <a:txBody>
                    <a:bodyPr/>
                    <a:lstStyle/>
                    <a:p>
                      <a:pPr marL="0" indent="0" algn="l">
                        <a:buNone/>
                      </a:pPr>
                      <a:r>
                        <a:rPr lang="en-US" sz="1100" b="1" dirty="0">
                          <a:solidFill>
                            <a:srgbClr val="2A3439"/>
                          </a:solidFill>
                          <a:latin typeface="Inter" pitchFamily="34" charset="0"/>
                          <a:ea typeface="Inter" pitchFamily="34" charset="-122"/>
                          <a:cs typeface="Inter" pitchFamily="34" charset="-120"/>
                        </a:rPr>
                        <a:t>Hympavzi</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A3439"/>
                          </a:solidFill>
                          <a:latin typeface="Inter" pitchFamily="34" charset="0"/>
                          <a:ea typeface="Inter" pitchFamily="34" charset="-122"/>
                          <a:cs typeface="Inter" pitchFamily="34" charset="-120"/>
                        </a:rPr>
                        <a:t>Haemophilia</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3439"/>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A3439"/>
                          </a:solidFill>
                          <a:latin typeface="Inter" pitchFamily="34" charset="0"/>
                          <a:ea typeface="Inter" pitchFamily="34" charset="-122"/>
                          <a:cs typeface="Inter" pitchFamily="34" charset="-120"/>
                        </a:rPr>
                        <a:t>Pipeline</a:t>
                      </a:r>
                      <a:endParaRPr lang="en-US" sz="9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B9FD4"/>
                          </a:solidFill>
                          <a:latin typeface="Inter" pitchFamily="34" charset="0"/>
                          <a:ea typeface="Inter" pitchFamily="34" charset="-122"/>
                          <a:cs typeface="Inter" pitchFamily="34" charset="-120"/>
                        </a:rPr>
                        <a:t>Pre-launch</a:t>
                      </a:r>
                      <a:endParaRPr lang="en-US" sz="1100" dirty="0">
                        <a:latin typeface="Inter" charset="0"/>
                        <a:ea typeface="Inter" charset="0"/>
                        <a:cs typeface="Inter" charset="0"/>
                      </a:endParaRPr>
                    </a:p>
                  </a:txBody>
                  <a:tcPr marL="50800" marR="50800" marT="50800" marB="5080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hape 3"/>
          <p:cNvSpPr/>
          <p:nvPr/>
        </p:nvSpPr>
        <p:spPr>
          <a:xfrm>
            <a:off x="487680" y="4389120"/>
            <a:ext cx="11216640" cy="609600"/>
          </a:xfrm>
          <a:prstGeom prst="rect">
            <a:avLst/>
          </a:prstGeom>
          <a:solidFill>
            <a:srgbClr val="E8F6FC"/>
          </a:solidFill>
          <a:ln/>
        </p:spPr>
        <p:txBody>
          <a:bodyPr/>
          <a:lstStyle/>
          <a:p>
            <a:endParaRPr lang="en-GB" sz="2400"/>
          </a:p>
        </p:txBody>
      </p:sp>
      <p:sp>
        <p:nvSpPr>
          <p:cNvPr id="7" name="Text 4"/>
          <p:cNvSpPr/>
          <p:nvPr/>
        </p:nvSpPr>
        <p:spPr>
          <a:xfrm>
            <a:off x="731520" y="4413504"/>
            <a:ext cx="10972800" cy="548640"/>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Total Pfizer Footprint: </a:t>
            </a:r>
            <a:r>
              <a:rPr lang="en-US" sz="1333" dirty="0">
                <a:solidFill>
                  <a:srgbClr val="2A3439"/>
                </a:solidFill>
                <a:latin typeface="Inter" pitchFamily="34" charset="0"/>
                <a:ea typeface="Inter" pitchFamily="34" charset="-122"/>
                <a:cs typeface="Inter" pitchFamily="34" charset="-120"/>
              </a:rPr>
              <a:t>1232M SEK (3yr)  |  </a:t>
            </a:r>
            <a:r>
              <a:rPr lang="en-US" sz="1333" b="1" dirty="0">
                <a:solidFill>
                  <a:srgbClr val="2A3439"/>
                </a:solidFill>
                <a:latin typeface="Inter" pitchFamily="34" charset="0"/>
                <a:ea typeface="Inter" pitchFamily="34" charset="-122"/>
                <a:cs typeface="Inter" pitchFamily="34" charset="-120"/>
              </a:rPr>
              <a:t>Vaccines: </a:t>
            </a:r>
            <a:r>
              <a:rPr lang="en-US" sz="1333" dirty="0">
                <a:solidFill>
                  <a:srgbClr val="2A3439"/>
                </a:solidFill>
                <a:latin typeface="Inter" pitchFamily="34" charset="0"/>
                <a:ea typeface="Inter" pitchFamily="34" charset="-122"/>
                <a:cs typeface="Inter" pitchFamily="34" charset="-120"/>
              </a:rPr>
              <a:t>401M  |  </a:t>
            </a:r>
            <a:r>
              <a:rPr lang="en-US" sz="1333" b="1" dirty="0">
                <a:solidFill>
                  <a:srgbClr val="2A3439"/>
                </a:solidFill>
                <a:latin typeface="Inter" pitchFamily="34" charset="0"/>
                <a:ea typeface="Inter" pitchFamily="34" charset="-122"/>
                <a:cs typeface="Inter" pitchFamily="34" charset="-120"/>
              </a:rPr>
              <a:t>RD/IM: </a:t>
            </a:r>
            <a:r>
              <a:rPr lang="en-US" sz="1333" dirty="0">
                <a:solidFill>
                  <a:srgbClr val="2A3439"/>
                </a:solidFill>
                <a:latin typeface="Inter" pitchFamily="34" charset="0"/>
                <a:ea typeface="Inter" pitchFamily="34" charset="-122"/>
                <a:cs typeface="Inter" pitchFamily="34" charset="-120"/>
              </a:rPr>
              <a:t>365M  |  </a:t>
            </a:r>
            <a:r>
              <a:rPr lang="en-US" sz="1333" b="1" dirty="0">
                <a:solidFill>
                  <a:srgbClr val="2A3439"/>
                </a:solidFill>
                <a:latin typeface="Inter" pitchFamily="34" charset="0"/>
                <a:ea typeface="Inter" pitchFamily="34" charset="-122"/>
                <a:cs typeface="Inter" pitchFamily="34" charset="-120"/>
              </a:rPr>
              <a:t>Oncology: </a:t>
            </a:r>
            <a:r>
              <a:rPr lang="en-US" sz="1333" dirty="0">
                <a:solidFill>
                  <a:srgbClr val="2A3439"/>
                </a:solidFill>
                <a:latin typeface="Inter" pitchFamily="34" charset="0"/>
                <a:ea typeface="Inter" pitchFamily="34" charset="-122"/>
                <a:cs typeface="Inter" pitchFamily="34" charset="-120"/>
              </a:rPr>
              <a:t>467M</a:t>
            </a:r>
            <a:endParaRPr lang="en-US" sz="1333" dirty="0"/>
          </a:p>
        </p:txBody>
      </p:sp>
      <p:sp>
        <p:nvSpPr>
          <p:cNvPr id="8" name="Shape 5"/>
          <p:cNvSpPr/>
          <p:nvPr/>
        </p:nvSpPr>
        <p:spPr>
          <a:xfrm>
            <a:off x="487680" y="5120640"/>
            <a:ext cx="11216640" cy="487680"/>
          </a:xfrm>
          <a:prstGeom prst="rect">
            <a:avLst/>
          </a:prstGeom>
          <a:solidFill>
            <a:srgbClr val="FFF3E0"/>
          </a:solidFill>
          <a:ln/>
        </p:spPr>
        <p:txBody>
          <a:bodyPr/>
          <a:lstStyle/>
          <a:p>
            <a:endParaRPr lang="en-GB" sz="2400"/>
          </a:p>
        </p:txBody>
      </p:sp>
      <p:sp>
        <p:nvSpPr>
          <p:cNvPr id="9" name="Text 6"/>
          <p:cNvSpPr/>
          <p:nvPr/>
        </p:nvSpPr>
        <p:spPr>
          <a:xfrm>
            <a:off x="731520" y="5145024"/>
            <a:ext cx="10972800" cy="426720"/>
          </a:xfrm>
          <a:prstGeom prst="rect">
            <a:avLst/>
          </a:prstGeom>
          <a:noFill/>
          <a:ln/>
        </p:spPr>
        <p:txBody>
          <a:bodyPr wrap="square" lIns="0" tIns="0" rIns="0" bIns="0" rtlCol="0" anchor="ctr"/>
          <a:lstStyle/>
          <a:p>
            <a:r>
              <a:rPr lang="en-US" sz="1067" b="1" dirty="0">
                <a:solidFill>
                  <a:srgbClr val="2A3439"/>
                </a:solidFill>
                <a:latin typeface="Inter" pitchFamily="34" charset="0"/>
                <a:ea typeface="Inter" pitchFamily="34" charset="-122"/>
                <a:cs typeface="Inter" pitchFamily="34" charset="-120"/>
              </a:rPr>
              <a:t>Note: </a:t>
            </a:r>
            <a:r>
              <a:rPr lang="en-US" sz="1067" dirty="0">
                <a:solidFill>
                  <a:srgbClr val="5D6D7E"/>
                </a:solidFill>
                <a:latin typeface="Inter" pitchFamily="34" charset="0"/>
                <a:ea typeface="Inter" pitchFamily="34" charset="-122"/>
                <a:cs typeface="Inter" pitchFamily="34" charset="-120"/>
              </a:rPr>
              <a:t>Xtandi (enzalutamide, prostate cancer) contributes 251M SEK (3yr) but is co-marketed with Astellas. Included in oncology total.</a:t>
            </a:r>
            <a:endParaRPr lang="en-US" sz="1067" dirty="0"/>
          </a:p>
        </p:txBody>
      </p:sp>
      <p:sp>
        <p:nvSpPr>
          <p:cNvPr id="5" name="Text 7"/>
          <p:cNvSpPr/>
          <p:nvPr/>
        </p:nvSpPr>
        <p:spPr>
          <a:xfrm>
            <a:off x="609600" y="5730240"/>
            <a:ext cx="10363200" cy="365760"/>
          </a:xfrm>
          <a:prstGeom prst="rect">
            <a:avLst/>
          </a:prstGeom>
          <a:noFill/>
          <a:ln/>
        </p:spPr>
        <p:txBody>
          <a:bodyPr wrap="square" lIns="0" tIns="0" rIns="0" bIns="0" rtlCol="0" anchor="ctr"/>
          <a:lstStyle/>
          <a:p>
            <a:r>
              <a:rPr lang="en-US" sz="1067" b="1" dirty="0">
                <a:solidFill>
                  <a:srgbClr val="2B9FD4"/>
                </a:solidFill>
                <a:latin typeface="Inter" pitchFamily="34" charset="0"/>
                <a:ea typeface="Inter" pitchFamily="34" charset="-122"/>
                <a:cs typeface="Inter" pitchFamily="34" charset="-120"/>
              </a:rPr>
              <a:t>Pipeline: </a:t>
            </a:r>
            <a:r>
              <a:rPr lang="en-US" sz="1067" dirty="0">
                <a:solidFill>
                  <a:srgbClr val="5D6D7E"/>
                </a:solidFill>
                <a:latin typeface="Inter" pitchFamily="34" charset="0"/>
                <a:ea typeface="Inter" pitchFamily="34" charset="-122"/>
                <a:cs typeface="Inter" pitchFamily="34" charset="-120"/>
              </a:rPr>
              <a:t>Borrelia/Lyme vaccine (epidemiology mapping only). TBE incidence 5.5/100k in Stockholm provides a reference for tick-borne disease burden in the region.</a:t>
            </a:r>
            <a:endParaRPr lang="en-US" sz="1067" dirty="0"/>
          </a:p>
        </p:txBody>
      </p:sp>
      <p:sp>
        <p:nvSpPr>
          <p:cNvPr id="11" name="Text 8"/>
          <p:cNvSpPr/>
          <p:nvPr/>
        </p:nvSpPr>
        <p:spPr>
          <a:xfrm>
            <a:off x="609600" y="6400800"/>
            <a:ext cx="9144000" cy="304800"/>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Source: IQVIA Sell-In (Apr 2023 - Mar 2026), Socialstyrelsen, samverkanlakemedel.se</a:t>
            </a:r>
            <a:endParaRPr lang="en-US" sz="933" dirty="0"/>
          </a:p>
        </p:txBody>
      </p:sp>
      <p:pic>
        <p:nvPicPr>
          <p:cNvPr id="12" name="Image 0" descr="/home/claude/logo-light.jpg"/>
          <p:cNvPicPr>
            <a:picLocks noChangeAspect="1"/>
          </p:cNvPicPr>
          <p:nvPr/>
        </p:nvPicPr>
        <p:blipFill>
          <a:blip r:embed="rId3"/>
          <a:stretch>
            <a:fillRect/>
          </a:stretch>
        </p:blipFill>
        <p:spPr>
          <a:xfrm>
            <a:off x="9753600" y="6278880"/>
            <a:ext cx="1950720" cy="548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48768"/>
          </a:xfrm>
          <a:prstGeom prst="rect">
            <a:avLst/>
          </a:prstGeom>
          <a:solidFill>
            <a:srgbClr val="2B9FD4"/>
          </a:solidFill>
          <a:ln/>
        </p:spPr>
        <p:txBody>
          <a:bodyPr/>
          <a:lstStyle/>
          <a:p>
            <a:endParaRPr lang="en-GB" sz="2400"/>
          </a:p>
        </p:txBody>
      </p:sp>
      <p:sp>
        <p:nvSpPr>
          <p:cNvPr id="3" name="Text 1"/>
          <p:cNvSpPr/>
          <p:nvPr/>
        </p:nvSpPr>
        <p:spPr>
          <a:xfrm>
            <a:off x="731520" y="243840"/>
            <a:ext cx="8534400" cy="390144"/>
          </a:xfrm>
          <a:prstGeom prst="rect">
            <a:avLst/>
          </a:prstGeom>
          <a:noFill/>
          <a:ln/>
        </p:spPr>
        <p:txBody>
          <a:bodyPr wrap="square" lIns="0" tIns="0" rIns="0" bIns="0" rtlCol="0" anchor="ctr"/>
          <a:lstStyle/>
          <a:p>
            <a:r>
              <a:rPr lang="en-US" sz="1333" kern="0" spc="400" dirty="0">
                <a:solidFill>
                  <a:srgbClr val="5D6D7E"/>
                </a:solidFill>
                <a:latin typeface="Inter" pitchFamily="34" charset="0"/>
                <a:ea typeface="Inter" pitchFamily="34" charset="-122"/>
                <a:cs typeface="Inter" pitchFamily="34" charset="-120"/>
              </a:rPr>
              <a:t>PART B: REGION STOCKHOLM</a:t>
            </a:r>
            <a:endParaRPr lang="en-US" sz="1333" dirty="0"/>
          </a:p>
        </p:txBody>
      </p:sp>
      <p:sp>
        <p:nvSpPr>
          <p:cNvPr id="4" name="Text 2"/>
          <p:cNvSpPr/>
          <p:nvPr/>
        </p:nvSpPr>
        <p:spPr>
          <a:xfrm>
            <a:off x="731520" y="585216"/>
            <a:ext cx="10363200" cy="609600"/>
          </a:xfrm>
          <a:prstGeom prst="rect">
            <a:avLst/>
          </a:prstGeom>
          <a:noFill/>
          <a:ln/>
        </p:spPr>
        <p:txBody>
          <a:bodyPr wrap="square" lIns="0" tIns="0" rIns="0" bIns="0" rtlCol="0" anchor="ctr"/>
          <a:lstStyle/>
          <a:p>
            <a:r>
              <a:rPr lang="en-US" sz="2933" b="1" dirty="0">
                <a:solidFill>
                  <a:srgbClr val="2A3439"/>
                </a:solidFill>
                <a:latin typeface="Inter" pitchFamily="34" charset="0"/>
                <a:ea typeface="Inter" pitchFamily="34" charset="-122"/>
                <a:cs typeface="Inter" pitchFamily="34" charset="-120"/>
              </a:rPr>
              <a:t>Vaccine Landscape</a:t>
            </a:r>
            <a:endParaRPr lang="en-US" sz="2933" dirty="0"/>
          </a:p>
        </p:txBody>
      </p:sp>
      <p:graphicFrame>
        <p:nvGraphicFramePr>
          <p:cNvPr id="5" name="Chart 0"/>
          <p:cNvGraphicFramePr/>
          <p:nvPr/>
        </p:nvGraphicFramePr>
        <p:xfrm>
          <a:off x="487680" y="1402080"/>
          <a:ext cx="1828800" cy="14020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2316480" y="1463040"/>
            <a:ext cx="3657600" cy="304800"/>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TBE (FSME-IMMUN)</a:t>
            </a:r>
            <a:endParaRPr lang="en-US" sz="1600" dirty="0"/>
          </a:p>
        </p:txBody>
      </p:sp>
      <p:sp>
        <p:nvSpPr>
          <p:cNvPr id="7" name="Text 4"/>
          <p:cNvSpPr/>
          <p:nvPr/>
        </p:nvSpPr>
        <p:spPr>
          <a:xfrm>
            <a:off x="2316480" y="1767840"/>
            <a:ext cx="3901440" cy="853440"/>
          </a:xfrm>
          <a:prstGeom prst="rect">
            <a:avLst/>
          </a:prstGeom>
          <a:noFill/>
          <a:ln/>
        </p:spPr>
        <p:txBody>
          <a:bodyPr wrap="square" lIns="0" tIns="0" rIns="0" bIns="0" rtlCol="0" anchor="ctr"/>
          <a:lstStyle/>
          <a:p>
            <a:pPr>
              <a:lnSpc>
                <a:spcPct val="130000"/>
              </a:lnSpc>
            </a:pPr>
            <a:r>
              <a:rPr lang="en-US" sz="1200" dirty="0">
                <a:solidFill>
                  <a:srgbClr val="5D6D7E"/>
                </a:solidFill>
                <a:latin typeface="Inter" pitchFamily="34" charset="0"/>
                <a:ea typeface="Inter" pitchFamily="34" charset="-122"/>
                <a:cs typeface="Inter" pitchFamily="34" charset="-120"/>
              </a:rPr>
              <a:t>Pfizer share: 78.6%  |  Total market: 457M SEK  |  Pfizer: 360M SEK</a:t>
            </a:r>
            <a:endParaRPr lang="en-US" sz="1200" dirty="0"/>
          </a:p>
          <a:p>
            <a:pPr>
              <a:lnSpc>
                <a:spcPct val="130000"/>
              </a:lnSpc>
            </a:pPr>
            <a:r>
              <a:rPr lang="en-US" sz="1067" i="1" dirty="0">
                <a:solidFill>
                  <a:srgbClr val="2A3439"/>
                </a:solidFill>
                <a:latin typeface="Inter" pitchFamily="34" charset="0"/>
                <a:ea typeface="Inter" pitchFamily="34" charset="-122"/>
                <a:cs typeface="Inter" pitchFamily="34" charset="-120"/>
              </a:rPr>
              <a:t>Endemic area. 137 TBE cases (2025). Pfizer dominant.</a:t>
            </a:r>
            <a:endParaRPr lang="en-US" sz="1200" dirty="0"/>
          </a:p>
        </p:txBody>
      </p:sp>
      <p:graphicFrame>
        <p:nvGraphicFramePr>
          <p:cNvPr id="8" name="Chart 1"/>
          <p:cNvGraphicFramePr/>
          <p:nvPr/>
        </p:nvGraphicFramePr>
        <p:xfrm>
          <a:off x="487680" y="2987040"/>
          <a:ext cx="1828800" cy="140208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2316480" y="3048000"/>
            <a:ext cx="3657600" cy="304800"/>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RSV (Abrysvo)</a:t>
            </a:r>
            <a:endParaRPr lang="en-US" sz="1600" dirty="0"/>
          </a:p>
        </p:txBody>
      </p:sp>
      <p:sp>
        <p:nvSpPr>
          <p:cNvPr id="10" name="Text 6"/>
          <p:cNvSpPr/>
          <p:nvPr/>
        </p:nvSpPr>
        <p:spPr>
          <a:xfrm>
            <a:off x="2316480" y="3352800"/>
            <a:ext cx="3901440" cy="853440"/>
          </a:xfrm>
          <a:prstGeom prst="rect">
            <a:avLst/>
          </a:prstGeom>
          <a:noFill/>
          <a:ln/>
        </p:spPr>
        <p:txBody>
          <a:bodyPr wrap="square" lIns="0" tIns="0" rIns="0" bIns="0" rtlCol="0" anchor="ctr"/>
          <a:lstStyle/>
          <a:p>
            <a:pPr>
              <a:lnSpc>
                <a:spcPct val="130000"/>
              </a:lnSpc>
            </a:pPr>
            <a:r>
              <a:rPr lang="en-US" sz="1200" dirty="0">
                <a:solidFill>
                  <a:srgbClr val="5D6D7E"/>
                </a:solidFill>
                <a:latin typeface="Inter" pitchFamily="34" charset="0"/>
                <a:ea typeface="Inter" pitchFamily="34" charset="-122"/>
                <a:cs typeface="Inter" pitchFamily="34" charset="-120"/>
              </a:rPr>
              <a:t>Pfizer share: 59.9%  |  Total market: 43M SEK  |  Pfizer: 25.9M SEK</a:t>
            </a:r>
            <a:endParaRPr lang="en-US" sz="1200" dirty="0"/>
          </a:p>
          <a:p>
            <a:pPr>
              <a:lnSpc>
                <a:spcPct val="130000"/>
              </a:lnSpc>
            </a:pPr>
            <a:r>
              <a:rPr lang="en-US" sz="1067" i="1" dirty="0">
                <a:solidFill>
                  <a:srgbClr val="2A3439"/>
                </a:solidFill>
                <a:latin typeface="Inter" pitchFamily="34" charset="0"/>
                <a:ea typeface="Inter" pitchFamily="34" charset="-122"/>
                <a:cs typeface="Inter" pitchFamily="34" charset="-120"/>
              </a:rPr>
              <a:t>Growing market. 65+ population key target.</a:t>
            </a:r>
            <a:endParaRPr lang="en-US" sz="1200" dirty="0"/>
          </a:p>
        </p:txBody>
      </p:sp>
      <p:graphicFrame>
        <p:nvGraphicFramePr>
          <p:cNvPr id="11" name="Chart 2"/>
          <p:cNvGraphicFramePr/>
          <p:nvPr/>
        </p:nvGraphicFramePr>
        <p:xfrm>
          <a:off x="487680" y="4572000"/>
          <a:ext cx="1828800" cy="1402080"/>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 7"/>
          <p:cNvSpPr/>
          <p:nvPr/>
        </p:nvSpPr>
        <p:spPr>
          <a:xfrm>
            <a:off x="2316480" y="4632960"/>
            <a:ext cx="3657600" cy="304800"/>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Pneumococcal (Prevenar)</a:t>
            </a:r>
            <a:endParaRPr lang="en-US" sz="1600" dirty="0"/>
          </a:p>
        </p:txBody>
      </p:sp>
      <p:sp>
        <p:nvSpPr>
          <p:cNvPr id="13" name="Text 8"/>
          <p:cNvSpPr/>
          <p:nvPr/>
        </p:nvSpPr>
        <p:spPr>
          <a:xfrm>
            <a:off x="2316480" y="4937760"/>
            <a:ext cx="3901440" cy="853440"/>
          </a:xfrm>
          <a:prstGeom prst="rect">
            <a:avLst/>
          </a:prstGeom>
          <a:noFill/>
          <a:ln/>
        </p:spPr>
        <p:txBody>
          <a:bodyPr wrap="square" lIns="0" tIns="0" rIns="0" bIns="0" rtlCol="0" anchor="ctr"/>
          <a:lstStyle/>
          <a:p>
            <a:pPr>
              <a:lnSpc>
                <a:spcPct val="130000"/>
              </a:lnSpc>
            </a:pPr>
            <a:r>
              <a:rPr lang="en-US" sz="1200" dirty="0">
                <a:solidFill>
                  <a:srgbClr val="5D6D7E"/>
                </a:solidFill>
                <a:latin typeface="Inter" pitchFamily="34" charset="0"/>
                <a:ea typeface="Inter" pitchFamily="34" charset="-122"/>
                <a:cs typeface="Inter" pitchFamily="34" charset="-120"/>
              </a:rPr>
              <a:t>Pfizer share: 12.4%  |  Total market: 127M SEK  |  Pfizer: 15.8M SEK</a:t>
            </a:r>
            <a:endParaRPr lang="en-US" sz="1200" dirty="0"/>
          </a:p>
          <a:p>
            <a:pPr>
              <a:lnSpc>
                <a:spcPct val="130000"/>
              </a:lnSpc>
            </a:pPr>
            <a:r>
              <a:rPr lang="en-US" sz="1067" i="1" dirty="0">
                <a:solidFill>
                  <a:srgbClr val="2A3439"/>
                </a:solidFill>
                <a:latin typeface="Inter" pitchFamily="34" charset="0"/>
                <a:ea typeface="Inter" pitchFamily="34" charset="-122"/>
                <a:cs typeface="Inter" pitchFamily="34" charset="-120"/>
              </a:rPr>
              <a:t>Low Pfizer share. 357 IPD cases (2025). Gap opportunity.</a:t>
            </a:r>
            <a:endParaRPr lang="en-US" sz="1200" dirty="0"/>
          </a:p>
        </p:txBody>
      </p:sp>
      <p:sp>
        <p:nvSpPr>
          <p:cNvPr id="14" name="Shape 9"/>
          <p:cNvSpPr/>
          <p:nvPr/>
        </p:nvSpPr>
        <p:spPr>
          <a:xfrm>
            <a:off x="6461760" y="1402080"/>
            <a:ext cx="5242560" cy="25603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GB" sz="2400"/>
          </a:p>
        </p:txBody>
      </p:sp>
      <p:sp>
        <p:nvSpPr>
          <p:cNvPr id="15" name="Shape 10"/>
          <p:cNvSpPr/>
          <p:nvPr/>
        </p:nvSpPr>
        <p:spPr>
          <a:xfrm>
            <a:off x="6461760" y="1402080"/>
            <a:ext cx="73152" cy="2560320"/>
          </a:xfrm>
          <a:prstGeom prst="rect">
            <a:avLst/>
          </a:prstGeom>
          <a:solidFill>
            <a:srgbClr val="2B9FD4"/>
          </a:solidFill>
          <a:ln/>
        </p:spPr>
        <p:txBody>
          <a:bodyPr/>
          <a:lstStyle/>
          <a:p>
            <a:endParaRPr lang="en-GB" sz="2400"/>
          </a:p>
        </p:txBody>
      </p:sp>
      <p:pic>
        <p:nvPicPr>
          <p:cNvPr id="16" name="Image 0" descr="preencoded.png"/>
          <p:cNvPicPr>
            <a:picLocks noChangeAspect="1"/>
          </p:cNvPicPr>
          <p:nvPr/>
        </p:nvPicPr>
        <p:blipFill>
          <a:blip r:embed="rId6"/>
          <a:stretch>
            <a:fillRect/>
          </a:stretch>
        </p:blipFill>
        <p:spPr>
          <a:xfrm>
            <a:off x="6705600" y="1524000"/>
            <a:ext cx="304800" cy="304800"/>
          </a:xfrm>
          <a:prstGeom prst="rect">
            <a:avLst/>
          </a:prstGeom>
        </p:spPr>
      </p:pic>
      <p:sp>
        <p:nvSpPr>
          <p:cNvPr id="17" name="Text 11"/>
          <p:cNvSpPr/>
          <p:nvPr/>
        </p:nvSpPr>
        <p:spPr>
          <a:xfrm>
            <a:off x="7071360" y="1524000"/>
            <a:ext cx="4267200" cy="304800"/>
          </a:xfrm>
          <a:prstGeom prst="rect">
            <a:avLst/>
          </a:prstGeom>
          <a:noFill/>
          <a:ln/>
        </p:spPr>
        <p:txBody>
          <a:bodyPr wrap="square" lIns="0" tIns="0" rIns="0" bIns="0" rtlCol="0" anchor="ctr"/>
          <a:lstStyle/>
          <a:p>
            <a:r>
              <a:rPr lang="en-US" sz="1467" b="1" dirty="0">
                <a:solidFill>
                  <a:srgbClr val="2A3439"/>
                </a:solidFill>
                <a:latin typeface="Inter" pitchFamily="34" charset="0"/>
                <a:ea typeface="Inter" pitchFamily="34" charset="-122"/>
                <a:cs typeface="Inter" pitchFamily="34" charset="-120"/>
              </a:rPr>
              <a:t>Regional Vaccination Coverage</a:t>
            </a:r>
            <a:endParaRPr lang="en-US" sz="1467" dirty="0"/>
          </a:p>
        </p:txBody>
      </p:sp>
      <p:sp>
        <p:nvSpPr>
          <p:cNvPr id="18" name="Text 12"/>
          <p:cNvSpPr/>
          <p:nvPr/>
        </p:nvSpPr>
        <p:spPr>
          <a:xfrm>
            <a:off x="6705600" y="2011680"/>
            <a:ext cx="1706880" cy="268224"/>
          </a:xfrm>
          <a:prstGeom prst="rect">
            <a:avLst/>
          </a:prstGeom>
          <a:noFill/>
          <a:ln/>
        </p:spPr>
        <p:txBody>
          <a:bodyPr wrap="square" lIns="0" tIns="0" rIns="0" bIns="0" rtlCol="0" anchor="ctr"/>
          <a:lstStyle/>
          <a:p>
            <a:r>
              <a:rPr lang="en-US" sz="1733" b="1" dirty="0">
                <a:solidFill>
                  <a:srgbClr val="2A3439"/>
                </a:solidFill>
                <a:latin typeface="Inter" pitchFamily="34" charset="0"/>
                <a:ea typeface="Inter" pitchFamily="34" charset="-122"/>
                <a:cs typeface="Inter" pitchFamily="34" charset="-120"/>
              </a:rPr>
              <a:t>91.8%</a:t>
            </a:r>
            <a:endParaRPr lang="en-US" sz="1733" dirty="0"/>
          </a:p>
        </p:txBody>
      </p:sp>
      <p:sp>
        <p:nvSpPr>
          <p:cNvPr id="19" name="Text 13"/>
          <p:cNvSpPr/>
          <p:nvPr/>
        </p:nvSpPr>
        <p:spPr>
          <a:xfrm>
            <a:off x="6705600" y="2255520"/>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MPR 2yo (lowest nationally)</a:t>
            </a:r>
            <a:endParaRPr lang="en-US" sz="1067" dirty="0"/>
          </a:p>
        </p:txBody>
      </p:sp>
      <p:sp>
        <p:nvSpPr>
          <p:cNvPr id="20" name="Text 14"/>
          <p:cNvSpPr/>
          <p:nvPr/>
        </p:nvSpPr>
        <p:spPr>
          <a:xfrm>
            <a:off x="9144000" y="2011680"/>
            <a:ext cx="1706880" cy="268224"/>
          </a:xfrm>
          <a:prstGeom prst="rect">
            <a:avLst/>
          </a:prstGeom>
          <a:noFill/>
          <a:ln/>
        </p:spPr>
        <p:txBody>
          <a:bodyPr wrap="square" lIns="0" tIns="0" rIns="0" bIns="0" rtlCol="0" anchor="ctr"/>
          <a:lstStyle/>
          <a:p>
            <a:r>
              <a:rPr lang="en-US" sz="1733" b="1" dirty="0">
                <a:solidFill>
                  <a:srgbClr val="2A3439"/>
                </a:solidFill>
                <a:latin typeface="Inter" pitchFamily="34" charset="0"/>
                <a:ea typeface="Inter" pitchFamily="34" charset="-122"/>
                <a:cs typeface="Inter" pitchFamily="34" charset="-120"/>
              </a:rPr>
              <a:t>86.1%</a:t>
            </a:r>
            <a:endParaRPr lang="en-US" sz="1733" dirty="0"/>
          </a:p>
        </p:txBody>
      </p:sp>
      <p:sp>
        <p:nvSpPr>
          <p:cNvPr id="21" name="Text 15"/>
          <p:cNvSpPr/>
          <p:nvPr/>
        </p:nvSpPr>
        <p:spPr>
          <a:xfrm>
            <a:off x="9144000" y="2255520"/>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HPV girls</a:t>
            </a:r>
            <a:endParaRPr lang="en-US" sz="1067" dirty="0"/>
          </a:p>
        </p:txBody>
      </p:sp>
      <p:sp>
        <p:nvSpPr>
          <p:cNvPr id="22" name="Text 16"/>
          <p:cNvSpPr/>
          <p:nvPr/>
        </p:nvSpPr>
        <p:spPr>
          <a:xfrm>
            <a:off x="6705600" y="2682240"/>
            <a:ext cx="1706880" cy="268224"/>
          </a:xfrm>
          <a:prstGeom prst="rect">
            <a:avLst/>
          </a:prstGeom>
          <a:noFill/>
          <a:ln/>
        </p:spPr>
        <p:txBody>
          <a:bodyPr wrap="square" lIns="0" tIns="0" rIns="0" bIns="0" rtlCol="0" anchor="ctr"/>
          <a:lstStyle/>
          <a:p>
            <a:r>
              <a:rPr lang="en-US" sz="1733" b="1" dirty="0">
                <a:solidFill>
                  <a:srgbClr val="2A3439"/>
                </a:solidFill>
                <a:latin typeface="Inter" pitchFamily="34" charset="0"/>
                <a:ea typeface="Inter" pitchFamily="34" charset="-122"/>
                <a:cs typeface="Inter" pitchFamily="34" charset="-120"/>
              </a:rPr>
              <a:t>85 SEK</a:t>
            </a:r>
            <a:endParaRPr lang="en-US" sz="1733" dirty="0"/>
          </a:p>
        </p:txBody>
      </p:sp>
      <p:sp>
        <p:nvSpPr>
          <p:cNvPr id="23" name="Text 17"/>
          <p:cNvSpPr/>
          <p:nvPr/>
        </p:nvSpPr>
        <p:spPr>
          <a:xfrm>
            <a:off x="6705600" y="2926080"/>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Vaccine sell-in/capita</a:t>
            </a:r>
            <a:endParaRPr lang="en-US" sz="1067" dirty="0"/>
          </a:p>
        </p:txBody>
      </p:sp>
      <p:sp>
        <p:nvSpPr>
          <p:cNvPr id="24" name="Text 18"/>
          <p:cNvSpPr/>
          <p:nvPr/>
        </p:nvSpPr>
        <p:spPr>
          <a:xfrm>
            <a:off x="9144000" y="2682240"/>
            <a:ext cx="1706880" cy="268224"/>
          </a:xfrm>
          <a:prstGeom prst="rect">
            <a:avLst/>
          </a:prstGeom>
          <a:noFill/>
          <a:ln/>
        </p:spPr>
        <p:txBody>
          <a:bodyPr wrap="square" lIns="0" tIns="0" rIns="0" bIns="0" rtlCol="0" anchor="ctr"/>
          <a:lstStyle/>
          <a:p>
            <a:r>
              <a:rPr lang="en-US" sz="1733" b="1" dirty="0">
                <a:solidFill>
                  <a:srgbClr val="2A3439"/>
                </a:solidFill>
                <a:latin typeface="Inter" pitchFamily="34" charset="0"/>
                <a:ea typeface="Inter" pitchFamily="34" charset="-122"/>
                <a:cs typeface="Inter" pitchFamily="34" charset="-120"/>
              </a:rPr>
              <a:t>261/1k</a:t>
            </a:r>
            <a:endParaRPr lang="en-US" sz="1733" dirty="0"/>
          </a:p>
        </p:txBody>
      </p:sp>
      <p:sp>
        <p:nvSpPr>
          <p:cNvPr id="25" name="Text 19"/>
          <p:cNvSpPr/>
          <p:nvPr/>
        </p:nvSpPr>
        <p:spPr>
          <a:xfrm>
            <a:off x="9144000" y="2926080"/>
            <a:ext cx="170688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Antibiotic Rx rate</a:t>
            </a:r>
            <a:endParaRPr lang="en-US" sz="1067" dirty="0"/>
          </a:p>
        </p:txBody>
      </p:sp>
      <p:sp>
        <p:nvSpPr>
          <p:cNvPr id="26" name="Shape 20"/>
          <p:cNvSpPr/>
          <p:nvPr/>
        </p:nvSpPr>
        <p:spPr>
          <a:xfrm>
            <a:off x="6461760" y="4145280"/>
            <a:ext cx="5242560" cy="18897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GB" sz="2400"/>
          </a:p>
        </p:txBody>
      </p:sp>
      <p:sp>
        <p:nvSpPr>
          <p:cNvPr id="27" name="Shape 21"/>
          <p:cNvSpPr/>
          <p:nvPr/>
        </p:nvSpPr>
        <p:spPr>
          <a:xfrm>
            <a:off x="6461760" y="4145280"/>
            <a:ext cx="73152" cy="1889760"/>
          </a:xfrm>
          <a:prstGeom prst="rect">
            <a:avLst/>
          </a:prstGeom>
          <a:solidFill>
            <a:srgbClr val="1B7FA3"/>
          </a:solidFill>
          <a:ln/>
        </p:spPr>
        <p:txBody>
          <a:bodyPr/>
          <a:lstStyle/>
          <a:p>
            <a:endParaRPr lang="en-GB" sz="2400"/>
          </a:p>
        </p:txBody>
      </p:sp>
      <p:pic>
        <p:nvPicPr>
          <p:cNvPr id="28" name="Image 1" descr="preencoded.png"/>
          <p:cNvPicPr>
            <a:picLocks noChangeAspect="1"/>
          </p:cNvPicPr>
          <p:nvPr/>
        </p:nvPicPr>
        <p:blipFill>
          <a:blip r:embed="rId7"/>
          <a:stretch>
            <a:fillRect/>
          </a:stretch>
        </p:blipFill>
        <p:spPr>
          <a:xfrm>
            <a:off x="6705600" y="4267200"/>
            <a:ext cx="304800" cy="304800"/>
          </a:xfrm>
          <a:prstGeom prst="rect">
            <a:avLst/>
          </a:prstGeom>
        </p:spPr>
      </p:pic>
      <p:sp>
        <p:nvSpPr>
          <p:cNvPr id="29" name="Text 22"/>
          <p:cNvSpPr/>
          <p:nvPr/>
        </p:nvSpPr>
        <p:spPr>
          <a:xfrm>
            <a:off x="7071360" y="4267200"/>
            <a:ext cx="4267200" cy="304800"/>
          </a:xfrm>
          <a:prstGeom prst="rect">
            <a:avLst/>
          </a:prstGeom>
          <a:noFill/>
          <a:ln/>
        </p:spPr>
        <p:txBody>
          <a:bodyPr wrap="square" lIns="0" tIns="0" rIns="0" bIns="0" rtlCol="0" anchor="ctr"/>
          <a:lstStyle/>
          <a:p>
            <a:r>
              <a:rPr lang="en-US" sz="1467" b="1" dirty="0">
                <a:solidFill>
                  <a:srgbClr val="2A3439"/>
                </a:solidFill>
                <a:latin typeface="Inter" pitchFamily="34" charset="0"/>
                <a:ea typeface="Inter" pitchFamily="34" charset="-122"/>
                <a:cs typeface="Inter" pitchFamily="34" charset="-120"/>
              </a:rPr>
              <a:t>Market Penetration Scores</a:t>
            </a:r>
            <a:endParaRPr lang="en-US" sz="1467" dirty="0"/>
          </a:p>
        </p:txBody>
      </p:sp>
      <p:sp>
        <p:nvSpPr>
          <p:cNvPr id="30" name="Text 23"/>
          <p:cNvSpPr/>
          <p:nvPr/>
        </p:nvSpPr>
        <p:spPr>
          <a:xfrm>
            <a:off x="6705600" y="4693920"/>
            <a:ext cx="4754880" cy="1219200"/>
          </a:xfrm>
          <a:prstGeom prst="rect">
            <a:avLst/>
          </a:prstGeom>
          <a:noFill/>
          <a:ln/>
        </p:spPr>
        <p:txBody>
          <a:bodyPr wrap="square" lIns="0" tIns="0" rIns="0" bIns="0" rtlCol="0" anchor="ctr"/>
          <a:lstStyle/>
          <a:p>
            <a:pPr>
              <a:lnSpc>
                <a:spcPct val="120000"/>
              </a:lnSpc>
            </a:pPr>
            <a:r>
              <a:rPr lang="en-US" sz="1200" b="1" dirty="0">
                <a:solidFill>
                  <a:srgbClr val="2A3439"/>
                </a:solidFill>
                <a:latin typeface="Inter" pitchFamily="34" charset="0"/>
                <a:ea typeface="Inter" pitchFamily="34" charset="-122"/>
                <a:cs typeface="Inter" pitchFamily="34" charset="-120"/>
              </a:rPr>
              <a:t>TBE (FSME-IMMUN): </a:t>
            </a:r>
            <a:r>
              <a:rPr lang="en-US" sz="1200" dirty="0">
                <a:solidFill>
                  <a:srgbClr val="5D6D7E"/>
                </a:solidFill>
                <a:latin typeface="Inter" pitchFamily="34" charset="0"/>
                <a:ea typeface="Inter" pitchFamily="34" charset="-122"/>
                <a:cs typeface="Inter" pitchFamily="34" charset="-120"/>
              </a:rPr>
              <a:t>Burden score 95/100, Gap score 40/100, Opportunity 67.5/100</a:t>
            </a:r>
            <a:endParaRPr lang="en-US" sz="1200" dirty="0"/>
          </a:p>
          <a:p>
            <a:pPr>
              <a:lnSpc>
                <a:spcPct val="120000"/>
              </a:lnSpc>
            </a:pPr>
            <a:r>
              <a:rPr lang="en-US" sz="1067" dirty="0">
                <a:solidFill>
                  <a:srgbClr val="5D6D7E"/>
                </a:solidFill>
                <a:latin typeface="Inter" pitchFamily="34" charset="0"/>
                <a:ea typeface="Inter" pitchFamily="34" charset="-122"/>
                <a:cs typeface="Inter" pitchFamily="34" charset="-120"/>
              </a:rPr>
              <a:t>Per capita/yr: 48.5 SEK | Pfizer share: 78.6%</a:t>
            </a:r>
            <a:endParaRPr lang="en-US" sz="1200" dirty="0"/>
          </a:p>
          <a:p>
            <a:pPr>
              <a:lnSpc>
                <a:spcPct val="120000"/>
              </a:lnSpc>
            </a:pPr>
            <a:r>
              <a:rPr lang="en-US" sz="1200" b="1" dirty="0">
                <a:solidFill>
                  <a:srgbClr val="2A3439"/>
                </a:solidFill>
                <a:latin typeface="Inter" pitchFamily="34" charset="0"/>
                <a:ea typeface="Inter" pitchFamily="34" charset="-122"/>
                <a:cs typeface="Inter" pitchFamily="34" charset="-120"/>
              </a:rPr>
              <a:t>IPD (Prevenar): </a:t>
            </a:r>
            <a:r>
              <a:rPr lang="en-US" sz="1200" dirty="0">
                <a:solidFill>
                  <a:srgbClr val="5D6D7E"/>
                </a:solidFill>
                <a:latin typeface="Inter" pitchFamily="34" charset="0"/>
                <a:ea typeface="Inter" pitchFamily="34" charset="-122"/>
                <a:cs typeface="Inter" pitchFamily="34" charset="-120"/>
              </a:rPr>
              <a:t>Burden score 70/100, Gap score 45/100, Opportunity 57.5/100</a:t>
            </a:r>
            <a:endParaRPr lang="en-US" sz="1200" dirty="0"/>
          </a:p>
          <a:p>
            <a:pPr>
              <a:lnSpc>
                <a:spcPct val="120000"/>
              </a:lnSpc>
            </a:pPr>
            <a:r>
              <a:rPr lang="en-US" sz="1067" dirty="0">
                <a:solidFill>
                  <a:srgbClr val="5D6D7E"/>
                </a:solidFill>
                <a:latin typeface="Inter" pitchFamily="34" charset="0"/>
                <a:ea typeface="Inter" pitchFamily="34" charset="-122"/>
                <a:cs typeface="Inter" pitchFamily="34" charset="-120"/>
              </a:rPr>
              <a:t>Per 65+/yr: 12.6 SEK | Pfizer share: 12.4%</a:t>
            </a:r>
            <a:endParaRPr lang="en-US" sz="1200" dirty="0"/>
          </a:p>
        </p:txBody>
      </p:sp>
      <p:sp>
        <p:nvSpPr>
          <p:cNvPr id="31" name="Text 24"/>
          <p:cNvSpPr/>
          <p:nvPr/>
        </p:nvSpPr>
        <p:spPr>
          <a:xfrm>
            <a:off x="609600" y="6400800"/>
            <a:ext cx="9144000" cy="304800"/>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Source: IQVIA Sell-In (3yr), Folkhälsomyndigheten, Viti Science analysis</a:t>
            </a:r>
            <a:endParaRPr lang="en-US" sz="933" dirty="0"/>
          </a:p>
        </p:txBody>
      </p:sp>
      <p:pic>
        <p:nvPicPr>
          <p:cNvPr id="32" name="Image 2" descr="/home/claude/logo-light.jpg"/>
          <p:cNvPicPr>
            <a:picLocks noChangeAspect="1"/>
          </p:cNvPicPr>
          <p:nvPr/>
        </p:nvPicPr>
        <p:blipFill>
          <a:blip r:embed="rId8"/>
          <a:stretch>
            <a:fillRect/>
          </a:stretch>
        </p:blipFill>
        <p:spPr>
          <a:xfrm>
            <a:off x="9753600" y="6278880"/>
            <a:ext cx="1950720" cy="548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48768"/>
          </a:xfrm>
          <a:prstGeom prst="rect">
            <a:avLst/>
          </a:prstGeom>
          <a:solidFill>
            <a:srgbClr val="2B9FD4"/>
          </a:solidFill>
          <a:ln/>
        </p:spPr>
        <p:txBody>
          <a:bodyPr/>
          <a:lstStyle/>
          <a:p>
            <a:endParaRPr lang="en-GB" sz="2400"/>
          </a:p>
        </p:txBody>
      </p:sp>
      <p:sp>
        <p:nvSpPr>
          <p:cNvPr id="3" name="Text 1"/>
          <p:cNvSpPr/>
          <p:nvPr/>
        </p:nvSpPr>
        <p:spPr>
          <a:xfrm>
            <a:off x="731520" y="243840"/>
            <a:ext cx="8534400" cy="390144"/>
          </a:xfrm>
          <a:prstGeom prst="rect">
            <a:avLst/>
          </a:prstGeom>
          <a:noFill/>
          <a:ln/>
        </p:spPr>
        <p:txBody>
          <a:bodyPr wrap="square" lIns="0" tIns="0" rIns="0" bIns="0" rtlCol="0" anchor="ctr"/>
          <a:lstStyle/>
          <a:p>
            <a:r>
              <a:rPr lang="en-US" sz="1333" kern="0" spc="400" dirty="0">
                <a:solidFill>
                  <a:srgbClr val="5D6D7E"/>
                </a:solidFill>
                <a:latin typeface="Inter" pitchFamily="34" charset="0"/>
                <a:ea typeface="Inter" pitchFamily="34" charset="-122"/>
                <a:cs typeface="Inter" pitchFamily="34" charset="-120"/>
              </a:rPr>
              <a:t>PART B: REGION STOCKHOLM</a:t>
            </a:r>
            <a:endParaRPr lang="en-US" sz="1333" dirty="0"/>
          </a:p>
        </p:txBody>
      </p:sp>
      <p:sp>
        <p:nvSpPr>
          <p:cNvPr id="4" name="Text 2"/>
          <p:cNvSpPr/>
          <p:nvPr/>
        </p:nvSpPr>
        <p:spPr>
          <a:xfrm>
            <a:off x="731520" y="585216"/>
            <a:ext cx="10363200" cy="609600"/>
          </a:xfrm>
          <a:prstGeom prst="rect">
            <a:avLst/>
          </a:prstGeom>
          <a:noFill/>
          <a:ln/>
        </p:spPr>
        <p:txBody>
          <a:bodyPr wrap="square" lIns="0" tIns="0" rIns="0" bIns="0" rtlCol="0" anchor="ctr"/>
          <a:lstStyle/>
          <a:p>
            <a:r>
              <a:rPr lang="en-US" sz="2933" b="1" dirty="0">
                <a:solidFill>
                  <a:srgbClr val="2A3439"/>
                </a:solidFill>
                <a:latin typeface="Inter" pitchFamily="34" charset="0"/>
                <a:ea typeface="Inter" pitchFamily="34" charset="-122"/>
                <a:cs typeface="Inter" pitchFamily="34" charset="-120"/>
              </a:rPr>
              <a:t>Governance &amp; Stakeholder Engagement</a:t>
            </a:r>
            <a:endParaRPr lang="en-US" sz="2933" dirty="0"/>
          </a:p>
        </p:txBody>
      </p:sp>
      <p:sp>
        <p:nvSpPr>
          <p:cNvPr id="5" name="Shape 3"/>
          <p:cNvSpPr/>
          <p:nvPr/>
        </p:nvSpPr>
        <p:spPr>
          <a:xfrm>
            <a:off x="597408" y="1335024"/>
            <a:ext cx="5486400" cy="46939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GB" sz="2400"/>
          </a:p>
        </p:txBody>
      </p:sp>
      <p:sp>
        <p:nvSpPr>
          <p:cNvPr id="6" name="Shape 4"/>
          <p:cNvSpPr/>
          <p:nvPr/>
        </p:nvSpPr>
        <p:spPr>
          <a:xfrm>
            <a:off x="609600" y="1341120"/>
            <a:ext cx="73152" cy="4693920"/>
          </a:xfrm>
          <a:prstGeom prst="rect">
            <a:avLst/>
          </a:prstGeom>
          <a:solidFill>
            <a:srgbClr val="2B9FD4"/>
          </a:solidFill>
          <a:ln/>
        </p:spPr>
        <p:txBody>
          <a:bodyPr/>
          <a:lstStyle/>
          <a:p>
            <a:endParaRPr lang="en-GB" sz="2400"/>
          </a:p>
        </p:txBody>
      </p:sp>
      <p:pic>
        <p:nvPicPr>
          <p:cNvPr id="7" name="Image 0" descr="preencoded.png"/>
          <p:cNvPicPr>
            <a:picLocks noChangeAspect="1"/>
          </p:cNvPicPr>
          <p:nvPr/>
        </p:nvPicPr>
        <p:blipFill>
          <a:blip r:embed="rId3"/>
          <a:stretch>
            <a:fillRect/>
          </a:stretch>
        </p:blipFill>
        <p:spPr>
          <a:xfrm>
            <a:off x="877824" y="1463040"/>
            <a:ext cx="304800" cy="304800"/>
          </a:xfrm>
          <a:prstGeom prst="rect">
            <a:avLst/>
          </a:prstGeom>
        </p:spPr>
      </p:pic>
      <p:sp>
        <p:nvSpPr>
          <p:cNvPr id="8" name="Text 5"/>
          <p:cNvSpPr/>
          <p:nvPr/>
        </p:nvSpPr>
        <p:spPr>
          <a:xfrm>
            <a:off x="1243584" y="1463040"/>
            <a:ext cx="3657600" cy="304800"/>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Key Decision-Makers</a:t>
            </a:r>
            <a:endParaRPr lang="en-US" sz="1600" dirty="0"/>
          </a:p>
        </p:txBody>
      </p:sp>
      <p:sp>
        <p:nvSpPr>
          <p:cNvPr id="9" name="Text 6"/>
          <p:cNvSpPr/>
          <p:nvPr/>
        </p:nvSpPr>
        <p:spPr>
          <a:xfrm>
            <a:off x="877824" y="1889760"/>
            <a:ext cx="195072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Regional Director</a:t>
            </a:r>
            <a:endParaRPr lang="en-US" sz="1067" dirty="0"/>
          </a:p>
        </p:txBody>
      </p:sp>
      <p:sp>
        <p:nvSpPr>
          <p:cNvPr id="10" name="Text 7"/>
          <p:cNvSpPr/>
          <p:nvPr/>
        </p:nvSpPr>
        <p:spPr>
          <a:xfrm>
            <a:off x="2865120" y="1889760"/>
            <a:ext cx="2194560" cy="195072"/>
          </a:xfrm>
          <a:prstGeom prst="rect">
            <a:avLst/>
          </a:prstGeom>
          <a:noFill/>
          <a:ln/>
        </p:spPr>
        <p:txBody>
          <a:bodyPr wrap="square" lIns="0" tIns="0" rIns="0" bIns="0" rtlCol="0" anchor="ctr"/>
          <a:lstStyle/>
          <a:p>
            <a:r>
              <a:rPr lang="en-US" sz="1067" b="1" dirty="0">
                <a:solidFill>
                  <a:srgbClr val="2A3439"/>
                </a:solidFill>
                <a:latin typeface="Inter" pitchFamily="34" charset="0"/>
                <a:ea typeface="Inter" pitchFamily="34" charset="-122"/>
                <a:cs typeface="Inter" pitchFamily="34" charset="-120"/>
              </a:rPr>
              <a:t>Emma Lennartsson</a:t>
            </a:r>
            <a:endParaRPr lang="en-US" sz="1067" dirty="0"/>
          </a:p>
        </p:txBody>
      </p:sp>
      <p:sp>
        <p:nvSpPr>
          <p:cNvPr id="12" name="Text 9"/>
          <p:cNvSpPr/>
          <p:nvPr/>
        </p:nvSpPr>
        <p:spPr>
          <a:xfrm>
            <a:off x="877824" y="2328672"/>
            <a:ext cx="195072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Healthcare Director</a:t>
            </a:r>
            <a:endParaRPr lang="en-US" sz="1067" dirty="0"/>
          </a:p>
        </p:txBody>
      </p:sp>
      <p:sp>
        <p:nvSpPr>
          <p:cNvPr id="13" name="Text 10"/>
          <p:cNvSpPr/>
          <p:nvPr/>
        </p:nvSpPr>
        <p:spPr>
          <a:xfrm>
            <a:off x="2865120" y="2328672"/>
            <a:ext cx="2194560" cy="195072"/>
          </a:xfrm>
          <a:prstGeom prst="rect">
            <a:avLst/>
          </a:prstGeom>
          <a:noFill/>
          <a:ln/>
        </p:spPr>
        <p:txBody>
          <a:bodyPr wrap="square" lIns="0" tIns="0" rIns="0" bIns="0" rtlCol="0" anchor="ctr"/>
          <a:lstStyle/>
          <a:p>
            <a:r>
              <a:rPr lang="en-US" sz="1067" b="1" dirty="0">
                <a:solidFill>
                  <a:srgbClr val="2A3439"/>
                </a:solidFill>
                <a:latin typeface="Inter" pitchFamily="34" charset="0"/>
                <a:ea typeface="Inter" pitchFamily="34" charset="-122"/>
                <a:cs typeface="Inter" pitchFamily="34" charset="-120"/>
              </a:rPr>
              <a:t>Anders Ahlsson</a:t>
            </a:r>
            <a:endParaRPr lang="en-US" sz="1067" dirty="0"/>
          </a:p>
        </p:txBody>
      </p:sp>
      <p:sp>
        <p:nvSpPr>
          <p:cNvPr id="15" name="Text 12"/>
          <p:cNvSpPr/>
          <p:nvPr/>
        </p:nvSpPr>
        <p:spPr>
          <a:xfrm>
            <a:off x="877824" y="2767584"/>
            <a:ext cx="195072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Regional Council Chair</a:t>
            </a:r>
            <a:endParaRPr lang="en-US" sz="1067" dirty="0"/>
          </a:p>
        </p:txBody>
      </p:sp>
      <p:sp>
        <p:nvSpPr>
          <p:cNvPr id="16" name="Text 13"/>
          <p:cNvSpPr/>
          <p:nvPr/>
        </p:nvSpPr>
        <p:spPr>
          <a:xfrm>
            <a:off x="2865120" y="2767584"/>
            <a:ext cx="2194560" cy="195072"/>
          </a:xfrm>
          <a:prstGeom prst="rect">
            <a:avLst/>
          </a:prstGeom>
          <a:noFill/>
          <a:ln/>
        </p:spPr>
        <p:txBody>
          <a:bodyPr wrap="square" lIns="0" tIns="0" rIns="0" bIns="0" rtlCol="0" anchor="ctr"/>
          <a:lstStyle/>
          <a:p>
            <a:r>
              <a:rPr lang="en-US" sz="1067" b="1" dirty="0">
                <a:solidFill>
                  <a:srgbClr val="2A3439"/>
                </a:solidFill>
                <a:latin typeface="Inter" pitchFamily="34" charset="0"/>
                <a:ea typeface="Inter" pitchFamily="34" charset="-122"/>
                <a:cs typeface="Inter" pitchFamily="34" charset="-120"/>
              </a:rPr>
              <a:t>Aida Hadžialić (S)</a:t>
            </a:r>
            <a:endParaRPr lang="en-US" sz="1067" dirty="0"/>
          </a:p>
        </p:txBody>
      </p:sp>
      <p:sp>
        <p:nvSpPr>
          <p:cNvPr id="18" name="Text 15"/>
          <p:cNvSpPr/>
          <p:nvPr/>
        </p:nvSpPr>
        <p:spPr>
          <a:xfrm>
            <a:off x="877824" y="3206496"/>
            <a:ext cx="195072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HC Board Chair</a:t>
            </a:r>
            <a:endParaRPr lang="en-US" sz="1067" dirty="0"/>
          </a:p>
        </p:txBody>
      </p:sp>
      <p:sp>
        <p:nvSpPr>
          <p:cNvPr id="19" name="Text 16"/>
          <p:cNvSpPr/>
          <p:nvPr/>
        </p:nvSpPr>
        <p:spPr>
          <a:xfrm>
            <a:off x="2865120" y="3206496"/>
            <a:ext cx="2194560" cy="195072"/>
          </a:xfrm>
          <a:prstGeom prst="rect">
            <a:avLst/>
          </a:prstGeom>
          <a:noFill/>
          <a:ln/>
        </p:spPr>
        <p:txBody>
          <a:bodyPr wrap="square" lIns="0" tIns="0" rIns="0" bIns="0" rtlCol="0" anchor="ctr"/>
          <a:lstStyle/>
          <a:p>
            <a:r>
              <a:rPr lang="en-US" sz="1067" b="1" dirty="0">
                <a:solidFill>
                  <a:srgbClr val="2A3439"/>
                </a:solidFill>
                <a:latin typeface="Inter" pitchFamily="34" charset="0"/>
                <a:ea typeface="Inter" pitchFamily="34" charset="-122"/>
                <a:cs typeface="Inter" pitchFamily="34" charset="-120"/>
              </a:rPr>
              <a:t>Anna Starbrink (L)</a:t>
            </a:r>
            <a:endParaRPr lang="en-US" sz="1067" dirty="0"/>
          </a:p>
        </p:txBody>
      </p:sp>
      <p:sp>
        <p:nvSpPr>
          <p:cNvPr id="21" name="Text 18"/>
          <p:cNvSpPr/>
          <p:nvPr/>
        </p:nvSpPr>
        <p:spPr>
          <a:xfrm>
            <a:off x="877824" y="3645408"/>
            <a:ext cx="195072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Drug Committee Chair</a:t>
            </a:r>
            <a:endParaRPr lang="en-US" sz="1067" dirty="0"/>
          </a:p>
        </p:txBody>
      </p:sp>
      <p:sp>
        <p:nvSpPr>
          <p:cNvPr id="22" name="Text 19"/>
          <p:cNvSpPr/>
          <p:nvPr/>
        </p:nvSpPr>
        <p:spPr>
          <a:xfrm>
            <a:off x="2865120" y="3645408"/>
            <a:ext cx="2194560" cy="195072"/>
          </a:xfrm>
          <a:prstGeom prst="rect">
            <a:avLst/>
          </a:prstGeom>
          <a:noFill/>
          <a:ln/>
        </p:spPr>
        <p:txBody>
          <a:bodyPr wrap="square" lIns="0" tIns="0" rIns="0" bIns="0" rtlCol="0" anchor="ctr"/>
          <a:lstStyle/>
          <a:p>
            <a:r>
              <a:rPr lang="en-US" sz="1067" b="1" dirty="0">
                <a:solidFill>
                  <a:srgbClr val="2A3439"/>
                </a:solidFill>
                <a:latin typeface="Inter" pitchFamily="34" charset="0"/>
                <a:ea typeface="Inter" pitchFamily="34" charset="-122"/>
                <a:cs typeface="Inter" pitchFamily="34" charset="-120"/>
              </a:rPr>
              <a:t>Mats Ek</a:t>
            </a:r>
            <a:endParaRPr lang="en-US" sz="1067" dirty="0"/>
          </a:p>
        </p:txBody>
      </p:sp>
      <p:sp>
        <p:nvSpPr>
          <p:cNvPr id="24" name="Text 21"/>
          <p:cNvSpPr/>
          <p:nvPr/>
        </p:nvSpPr>
        <p:spPr>
          <a:xfrm>
            <a:off x="877824" y="4084320"/>
            <a:ext cx="195072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NT-rådet Rep</a:t>
            </a:r>
            <a:endParaRPr lang="en-US" sz="1067" dirty="0"/>
          </a:p>
        </p:txBody>
      </p:sp>
      <p:sp>
        <p:nvSpPr>
          <p:cNvPr id="25" name="Text 22"/>
          <p:cNvSpPr/>
          <p:nvPr/>
        </p:nvSpPr>
        <p:spPr>
          <a:xfrm>
            <a:off x="2865120" y="4084320"/>
            <a:ext cx="2194560" cy="195072"/>
          </a:xfrm>
          <a:prstGeom prst="rect">
            <a:avLst/>
          </a:prstGeom>
          <a:noFill/>
          <a:ln/>
        </p:spPr>
        <p:txBody>
          <a:bodyPr wrap="square" lIns="0" tIns="0" rIns="0" bIns="0" rtlCol="0" anchor="ctr"/>
          <a:lstStyle/>
          <a:p>
            <a:r>
              <a:rPr lang="en-US" sz="1067" b="1" dirty="0">
                <a:solidFill>
                  <a:srgbClr val="2A3439"/>
                </a:solidFill>
                <a:latin typeface="Inter" pitchFamily="34" charset="0"/>
                <a:ea typeface="Inter" pitchFamily="34" charset="-122"/>
                <a:cs typeface="Inter" pitchFamily="34" charset="-120"/>
              </a:rPr>
              <a:t>Rickard Malmström</a:t>
            </a:r>
            <a:endParaRPr lang="en-US" sz="1067" dirty="0"/>
          </a:p>
        </p:txBody>
      </p:sp>
      <p:sp>
        <p:nvSpPr>
          <p:cNvPr id="27" name="Text 24"/>
          <p:cNvSpPr/>
          <p:nvPr/>
        </p:nvSpPr>
        <p:spPr>
          <a:xfrm>
            <a:off x="877824" y="4523232"/>
            <a:ext cx="195072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NSG Rep</a:t>
            </a:r>
            <a:endParaRPr lang="en-US" sz="1067" dirty="0"/>
          </a:p>
        </p:txBody>
      </p:sp>
      <p:sp>
        <p:nvSpPr>
          <p:cNvPr id="28" name="Text 25"/>
          <p:cNvSpPr/>
          <p:nvPr/>
        </p:nvSpPr>
        <p:spPr>
          <a:xfrm>
            <a:off x="2865120" y="4523232"/>
            <a:ext cx="2194560" cy="195072"/>
          </a:xfrm>
          <a:prstGeom prst="rect">
            <a:avLst/>
          </a:prstGeom>
          <a:noFill/>
          <a:ln/>
        </p:spPr>
        <p:txBody>
          <a:bodyPr wrap="square" lIns="0" tIns="0" rIns="0" bIns="0" rtlCol="0" anchor="ctr"/>
          <a:lstStyle/>
          <a:p>
            <a:r>
              <a:rPr lang="en-US" sz="1067" b="1" dirty="0">
                <a:solidFill>
                  <a:srgbClr val="2A3439"/>
                </a:solidFill>
                <a:latin typeface="Inter" pitchFamily="34" charset="0"/>
                <a:ea typeface="Inter" pitchFamily="34" charset="-122"/>
                <a:cs typeface="Inter" pitchFamily="34" charset="-120"/>
              </a:rPr>
              <a:t>Johan Bratt</a:t>
            </a:r>
            <a:endParaRPr lang="en-US" sz="1067" dirty="0"/>
          </a:p>
        </p:txBody>
      </p:sp>
      <p:sp>
        <p:nvSpPr>
          <p:cNvPr id="30" name="Text 27"/>
          <p:cNvSpPr/>
          <p:nvPr/>
        </p:nvSpPr>
        <p:spPr>
          <a:xfrm>
            <a:off x="886058" y="5020966"/>
            <a:ext cx="3657600" cy="243840"/>
          </a:xfrm>
          <a:prstGeom prst="rect">
            <a:avLst/>
          </a:prstGeom>
          <a:noFill/>
          <a:ln/>
        </p:spPr>
        <p:txBody>
          <a:bodyPr wrap="square" lIns="0" tIns="0" rIns="0" bIns="0" rtlCol="0" anchor="ctr"/>
          <a:lstStyle/>
          <a:p>
            <a:r>
              <a:rPr lang="en-US" sz="1200" b="1" dirty="0">
                <a:solidFill>
                  <a:srgbClr val="1B7FA3"/>
                </a:solidFill>
                <a:latin typeface="Inter" pitchFamily="34" charset="0"/>
                <a:ea typeface="Inter" pitchFamily="34" charset="-122"/>
                <a:cs typeface="Inter" pitchFamily="34" charset="-120"/>
              </a:rPr>
              <a:t>Top Influence Scores</a:t>
            </a:r>
            <a:endParaRPr lang="en-US" sz="1200" dirty="0"/>
          </a:p>
        </p:txBody>
      </p:sp>
      <p:sp>
        <p:nvSpPr>
          <p:cNvPr id="31" name="Text 28"/>
          <p:cNvSpPr/>
          <p:nvPr/>
        </p:nvSpPr>
        <p:spPr>
          <a:xfrm>
            <a:off x="886058" y="5289190"/>
            <a:ext cx="4876800" cy="219456"/>
          </a:xfrm>
          <a:prstGeom prst="rect">
            <a:avLst/>
          </a:prstGeom>
          <a:noFill/>
          <a:ln/>
        </p:spPr>
        <p:txBody>
          <a:bodyPr wrap="square" lIns="0" tIns="0" rIns="0" bIns="0" rtlCol="0" anchor="ctr"/>
          <a:lstStyle/>
          <a:p>
            <a:r>
              <a:rPr lang="en-US" sz="1067" dirty="0">
                <a:solidFill>
                  <a:srgbClr val="2A3439"/>
                </a:solidFill>
                <a:latin typeface="Inter" pitchFamily="34" charset="0"/>
                <a:ea typeface="Inter" pitchFamily="34" charset="-122"/>
                <a:cs typeface="Inter" pitchFamily="34" charset="-120"/>
              </a:rPr>
              <a:t>Rickard Malmström: 114</a:t>
            </a:r>
            <a:endParaRPr lang="en-US" sz="1067" dirty="0"/>
          </a:p>
        </p:txBody>
      </p:sp>
      <p:sp>
        <p:nvSpPr>
          <p:cNvPr id="32" name="Text 29"/>
          <p:cNvSpPr/>
          <p:nvPr/>
        </p:nvSpPr>
        <p:spPr>
          <a:xfrm>
            <a:off x="886058" y="5533030"/>
            <a:ext cx="4876800" cy="219456"/>
          </a:xfrm>
          <a:prstGeom prst="rect">
            <a:avLst/>
          </a:prstGeom>
          <a:noFill/>
          <a:ln/>
        </p:spPr>
        <p:txBody>
          <a:bodyPr wrap="square" lIns="0" tIns="0" rIns="0" bIns="0" rtlCol="0" anchor="ctr"/>
          <a:lstStyle/>
          <a:p>
            <a:r>
              <a:rPr lang="en-US" sz="1067" dirty="0">
                <a:solidFill>
                  <a:srgbClr val="2A3439"/>
                </a:solidFill>
                <a:latin typeface="Inter" pitchFamily="34" charset="0"/>
                <a:ea typeface="Inter" pitchFamily="34" charset="-122"/>
                <a:cs typeface="Inter" pitchFamily="34" charset="-120"/>
              </a:rPr>
              <a:t>Johan Bratt: 102</a:t>
            </a:r>
            <a:endParaRPr lang="en-US" sz="1067" dirty="0"/>
          </a:p>
        </p:txBody>
      </p:sp>
      <p:sp>
        <p:nvSpPr>
          <p:cNvPr id="33" name="Text 30"/>
          <p:cNvSpPr/>
          <p:nvPr/>
        </p:nvSpPr>
        <p:spPr>
          <a:xfrm>
            <a:off x="886058" y="5776870"/>
            <a:ext cx="4876800" cy="219456"/>
          </a:xfrm>
          <a:prstGeom prst="rect">
            <a:avLst/>
          </a:prstGeom>
          <a:noFill/>
          <a:ln/>
        </p:spPr>
        <p:txBody>
          <a:bodyPr wrap="square" lIns="0" tIns="0" rIns="0" bIns="0" rtlCol="0" anchor="ctr"/>
          <a:lstStyle/>
          <a:p>
            <a:r>
              <a:rPr lang="en-US" sz="1067" dirty="0">
                <a:solidFill>
                  <a:srgbClr val="2A3439"/>
                </a:solidFill>
                <a:latin typeface="Inter" pitchFamily="34" charset="0"/>
                <a:ea typeface="Inter" pitchFamily="34" charset="-122"/>
                <a:cs typeface="Inter" pitchFamily="34" charset="-120"/>
              </a:rPr>
              <a:t>Mats Ek: 75</a:t>
            </a:r>
            <a:endParaRPr lang="en-US" sz="1067" dirty="0"/>
          </a:p>
        </p:txBody>
      </p:sp>
      <p:sp>
        <p:nvSpPr>
          <p:cNvPr id="34" name="Shape 31"/>
          <p:cNvSpPr/>
          <p:nvPr/>
        </p:nvSpPr>
        <p:spPr>
          <a:xfrm>
            <a:off x="6339840" y="1341120"/>
            <a:ext cx="5364480" cy="26822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GB" sz="2400"/>
          </a:p>
        </p:txBody>
      </p:sp>
      <p:sp>
        <p:nvSpPr>
          <p:cNvPr id="35" name="Shape 32"/>
          <p:cNvSpPr/>
          <p:nvPr/>
        </p:nvSpPr>
        <p:spPr>
          <a:xfrm>
            <a:off x="6339840" y="1341120"/>
            <a:ext cx="73152" cy="2682240"/>
          </a:xfrm>
          <a:prstGeom prst="rect">
            <a:avLst/>
          </a:prstGeom>
          <a:solidFill>
            <a:srgbClr val="1B7FA3"/>
          </a:solidFill>
          <a:ln/>
        </p:spPr>
        <p:txBody>
          <a:bodyPr/>
          <a:lstStyle/>
          <a:p>
            <a:endParaRPr lang="en-GB" sz="2400"/>
          </a:p>
        </p:txBody>
      </p:sp>
      <p:pic>
        <p:nvPicPr>
          <p:cNvPr id="36" name="Image 1" descr="preencoded.png"/>
          <p:cNvPicPr>
            <a:picLocks noChangeAspect="1"/>
          </p:cNvPicPr>
          <p:nvPr/>
        </p:nvPicPr>
        <p:blipFill>
          <a:blip r:embed="rId4"/>
          <a:stretch>
            <a:fillRect/>
          </a:stretch>
        </p:blipFill>
        <p:spPr>
          <a:xfrm>
            <a:off x="6583680" y="1463040"/>
            <a:ext cx="304800" cy="304800"/>
          </a:xfrm>
          <a:prstGeom prst="rect">
            <a:avLst/>
          </a:prstGeom>
        </p:spPr>
      </p:pic>
      <p:sp>
        <p:nvSpPr>
          <p:cNvPr id="37" name="Text 33"/>
          <p:cNvSpPr/>
          <p:nvPr/>
        </p:nvSpPr>
        <p:spPr>
          <a:xfrm>
            <a:off x="6949440" y="1463040"/>
            <a:ext cx="3657600" cy="304800"/>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Top Product Priorities</a:t>
            </a:r>
            <a:endParaRPr lang="en-US" sz="1600" dirty="0"/>
          </a:p>
        </p:txBody>
      </p:sp>
      <p:sp>
        <p:nvSpPr>
          <p:cNvPr id="38" name="Shape 34"/>
          <p:cNvSpPr/>
          <p:nvPr/>
        </p:nvSpPr>
        <p:spPr>
          <a:xfrm>
            <a:off x="6583680" y="1950720"/>
            <a:ext cx="390144" cy="390144"/>
          </a:xfrm>
          <a:prstGeom prst="ellipse">
            <a:avLst/>
          </a:prstGeom>
          <a:solidFill>
            <a:srgbClr val="2B9FD4"/>
          </a:solidFill>
          <a:ln/>
        </p:spPr>
        <p:txBody>
          <a:bodyPr/>
          <a:lstStyle/>
          <a:p>
            <a:endParaRPr lang="en-GB" sz="2400"/>
          </a:p>
        </p:txBody>
      </p:sp>
      <p:sp>
        <p:nvSpPr>
          <p:cNvPr id="39" name="Text 35"/>
          <p:cNvSpPr/>
          <p:nvPr/>
        </p:nvSpPr>
        <p:spPr>
          <a:xfrm>
            <a:off x="6583680" y="1950720"/>
            <a:ext cx="390144" cy="390144"/>
          </a:xfrm>
          <a:prstGeom prst="rect">
            <a:avLst/>
          </a:prstGeom>
          <a:noFill/>
          <a:ln/>
        </p:spPr>
        <p:txBody>
          <a:bodyPr wrap="square" lIns="0" tIns="0" rIns="0" bIns="0" rtlCol="0" anchor="ctr"/>
          <a:lstStyle/>
          <a:p>
            <a:pPr algn="ctr"/>
            <a:r>
              <a:rPr lang="en-US" sz="1733" b="1" dirty="0">
                <a:solidFill>
                  <a:srgbClr val="FFFFFF"/>
                </a:solidFill>
                <a:latin typeface="Inter" pitchFamily="34" charset="0"/>
                <a:ea typeface="Inter" pitchFamily="34" charset="-122"/>
                <a:cs typeface="Inter" pitchFamily="34" charset="-120"/>
              </a:rPr>
              <a:t>1</a:t>
            </a:r>
            <a:endParaRPr lang="en-US" sz="1733" dirty="0"/>
          </a:p>
        </p:txBody>
      </p:sp>
      <p:sp>
        <p:nvSpPr>
          <p:cNvPr id="40" name="Text 36"/>
          <p:cNvSpPr/>
          <p:nvPr/>
        </p:nvSpPr>
        <p:spPr>
          <a:xfrm>
            <a:off x="7095744" y="1950720"/>
            <a:ext cx="4267200" cy="219456"/>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Vydura (migraine)</a:t>
            </a:r>
            <a:endParaRPr lang="en-US" sz="1333" dirty="0"/>
          </a:p>
        </p:txBody>
      </p:sp>
      <p:sp>
        <p:nvSpPr>
          <p:cNvPr id="41" name="Text 37"/>
          <p:cNvSpPr/>
          <p:nvPr/>
        </p:nvSpPr>
        <p:spPr>
          <a:xfrm>
            <a:off x="7095744" y="2170176"/>
            <a:ext cx="426720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Score: 75.8  |  High opportunity, large patient volume</a:t>
            </a:r>
            <a:endParaRPr lang="en-US" sz="1067" dirty="0"/>
          </a:p>
        </p:txBody>
      </p:sp>
      <p:sp>
        <p:nvSpPr>
          <p:cNvPr id="42" name="Shape 38"/>
          <p:cNvSpPr/>
          <p:nvPr/>
        </p:nvSpPr>
        <p:spPr>
          <a:xfrm>
            <a:off x="6583680" y="2621280"/>
            <a:ext cx="390144" cy="390144"/>
          </a:xfrm>
          <a:prstGeom prst="ellipse">
            <a:avLst/>
          </a:prstGeom>
          <a:solidFill>
            <a:srgbClr val="2B9FD4"/>
          </a:solidFill>
          <a:ln/>
        </p:spPr>
        <p:txBody>
          <a:bodyPr/>
          <a:lstStyle/>
          <a:p>
            <a:endParaRPr lang="en-GB" sz="2400"/>
          </a:p>
        </p:txBody>
      </p:sp>
      <p:sp>
        <p:nvSpPr>
          <p:cNvPr id="43" name="Text 39"/>
          <p:cNvSpPr/>
          <p:nvPr/>
        </p:nvSpPr>
        <p:spPr>
          <a:xfrm>
            <a:off x="6583680" y="2621280"/>
            <a:ext cx="390144" cy="390144"/>
          </a:xfrm>
          <a:prstGeom prst="rect">
            <a:avLst/>
          </a:prstGeom>
          <a:noFill/>
          <a:ln/>
        </p:spPr>
        <p:txBody>
          <a:bodyPr wrap="square" lIns="0" tIns="0" rIns="0" bIns="0" rtlCol="0" anchor="ctr"/>
          <a:lstStyle/>
          <a:p>
            <a:pPr algn="ctr"/>
            <a:r>
              <a:rPr lang="en-US" sz="1733" b="1" dirty="0">
                <a:solidFill>
                  <a:srgbClr val="FFFFFF"/>
                </a:solidFill>
                <a:latin typeface="Inter" pitchFamily="34" charset="0"/>
                <a:ea typeface="Inter" pitchFamily="34" charset="-122"/>
                <a:cs typeface="Inter" pitchFamily="34" charset="-120"/>
              </a:rPr>
              <a:t>2</a:t>
            </a:r>
            <a:endParaRPr lang="en-US" sz="1733" dirty="0"/>
          </a:p>
        </p:txBody>
      </p:sp>
      <p:sp>
        <p:nvSpPr>
          <p:cNvPr id="44" name="Text 40"/>
          <p:cNvSpPr/>
          <p:nvPr/>
        </p:nvSpPr>
        <p:spPr>
          <a:xfrm>
            <a:off x="7095744" y="2621280"/>
            <a:ext cx="4267200" cy="219456"/>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Tukysa (HER2+ BC)</a:t>
            </a:r>
            <a:endParaRPr lang="en-US" sz="1333" dirty="0"/>
          </a:p>
        </p:txBody>
      </p:sp>
      <p:sp>
        <p:nvSpPr>
          <p:cNvPr id="45" name="Text 41"/>
          <p:cNvSpPr/>
          <p:nvPr/>
        </p:nvSpPr>
        <p:spPr>
          <a:xfrm>
            <a:off x="7095744" y="2840736"/>
            <a:ext cx="426720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Score: —  |  Strong uptake, NT agreement in place</a:t>
            </a:r>
            <a:endParaRPr lang="en-US" sz="1067" dirty="0"/>
          </a:p>
        </p:txBody>
      </p:sp>
      <p:sp>
        <p:nvSpPr>
          <p:cNvPr id="46" name="Shape 42"/>
          <p:cNvSpPr/>
          <p:nvPr/>
        </p:nvSpPr>
        <p:spPr>
          <a:xfrm>
            <a:off x="6583680" y="3291840"/>
            <a:ext cx="390144" cy="390144"/>
          </a:xfrm>
          <a:prstGeom prst="ellipse">
            <a:avLst/>
          </a:prstGeom>
          <a:solidFill>
            <a:srgbClr val="2B9FD4"/>
          </a:solidFill>
          <a:ln/>
        </p:spPr>
        <p:txBody>
          <a:bodyPr/>
          <a:lstStyle/>
          <a:p>
            <a:endParaRPr lang="en-GB" sz="2400"/>
          </a:p>
        </p:txBody>
      </p:sp>
      <p:sp>
        <p:nvSpPr>
          <p:cNvPr id="47" name="Text 43"/>
          <p:cNvSpPr/>
          <p:nvPr/>
        </p:nvSpPr>
        <p:spPr>
          <a:xfrm>
            <a:off x="6583680" y="3291840"/>
            <a:ext cx="390144" cy="390144"/>
          </a:xfrm>
          <a:prstGeom prst="rect">
            <a:avLst/>
          </a:prstGeom>
          <a:noFill/>
          <a:ln/>
        </p:spPr>
        <p:txBody>
          <a:bodyPr wrap="square" lIns="0" tIns="0" rIns="0" bIns="0" rtlCol="0" anchor="ctr"/>
          <a:lstStyle/>
          <a:p>
            <a:pPr algn="ctr"/>
            <a:r>
              <a:rPr lang="en-US" sz="1733" b="1" dirty="0">
                <a:solidFill>
                  <a:srgbClr val="FFFFFF"/>
                </a:solidFill>
                <a:latin typeface="Inter" pitchFamily="34" charset="0"/>
                <a:ea typeface="Inter" pitchFamily="34" charset="-122"/>
                <a:cs typeface="Inter" pitchFamily="34" charset="-120"/>
              </a:rPr>
              <a:t>3</a:t>
            </a:r>
            <a:endParaRPr lang="en-US" sz="1733" dirty="0"/>
          </a:p>
        </p:txBody>
      </p:sp>
      <p:sp>
        <p:nvSpPr>
          <p:cNvPr id="48" name="Text 44"/>
          <p:cNvSpPr/>
          <p:nvPr/>
        </p:nvSpPr>
        <p:spPr>
          <a:xfrm>
            <a:off x="7095744" y="3291840"/>
            <a:ext cx="4267200" cy="219456"/>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FSME-IMMUN (TBE)</a:t>
            </a:r>
            <a:endParaRPr lang="en-US" sz="1333" dirty="0"/>
          </a:p>
        </p:txBody>
      </p:sp>
      <p:sp>
        <p:nvSpPr>
          <p:cNvPr id="49" name="Text 45"/>
          <p:cNvSpPr/>
          <p:nvPr/>
        </p:nvSpPr>
        <p:spPr>
          <a:xfrm>
            <a:off x="7095744" y="3511296"/>
            <a:ext cx="4267200" cy="195072"/>
          </a:xfrm>
          <a:prstGeom prst="rect">
            <a:avLst/>
          </a:prstGeom>
          <a:noFill/>
          <a:ln/>
        </p:spPr>
        <p:txBody>
          <a:bodyPr wrap="square" lIns="0" tIns="0" rIns="0" bIns="0" rtlCol="0" anchor="ctr"/>
          <a:lstStyle/>
          <a:p>
            <a:r>
              <a:rPr lang="en-US" sz="1067" dirty="0">
                <a:solidFill>
                  <a:srgbClr val="5D6D7E"/>
                </a:solidFill>
                <a:latin typeface="Inter" pitchFamily="34" charset="0"/>
                <a:ea typeface="Inter" pitchFamily="34" charset="-122"/>
                <a:cs typeface="Inter" pitchFamily="34" charset="-120"/>
              </a:rPr>
              <a:t>Score: —  |  78.6% market share, endemic area</a:t>
            </a:r>
            <a:endParaRPr lang="en-US" sz="1067" dirty="0"/>
          </a:p>
        </p:txBody>
      </p:sp>
      <p:sp>
        <p:nvSpPr>
          <p:cNvPr id="50" name="Text 46"/>
          <p:cNvSpPr/>
          <p:nvPr/>
        </p:nvSpPr>
        <p:spPr>
          <a:xfrm>
            <a:off x="6583680" y="3657600"/>
            <a:ext cx="4876800" cy="268224"/>
          </a:xfrm>
          <a:prstGeom prst="rect">
            <a:avLst/>
          </a:prstGeom>
          <a:noFill/>
          <a:ln/>
        </p:spPr>
        <p:txBody>
          <a:bodyPr wrap="square" lIns="0" tIns="0" rIns="0" bIns="0" rtlCol="0" anchor="ctr"/>
          <a:lstStyle/>
          <a:p>
            <a:r>
              <a:rPr lang="en-US" sz="1333" b="1" dirty="0">
                <a:solidFill>
                  <a:srgbClr val="1B7FA3"/>
                </a:solidFill>
                <a:latin typeface="Inter" pitchFamily="34" charset="0"/>
                <a:ea typeface="Inter" pitchFamily="34" charset="-122"/>
                <a:cs typeface="Inter" pitchFamily="34" charset="-120"/>
              </a:rPr>
              <a:t>Archetype: Academic specialist</a:t>
            </a:r>
            <a:endParaRPr lang="en-US" sz="1333" dirty="0"/>
          </a:p>
        </p:txBody>
      </p:sp>
      <p:sp>
        <p:nvSpPr>
          <p:cNvPr id="51" name="Shape 47"/>
          <p:cNvSpPr/>
          <p:nvPr/>
        </p:nvSpPr>
        <p:spPr>
          <a:xfrm>
            <a:off x="6339840" y="4206240"/>
            <a:ext cx="5364480" cy="182880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GB" sz="2400"/>
          </a:p>
        </p:txBody>
      </p:sp>
      <p:sp>
        <p:nvSpPr>
          <p:cNvPr id="52" name="Shape 48"/>
          <p:cNvSpPr/>
          <p:nvPr/>
        </p:nvSpPr>
        <p:spPr>
          <a:xfrm>
            <a:off x="6339840" y="4206240"/>
            <a:ext cx="73152" cy="1828800"/>
          </a:xfrm>
          <a:prstGeom prst="rect">
            <a:avLst/>
          </a:prstGeom>
          <a:solidFill>
            <a:srgbClr val="C0392B"/>
          </a:solidFill>
          <a:ln/>
        </p:spPr>
        <p:txBody>
          <a:bodyPr/>
          <a:lstStyle/>
          <a:p>
            <a:endParaRPr lang="en-GB" sz="2400"/>
          </a:p>
        </p:txBody>
      </p:sp>
      <p:pic>
        <p:nvPicPr>
          <p:cNvPr id="53" name="Image 2" descr="preencoded.png"/>
          <p:cNvPicPr>
            <a:picLocks noChangeAspect="1"/>
          </p:cNvPicPr>
          <p:nvPr/>
        </p:nvPicPr>
        <p:blipFill>
          <a:blip r:embed="rId5"/>
          <a:stretch>
            <a:fillRect/>
          </a:stretch>
        </p:blipFill>
        <p:spPr>
          <a:xfrm>
            <a:off x="6583680" y="4328160"/>
            <a:ext cx="268224" cy="268224"/>
          </a:xfrm>
          <a:prstGeom prst="rect">
            <a:avLst/>
          </a:prstGeom>
        </p:spPr>
      </p:pic>
      <p:sp>
        <p:nvSpPr>
          <p:cNvPr id="54" name="Text 49"/>
          <p:cNvSpPr/>
          <p:nvPr/>
        </p:nvSpPr>
        <p:spPr>
          <a:xfrm>
            <a:off x="6888480" y="4328160"/>
            <a:ext cx="4267200" cy="268224"/>
          </a:xfrm>
          <a:prstGeom prst="rect">
            <a:avLst/>
          </a:prstGeom>
          <a:noFill/>
          <a:ln/>
        </p:spPr>
        <p:txBody>
          <a:bodyPr wrap="square" lIns="0" tIns="0" rIns="0" bIns="0" rtlCol="0" anchor="ctr"/>
          <a:lstStyle/>
          <a:p>
            <a:r>
              <a:rPr lang="en-US" sz="1467" b="1" dirty="0">
                <a:solidFill>
                  <a:srgbClr val="C0392B"/>
                </a:solidFill>
                <a:latin typeface="Inter" pitchFamily="34" charset="0"/>
                <a:ea typeface="Inter" pitchFamily="34" charset="-122"/>
                <a:cs typeface="Inter" pitchFamily="34" charset="-120"/>
              </a:rPr>
              <a:t>Competitor Pipeline Threats</a:t>
            </a:r>
            <a:endParaRPr lang="en-US" sz="1467" dirty="0"/>
          </a:p>
        </p:txBody>
      </p:sp>
      <p:sp>
        <p:nvSpPr>
          <p:cNvPr id="55" name="Text 50"/>
          <p:cNvSpPr/>
          <p:nvPr/>
        </p:nvSpPr>
        <p:spPr>
          <a:xfrm>
            <a:off x="6583680" y="4693920"/>
            <a:ext cx="4876800" cy="390144"/>
          </a:xfrm>
          <a:prstGeom prst="rect">
            <a:avLst/>
          </a:prstGeom>
          <a:noFill/>
          <a:ln/>
        </p:spPr>
        <p:txBody>
          <a:bodyPr wrap="square" lIns="0" tIns="0" rIns="0" bIns="0" rtlCol="0" anchor="ctr"/>
          <a:lstStyle/>
          <a:p>
            <a:r>
              <a:rPr lang="en-US" sz="1067" b="1" dirty="0">
                <a:solidFill>
                  <a:srgbClr val="2A3439"/>
                </a:solidFill>
                <a:latin typeface="Inter" pitchFamily="34" charset="0"/>
                <a:ea typeface="Inter" pitchFamily="34" charset="-122"/>
                <a:cs typeface="Inter" pitchFamily="34" charset="-120"/>
              </a:rPr>
              <a:t>Enhertu (AstraZeneca/Daiichi)</a:t>
            </a:r>
            <a:endParaRPr lang="en-US" sz="1067" dirty="0"/>
          </a:p>
          <a:p>
            <a:r>
              <a:rPr lang="en-US" sz="1000" dirty="0">
                <a:solidFill>
                  <a:srgbClr val="5D6D7E"/>
                </a:solidFill>
                <a:latin typeface="Inter" pitchFamily="34" charset="0"/>
                <a:ea typeface="Inter" pitchFamily="34" charset="-122"/>
                <a:cs typeface="Inter" pitchFamily="34" charset="-120"/>
              </a:rPr>
              <a:t>HR+ HER2-låg/ultralåg breast cancer, 2L post-endokrin. Affects: Tukysa</a:t>
            </a:r>
            <a:endParaRPr lang="en-US" sz="1067" dirty="0"/>
          </a:p>
        </p:txBody>
      </p:sp>
      <p:sp>
        <p:nvSpPr>
          <p:cNvPr id="56" name="Text 51"/>
          <p:cNvSpPr/>
          <p:nvPr/>
        </p:nvSpPr>
        <p:spPr>
          <a:xfrm>
            <a:off x="6583680" y="5120640"/>
            <a:ext cx="4876800" cy="390144"/>
          </a:xfrm>
          <a:prstGeom prst="rect">
            <a:avLst/>
          </a:prstGeom>
          <a:noFill/>
          <a:ln/>
        </p:spPr>
        <p:txBody>
          <a:bodyPr wrap="square" lIns="0" tIns="0" rIns="0" bIns="0" rtlCol="0" anchor="ctr"/>
          <a:lstStyle/>
          <a:p>
            <a:r>
              <a:rPr lang="en-US" sz="1067" b="1" dirty="0">
                <a:solidFill>
                  <a:srgbClr val="2A3439"/>
                </a:solidFill>
                <a:latin typeface="Inter" pitchFamily="34" charset="0"/>
                <a:ea typeface="Inter" pitchFamily="34" charset="-122"/>
                <a:cs typeface="Inter" pitchFamily="34" charset="-120"/>
              </a:rPr>
              <a:t>Tecvayli (Janssen/J&amp;J)</a:t>
            </a:r>
            <a:endParaRPr lang="en-US" sz="1067" dirty="0"/>
          </a:p>
          <a:p>
            <a:r>
              <a:rPr lang="en-US" sz="1000" dirty="0">
                <a:solidFill>
                  <a:srgbClr val="5D6D7E"/>
                </a:solidFill>
                <a:latin typeface="Inter" pitchFamily="34" charset="0"/>
                <a:ea typeface="Inter" pitchFamily="34" charset="-122"/>
                <a:cs typeface="Inter" pitchFamily="34" charset="-120"/>
              </a:rPr>
              <a:t>Multipelt myelom 2L kombination med daratumumab. Affects: Elrexfio</a:t>
            </a:r>
            <a:endParaRPr lang="en-US" sz="1067" dirty="0"/>
          </a:p>
        </p:txBody>
      </p:sp>
      <p:sp>
        <p:nvSpPr>
          <p:cNvPr id="57" name="Text 52"/>
          <p:cNvSpPr/>
          <p:nvPr/>
        </p:nvSpPr>
        <p:spPr>
          <a:xfrm>
            <a:off x="6583680" y="5547360"/>
            <a:ext cx="4876800" cy="390144"/>
          </a:xfrm>
          <a:prstGeom prst="rect">
            <a:avLst/>
          </a:prstGeom>
          <a:noFill/>
          <a:ln/>
        </p:spPr>
        <p:txBody>
          <a:bodyPr wrap="square" lIns="0" tIns="0" rIns="0" bIns="0" rtlCol="0" anchor="ctr"/>
          <a:lstStyle/>
          <a:p>
            <a:r>
              <a:rPr lang="en-US" sz="1067" b="1" dirty="0">
                <a:solidFill>
                  <a:srgbClr val="2A3439"/>
                </a:solidFill>
                <a:latin typeface="Inter" pitchFamily="34" charset="0"/>
                <a:ea typeface="Inter" pitchFamily="34" charset="-122"/>
                <a:cs typeface="Inter" pitchFamily="34" charset="-120"/>
              </a:rPr>
              <a:t>Verzenios (Eli Lilly)</a:t>
            </a:r>
            <a:endParaRPr lang="en-US" sz="1067" dirty="0"/>
          </a:p>
          <a:p>
            <a:r>
              <a:rPr lang="en-US" sz="1000" dirty="0">
                <a:solidFill>
                  <a:srgbClr val="5D6D7E"/>
                </a:solidFill>
                <a:latin typeface="Inter" pitchFamily="34" charset="0"/>
                <a:ea typeface="Inter" pitchFamily="34" charset="-122"/>
                <a:cs typeface="Inter" pitchFamily="34" charset="-120"/>
              </a:rPr>
              <a:t>CDK4/6 inhibitor — HR+/HER2- breast cancer (2L+ and adjuvant). Affects: Ibrance</a:t>
            </a:r>
            <a:endParaRPr lang="en-US" sz="1067" dirty="0"/>
          </a:p>
        </p:txBody>
      </p:sp>
      <p:sp>
        <p:nvSpPr>
          <p:cNvPr id="58" name="Text 53"/>
          <p:cNvSpPr/>
          <p:nvPr/>
        </p:nvSpPr>
        <p:spPr>
          <a:xfrm>
            <a:off x="609600" y="6400800"/>
            <a:ext cx="9144000" cy="304800"/>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Source: samverkanlakemedel.se, IQVIA, SKR, Viti Science analysis (2024-2026)</a:t>
            </a:r>
            <a:endParaRPr lang="en-US" sz="933" dirty="0"/>
          </a:p>
        </p:txBody>
      </p:sp>
      <p:pic>
        <p:nvPicPr>
          <p:cNvPr id="59" name="Image 3" descr="/home/claude/logo-light.jpg"/>
          <p:cNvPicPr>
            <a:picLocks noChangeAspect="1"/>
          </p:cNvPicPr>
          <p:nvPr/>
        </p:nvPicPr>
        <p:blipFill>
          <a:blip r:embed="rId6"/>
          <a:stretch>
            <a:fillRect/>
          </a:stretch>
        </p:blipFill>
        <p:spPr>
          <a:xfrm>
            <a:off x="9753600" y="6278880"/>
            <a:ext cx="1950720" cy="5486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48768"/>
          </a:xfrm>
          <a:prstGeom prst="rect">
            <a:avLst/>
          </a:prstGeom>
          <a:solidFill>
            <a:srgbClr val="2B9FD4"/>
          </a:solidFill>
          <a:ln/>
        </p:spPr>
        <p:txBody>
          <a:bodyPr/>
          <a:lstStyle/>
          <a:p>
            <a:endParaRPr lang="en-GB" sz="2400"/>
          </a:p>
        </p:txBody>
      </p:sp>
      <p:sp>
        <p:nvSpPr>
          <p:cNvPr id="3" name="Text 1"/>
          <p:cNvSpPr/>
          <p:nvPr/>
        </p:nvSpPr>
        <p:spPr>
          <a:xfrm>
            <a:off x="731520" y="243840"/>
            <a:ext cx="8534400" cy="390144"/>
          </a:xfrm>
          <a:prstGeom prst="rect">
            <a:avLst/>
          </a:prstGeom>
          <a:noFill/>
          <a:ln/>
        </p:spPr>
        <p:txBody>
          <a:bodyPr wrap="square" lIns="0" tIns="0" rIns="0" bIns="0" rtlCol="0" anchor="ctr"/>
          <a:lstStyle/>
          <a:p>
            <a:r>
              <a:rPr lang="en-US" sz="1333" kern="0" spc="400" dirty="0">
                <a:solidFill>
                  <a:srgbClr val="5D6D7E"/>
                </a:solidFill>
                <a:latin typeface="Inter" pitchFamily="34" charset="0"/>
                <a:ea typeface="Inter" pitchFamily="34" charset="-122"/>
                <a:cs typeface="Inter" pitchFamily="34" charset="-120"/>
              </a:rPr>
              <a:t>PART B: REGION STOCKHOLM</a:t>
            </a:r>
            <a:endParaRPr lang="en-US" sz="1333" dirty="0"/>
          </a:p>
        </p:txBody>
      </p:sp>
      <p:sp>
        <p:nvSpPr>
          <p:cNvPr id="4" name="Text 2"/>
          <p:cNvSpPr/>
          <p:nvPr/>
        </p:nvSpPr>
        <p:spPr>
          <a:xfrm>
            <a:off x="731520" y="585216"/>
            <a:ext cx="10363200" cy="609600"/>
          </a:xfrm>
          <a:prstGeom prst="rect">
            <a:avLst/>
          </a:prstGeom>
          <a:noFill/>
          <a:ln/>
        </p:spPr>
        <p:txBody>
          <a:bodyPr wrap="square" lIns="0" tIns="0" rIns="0" bIns="0" rtlCol="0" anchor="ctr"/>
          <a:lstStyle/>
          <a:p>
            <a:r>
              <a:rPr lang="en-US" sz="2933" b="1" dirty="0">
                <a:solidFill>
                  <a:srgbClr val="2A3439"/>
                </a:solidFill>
                <a:latin typeface="Inter" pitchFamily="34" charset="0"/>
                <a:ea typeface="Inter" pitchFamily="34" charset="-122"/>
                <a:cs typeface="Inter" pitchFamily="34" charset="-120"/>
              </a:rPr>
              <a:t>Competitive Landscape &amp; Strategic Positioning</a:t>
            </a:r>
            <a:endParaRPr lang="en-US" sz="2933" dirty="0"/>
          </a:p>
        </p:txBody>
      </p:sp>
      <p:sp>
        <p:nvSpPr>
          <p:cNvPr id="5" name="Shape 3"/>
          <p:cNvSpPr/>
          <p:nvPr/>
        </p:nvSpPr>
        <p:spPr>
          <a:xfrm>
            <a:off x="609600" y="1341120"/>
            <a:ext cx="5486400" cy="25603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GB" sz="2400"/>
          </a:p>
        </p:txBody>
      </p:sp>
      <p:sp>
        <p:nvSpPr>
          <p:cNvPr id="6" name="Shape 4"/>
          <p:cNvSpPr/>
          <p:nvPr/>
        </p:nvSpPr>
        <p:spPr>
          <a:xfrm>
            <a:off x="609600" y="1341120"/>
            <a:ext cx="73152" cy="2560320"/>
          </a:xfrm>
          <a:prstGeom prst="rect">
            <a:avLst/>
          </a:prstGeom>
          <a:solidFill>
            <a:srgbClr val="2B9FD4"/>
          </a:solidFill>
          <a:ln/>
        </p:spPr>
        <p:txBody>
          <a:bodyPr/>
          <a:lstStyle/>
          <a:p>
            <a:endParaRPr lang="en-GB" sz="2400"/>
          </a:p>
        </p:txBody>
      </p:sp>
      <p:pic>
        <p:nvPicPr>
          <p:cNvPr id="7" name="Image 0" descr="preencoded.png"/>
          <p:cNvPicPr>
            <a:picLocks noChangeAspect="1"/>
          </p:cNvPicPr>
          <p:nvPr/>
        </p:nvPicPr>
        <p:blipFill>
          <a:blip r:embed="rId3"/>
          <a:stretch>
            <a:fillRect/>
          </a:stretch>
        </p:blipFill>
        <p:spPr>
          <a:xfrm>
            <a:off x="877824" y="1463040"/>
            <a:ext cx="268224" cy="268224"/>
          </a:xfrm>
          <a:prstGeom prst="rect">
            <a:avLst/>
          </a:prstGeom>
        </p:spPr>
      </p:pic>
      <p:sp>
        <p:nvSpPr>
          <p:cNvPr id="8" name="Text 5"/>
          <p:cNvSpPr/>
          <p:nvPr/>
        </p:nvSpPr>
        <p:spPr>
          <a:xfrm>
            <a:off x="1194816" y="1463040"/>
            <a:ext cx="4267200" cy="268224"/>
          </a:xfrm>
          <a:prstGeom prst="rect">
            <a:avLst/>
          </a:prstGeom>
          <a:noFill/>
          <a:ln/>
        </p:spPr>
        <p:txBody>
          <a:bodyPr wrap="square" lIns="0" tIns="0" rIns="0" bIns="0" rtlCol="0" anchor="ctr"/>
          <a:lstStyle/>
          <a:p>
            <a:r>
              <a:rPr lang="en-US" sz="1467" b="1" dirty="0">
                <a:solidFill>
                  <a:srgbClr val="C0392B"/>
                </a:solidFill>
                <a:latin typeface="Inter" pitchFamily="34" charset="0"/>
                <a:ea typeface="Inter" pitchFamily="34" charset="-122"/>
                <a:cs typeface="Inter" pitchFamily="34" charset="-120"/>
              </a:rPr>
              <a:t>CDK4/6 Competitive Landscape</a:t>
            </a:r>
            <a:endParaRPr lang="en-US" sz="1467" dirty="0"/>
          </a:p>
        </p:txBody>
      </p:sp>
      <p:graphicFrame>
        <p:nvGraphicFramePr>
          <p:cNvPr id="9" name="Chart 0"/>
          <p:cNvGraphicFramePr/>
          <p:nvPr/>
        </p:nvGraphicFramePr>
        <p:xfrm>
          <a:off x="731520" y="1828800"/>
          <a:ext cx="1950720" cy="146304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p:cNvSpPr/>
          <p:nvPr/>
        </p:nvSpPr>
        <p:spPr>
          <a:xfrm>
            <a:off x="2804160" y="1828800"/>
            <a:ext cx="3048000" cy="1828800"/>
          </a:xfrm>
          <a:prstGeom prst="rect">
            <a:avLst/>
          </a:prstGeom>
          <a:noFill/>
          <a:ln/>
        </p:spPr>
        <p:txBody>
          <a:bodyPr wrap="square" lIns="0" tIns="0" rIns="0" bIns="0" rtlCol="0" anchor="ctr"/>
          <a:lstStyle/>
          <a:p>
            <a:pPr>
              <a:lnSpc>
                <a:spcPct val="130000"/>
              </a:lnSpc>
            </a:pPr>
            <a:r>
              <a:rPr lang="en-US" sz="1133" b="1" dirty="0">
                <a:solidFill>
                  <a:srgbClr val="2A3439"/>
                </a:solidFill>
                <a:latin typeface="Inter" pitchFamily="34" charset="0"/>
                <a:ea typeface="Inter" pitchFamily="34" charset="-122"/>
                <a:cs typeface="Inter" pitchFamily="34" charset="-120"/>
              </a:rPr>
              <a:t>Ibrance: 3762 units (23.2%)</a:t>
            </a:r>
            <a:endParaRPr lang="en-US" sz="1133" dirty="0"/>
          </a:p>
          <a:p>
            <a:pPr>
              <a:lnSpc>
                <a:spcPct val="130000"/>
              </a:lnSpc>
            </a:pPr>
            <a:r>
              <a:rPr lang="en-US" sz="1067" dirty="0">
                <a:solidFill>
                  <a:srgbClr val="C0392B"/>
                </a:solidFill>
                <a:latin typeface="Inter" pitchFamily="34" charset="0"/>
                <a:ea typeface="Inter" pitchFamily="34" charset="-122"/>
                <a:cs typeface="Inter" pitchFamily="34" charset="-120"/>
              </a:rPr>
              <a:t>Δ: -18.5%</a:t>
            </a:r>
            <a:endParaRPr lang="en-US" sz="1133" dirty="0"/>
          </a:p>
          <a:p>
            <a:pPr>
              <a:lnSpc>
                <a:spcPct val="130000"/>
              </a:lnSpc>
            </a:pPr>
            <a:r>
              <a:rPr lang="en-US" sz="1067" dirty="0">
                <a:solidFill>
                  <a:srgbClr val="5D6D7E"/>
                </a:solidFill>
                <a:latin typeface="Inter" pitchFamily="34" charset="0"/>
                <a:ea typeface="Inter" pitchFamily="34" charset="-122"/>
                <a:cs typeface="Inter" pitchFamily="34" charset="-120"/>
              </a:rPr>
              <a:t>Verzenios: 6556 units (Δ +114.4%)</a:t>
            </a:r>
            <a:endParaRPr lang="en-US" sz="1133" dirty="0"/>
          </a:p>
          <a:p>
            <a:pPr>
              <a:lnSpc>
                <a:spcPct val="130000"/>
              </a:lnSpc>
            </a:pPr>
            <a:r>
              <a:rPr lang="en-US" sz="1067" dirty="0">
                <a:solidFill>
                  <a:srgbClr val="5D6D7E"/>
                </a:solidFill>
                <a:latin typeface="Inter" pitchFamily="34" charset="0"/>
                <a:ea typeface="Inter" pitchFamily="34" charset="-122"/>
                <a:cs typeface="Inter" pitchFamily="34" charset="-120"/>
              </a:rPr>
              <a:t>Kisqali: 5930 units (Δ +24.9%)</a:t>
            </a:r>
            <a:endParaRPr lang="en-US" sz="1133" dirty="0"/>
          </a:p>
          <a:p>
            <a:pPr>
              <a:lnSpc>
                <a:spcPct val="130000"/>
              </a:lnSpc>
            </a:pPr>
            <a:r>
              <a:rPr lang="en-US" sz="1000" i="1" dirty="0">
                <a:solidFill>
                  <a:srgbClr val="2A3439"/>
                </a:solidFill>
                <a:latin typeface="Inter" pitchFamily="34" charset="0"/>
                <a:ea typeface="Inter" pitchFamily="34" charset="-122"/>
                <a:cs typeface="Inter" pitchFamily="34" charset="-120"/>
              </a:rPr>
              <a:t>Ibrance -18.5% → primarily Verzenios (+114.4%)</a:t>
            </a:r>
            <a:endParaRPr lang="en-US" sz="1133" dirty="0"/>
          </a:p>
        </p:txBody>
      </p:sp>
      <p:sp>
        <p:nvSpPr>
          <p:cNvPr id="11" name="Shape 7"/>
          <p:cNvSpPr/>
          <p:nvPr/>
        </p:nvSpPr>
        <p:spPr>
          <a:xfrm>
            <a:off x="6339840" y="1341120"/>
            <a:ext cx="5364480" cy="25603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GB" sz="2400"/>
          </a:p>
        </p:txBody>
      </p:sp>
      <p:sp>
        <p:nvSpPr>
          <p:cNvPr id="12" name="Shape 8"/>
          <p:cNvSpPr/>
          <p:nvPr/>
        </p:nvSpPr>
        <p:spPr>
          <a:xfrm>
            <a:off x="6339840" y="1341120"/>
            <a:ext cx="73152" cy="2560320"/>
          </a:xfrm>
          <a:prstGeom prst="rect">
            <a:avLst/>
          </a:prstGeom>
          <a:solidFill>
            <a:srgbClr val="1B7FA3"/>
          </a:solidFill>
          <a:ln/>
        </p:spPr>
        <p:txBody>
          <a:bodyPr/>
          <a:lstStyle/>
          <a:p>
            <a:endParaRPr lang="en-GB" sz="2400"/>
          </a:p>
        </p:txBody>
      </p:sp>
      <p:pic>
        <p:nvPicPr>
          <p:cNvPr id="13" name="Image 1" descr="preencoded.png"/>
          <p:cNvPicPr>
            <a:picLocks noChangeAspect="1"/>
          </p:cNvPicPr>
          <p:nvPr/>
        </p:nvPicPr>
        <p:blipFill>
          <a:blip r:embed="rId5"/>
          <a:stretch>
            <a:fillRect/>
          </a:stretch>
        </p:blipFill>
        <p:spPr>
          <a:xfrm>
            <a:off x="6583680" y="1463040"/>
            <a:ext cx="268224" cy="268224"/>
          </a:xfrm>
          <a:prstGeom prst="rect">
            <a:avLst/>
          </a:prstGeom>
        </p:spPr>
      </p:pic>
      <p:sp>
        <p:nvSpPr>
          <p:cNvPr id="14" name="Text 9"/>
          <p:cNvSpPr/>
          <p:nvPr/>
        </p:nvSpPr>
        <p:spPr>
          <a:xfrm>
            <a:off x="6888480" y="1463040"/>
            <a:ext cx="4632960" cy="268224"/>
          </a:xfrm>
          <a:prstGeom prst="rect">
            <a:avLst/>
          </a:prstGeom>
          <a:noFill/>
          <a:ln/>
        </p:spPr>
        <p:txBody>
          <a:bodyPr wrap="square" lIns="0" tIns="0" rIns="0" bIns="0" rtlCol="0" anchor="ctr"/>
          <a:lstStyle/>
          <a:p>
            <a:r>
              <a:rPr lang="en-US" sz="1333" b="1" dirty="0">
                <a:solidFill>
                  <a:srgbClr val="2A3439"/>
                </a:solidFill>
                <a:latin typeface="Inter" pitchFamily="34" charset="0"/>
                <a:ea typeface="Inter" pitchFamily="34" charset="-122"/>
                <a:cs typeface="Inter" pitchFamily="34" charset="-120"/>
              </a:rPr>
              <a:t>Opportunity x Actionability Quadrant</a:t>
            </a:r>
            <a:endParaRPr lang="en-US" sz="1333" dirty="0"/>
          </a:p>
        </p:txBody>
      </p:sp>
      <p:sp>
        <p:nvSpPr>
          <p:cNvPr id="15" name="Text 10"/>
          <p:cNvSpPr/>
          <p:nvPr/>
        </p:nvSpPr>
        <p:spPr>
          <a:xfrm>
            <a:off x="6583680" y="1889760"/>
            <a:ext cx="4876800" cy="1828800"/>
          </a:xfrm>
          <a:prstGeom prst="rect">
            <a:avLst/>
          </a:prstGeom>
          <a:noFill/>
          <a:ln/>
        </p:spPr>
        <p:txBody>
          <a:bodyPr wrap="square" lIns="0" tIns="0" rIns="0" bIns="0" rtlCol="0" anchor="ctr"/>
          <a:lstStyle/>
          <a:p>
            <a:pPr>
              <a:lnSpc>
                <a:spcPct val="140000"/>
              </a:lnSpc>
            </a:pPr>
            <a:r>
              <a:rPr lang="en-US" sz="1200" b="1" dirty="0">
                <a:solidFill>
                  <a:srgbClr val="1B8A5A"/>
                </a:solidFill>
                <a:latin typeface="Inter" pitchFamily="34" charset="0"/>
                <a:ea typeface="Inter" pitchFamily="34" charset="-122"/>
                <a:cs typeface="Inter" pitchFamily="34" charset="-120"/>
              </a:rPr>
              <a:t>Priority Focus (HH): </a:t>
            </a:r>
            <a:r>
              <a:rPr lang="en-US" sz="1133" dirty="0">
                <a:solidFill>
                  <a:srgbClr val="2A3439"/>
                </a:solidFill>
                <a:latin typeface="Inter" pitchFamily="34" charset="0"/>
                <a:ea typeface="Inter" pitchFamily="34" charset="-122"/>
                <a:cs typeface="Inter" pitchFamily="34" charset="-120"/>
              </a:rPr>
              <a:t>Paxlovid, Vydura, Tukysa, Vyndaqel, Talzenna, Elrexfio, Lorbrena/Lorviqua, Abrysvo, Prevenar 20, Hympavzi, Ibrance</a:t>
            </a:r>
            <a:endParaRPr lang="en-US" sz="1200" dirty="0"/>
          </a:p>
          <a:p>
            <a:pPr>
              <a:lnSpc>
                <a:spcPct val="140000"/>
              </a:lnSpc>
            </a:pPr>
            <a:r>
              <a:rPr lang="en-US" sz="1200" b="1" dirty="0">
                <a:solidFill>
                  <a:srgbClr val="E67E22"/>
                </a:solidFill>
                <a:latin typeface="Inter" pitchFamily="34" charset="0"/>
                <a:ea typeface="Inter" pitchFamily="34" charset="-122"/>
                <a:cs typeface="Inter" pitchFamily="34" charset="-120"/>
              </a:rPr>
              <a:t>Engagement Build (HL): </a:t>
            </a:r>
            <a:r>
              <a:rPr lang="en-US" sz="1133" dirty="0">
                <a:solidFill>
                  <a:srgbClr val="2A3439"/>
                </a:solidFill>
                <a:latin typeface="Inter" pitchFamily="34" charset="0"/>
                <a:ea typeface="Inter" pitchFamily="34" charset="-122"/>
                <a:cs typeface="Inter" pitchFamily="34" charset="-120"/>
              </a:rPr>
              <a:t>None</a:t>
            </a:r>
            <a:endParaRPr lang="en-US" sz="1200" dirty="0"/>
          </a:p>
          <a:p>
            <a:pPr>
              <a:lnSpc>
                <a:spcPct val="140000"/>
              </a:lnSpc>
            </a:pPr>
            <a:r>
              <a:rPr lang="en-US" sz="1200" b="1" dirty="0">
                <a:solidFill>
                  <a:srgbClr val="2B9FD4"/>
                </a:solidFill>
                <a:latin typeface="Inter" pitchFamily="34" charset="0"/>
                <a:ea typeface="Inter" pitchFamily="34" charset="-122"/>
                <a:cs typeface="Inter" pitchFamily="34" charset="-120"/>
              </a:rPr>
              <a:t>Quick Win (LH): </a:t>
            </a:r>
            <a:r>
              <a:rPr lang="en-US" sz="1133" dirty="0">
                <a:solidFill>
                  <a:srgbClr val="2A3439"/>
                </a:solidFill>
                <a:latin typeface="Inter" pitchFamily="34" charset="0"/>
                <a:ea typeface="Inter" pitchFamily="34" charset="-122"/>
                <a:cs typeface="Inter" pitchFamily="34" charset="-120"/>
              </a:rPr>
              <a:t>None</a:t>
            </a:r>
            <a:endParaRPr lang="en-US" sz="1200" dirty="0"/>
          </a:p>
          <a:p>
            <a:pPr>
              <a:lnSpc>
                <a:spcPct val="140000"/>
              </a:lnSpc>
            </a:pPr>
            <a:r>
              <a:rPr lang="en-US" sz="1200" b="1" dirty="0">
                <a:solidFill>
                  <a:srgbClr val="5D6D7E"/>
                </a:solidFill>
                <a:latin typeface="Inter" pitchFamily="34" charset="0"/>
                <a:ea typeface="Inter" pitchFamily="34" charset="-122"/>
                <a:cs typeface="Inter" pitchFamily="34" charset="-120"/>
              </a:rPr>
              <a:t>Deprioritize (LL): </a:t>
            </a:r>
            <a:r>
              <a:rPr lang="en-US" sz="1133" dirty="0">
                <a:solidFill>
                  <a:srgbClr val="2A3439"/>
                </a:solidFill>
                <a:latin typeface="Inter" pitchFamily="34" charset="0"/>
                <a:ea typeface="Inter" pitchFamily="34" charset="-122"/>
                <a:cs typeface="Inter" pitchFamily="34" charset="-120"/>
              </a:rPr>
              <a:t>None</a:t>
            </a:r>
            <a:endParaRPr lang="en-US" sz="1200" dirty="0"/>
          </a:p>
        </p:txBody>
      </p:sp>
      <p:sp>
        <p:nvSpPr>
          <p:cNvPr id="16" name="Shape 11"/>
          <p:cNvSpPr/>
          <p:nvPr/>
        </p:nvSpPr>
        <p:spPr>
          <a:xfrm>
            <a:off x="609600" y="4084320"/>
            <a:ext cx="11094720" cy="975360"/>
          </a:xfrm>
          <a:prstGeom prst="rect">
            <a:avLst/>
          </a:prstGeom>
          <a:solidFill>
            <a:srgbClr val="E8F6FC"/>
          </a:solidFill>
          <a:ln/>
        </p:spPr>
        <p:txBody>
          <a:bodyPr/>
          <a:lstStyle/>
          <a:p>
            <a:endParaRPr lang="en-GB" sz="2400"/>
          </a:p>
        </p:txBody>
      </p:sp>
      <p:sp>
        <p:nvSpPr>
          <p:cNvPr id="17" name="Text 12"/>
          <p:cNvSpPr/>
          <p:nvPr/>
        </p:nvSpPr>
        <p:spPr>
          <a:xfrm>
            <a:off x="853440" y="4120896"/>
            <a:ext cx="6096000" cy="304800"/>
          </a:xfrm>
          <a:prstGeom prst="rect">
            <a:avLst/>
          </a:prstGeom>
          <a:noFill/>
          <a:ln/>
        </p:spPr>
        <p:txBody>
          <a:bodyPr wrap="square" lIns="0" tIns="0" rIns="0" bIns="0" rtlCol="0" anchor="ctr"/>
          <a:lstStyle/>
          <a:p>
            <a:r>
              <a:rPr lang="en-US" sz="1467" b="1" dirty="0">
                <a:solidFill>
                  <a:srgbClr val="2A3439"/>
                </a:solidFill>
                <a:latin typeface="Inter" pitchFamily="34" charset="0"/>
                <a:ea typeface="Inter" pitchFamily="34" charset="-122"/>
                <a:cs typeface="Inter" pitchFamily="34" charset="-120"/>
              </a:rPr>
              <a:t>GRP-Adjusted Pharmaceutical Usage</a:t>
            </a:r>
            <a:endParaRPr lang="en-US" sz="1467" dirty="0"/>
          </a:p>
        </p:txBody>
      </p:sp>
      <p:sp>
        <p:nvSpPr>
          <p:cNvPr id="18" name="Text 13"/>
          <p:cNvSpPr/>
          <p:nvPr/>
        </p:nvSpPr>
        <p:spPr>
          <a:xfrm>
            <a:off x="853440" y="4450080"/>
            <a:ext cx="10607040" cy="548640"/>
          </a:xfrm>
          <a:prstGeom prst="rect">
            <a:avLst/>
          </a:prstGeom>
          <a:noFill/>
          <a:ln/>
        </p:spPr>
        <p:txBody>
          <a:bodyPr wrap="square" lIns="0" tIns="0" rIns="0" bIns="0" rtlCol="0" anchor="ctr"/>
          <a:lstStyle/>
          <a:p>
            <a:pPr>
              <a:lnSpc>
                <a:spcPct val="130000"/>
              </a:lnSpc>
            </a:pPr>
            <a:r>
              <a:rPr lang="en-US" sz="1067" dirty="0">
                <a:solidFill>
                  <a:srgbClr val="2A3439"/>
                </a:solidFill>
                <a:latin typeface="Inter" pitchFamily="34" charset="0"/>
                <a:ea typeface="Inter" pitchFamily="34" charset="-122"/>
                <a:cs typeface="Inter" pitchFamily="34" charset="-120"/>
              </a:rPr>
              <a:t>Stockholm has the highest GRP per capita (833 kSEK) but pharma cost per capita (3,104 SEK) is below the national average. This suggests room for increased pharmaceutical utilisation relative to the region's economic capacity. Vaccine sell-in per capita (85 SEK) is mid-range nationally. The combination of high GRP and moderate pharma spend positions Stockholm as a region where increased investment in specialty products could be justified to payers.</a:t>
            </a:r>
            <a:endParaRPr lang="en-US" sz="1067" dirty="0"/>
          </a:p>
        </p:txBody>
      </p:sp>
      <p:sp>
        <p:nvSpPr>
          <p:cNvPr id="19" name="Text 14"/>
          <p:cNvSpPr/>
          <p:nvPr/>
        </p:nvSpPr>
        <p:spPr>
          <a:xfrm>
            <a:off x="609600" y="5242560"/>
            <a:ext cx="3657600" cy="304800"/>
          </a:xfrm>
          <a:prstGeom prst="rect">
            <a:avLst/>
          </a:prstGeom>
          <a:noFill/>
          <a:ln/>
        </p:spPr>
        <p:txBody>
          <a:bodyPr wrap="square" lIns="0" tIns="0" rIns="0" bIns="0" rtlCol="0" anchor="ctr"/>
          <a:lstStyle/>
          <a:p>
            <a:r>
              <a:rPr lang="en-US" sz="1600" b="1" dirty="0">
                <a:solidFill>
                  <a:srgbClr val="2A3439"/>
                </a:solidFill>
                <a:latin typeface="Inter" pitchFamily="34" charset="0"/>
                <a:ea typeface="Inter" pitchFamily="34" charset="-122"/>
                <a:cs typeface="Inter" pitchFamily="34" charset="-120"/>
              </a:rPr>
              <a:t>Strategic Summary</a:t>
            </a:r>
            <a:endParaRPr lang="en-US" sz="1600" dirty="0"/>
          </a:p>
        </p:txBody>
      </p:sp>
      <p:sp>
        <p:nvSpPr>
          <p:cNvPr id="20" name="Text 15"/>
          <p:cNvSpPr/>
          <p:nvPr/>
        </p:nvSpPr>
        <p:spPr>
          <a:xfrm>
            <a:off x="609600" y="5608320"/>
            <a:ext cx="5486400" cy="243840"/>
          </a:xfrm>
          <a:prstGeom prst="rect">
            <a:avLst/>
          </a:prstGeom>
          <a:noFill/>
          <a:ln/>
        </p:spPr>
        <p:txBody>
          <a:bodyPr wrap="square" lIns="0" tIns="0" rIns="0" bIns="0" rtlCol="0" anchor="ctr"/>
          <a:lstStyle/>
          <a:p>
            <a:r>
              <a:rPr lang="en-US" sz="1200" b="1" dirty="0">
                <a:solidFill>
                  <a:srgbClr val="2B9FD4"/>
                </a:solidFill>
                <a:latin typeface="Inter" pitchFamily="34" charset="0"/>
                <a:ea typeface="Inter" pitchFamily="34" charset="-122"/>
                <a:cs typeface="Inter" pitchFamily="34" charset="-120"/>
              </a:rPr>
              <a:t>→  </a:t>
            </a:r>
            <a:r>
              <a:rPr lang="en-US" sz="1133" dirty="0">
                <a:solidFill>
                  <a:srgbClr val="2A3439"/>
                </a:solidFill>
                <a:latin typeface="Inter" pitchFamily="34" charset="0"/>
                <a:ea typeface="Inter" pitchFamily="34" charset="-122"/>
                <a:cs typeface="Inter" pitchFamily="34" charset="-120"/>
              </a:rPr>
              <a:t>Largest patient pool nationally (2.5M pop, 23.5% of Sweden)</a:t>
            </a:r>
            <a:endParaRPr lang="en-US" sz="1200" dirty="0"/>
          </a:p>
        </p:txBody>
      </p:sp>
      <p:sp>
        <p:nvSpPr>
          <p:cNvPr id="21" name="Text 16"/>
          <p:cNvSpPr/>
          <p:nvPr/>
        </p:nvSpPr>
        <p:spPr>
          <a:xfrm>
            <a:off x="6217920" y="5608320"/>
            <a:ext cx="5486400" cy="243840"/>
          </a:xfrm>
          <a:prstGeom prst="rect">
            <a:avLst/>
          </a:prstGeom>
          <a:noFill/>
          <a:ln/>
        </p:spPr>
        <p:txBody>
          <a:bodyPr wrap="square" lIns="0" tIns="0" rIns="0" bIns="0" rtlCol="0" anchor="ctr"/>
          <a:lstStyle/>
          <a:p>
            <a:r>
              <a:rPr lang="en-US" sz="1200" b="1" dirty="0">
                <a:solidFill>
                  <a:srgbClr val="2B9FD4"/>
                </a:solidFill>
                <a:latin typeface="Inter" pitchFamily="34" charset="0"/>
                <a:ea typeface="Inter" pitchFamily="34" charset="-122"/>
                <a:cs typeface="Inter" pitchFamily="34" charset="-120"/>
              </a:rPr>
              <a:t>→  </a:t>
            </a:r>
            <a:r>
              <a:rPr lang="en-US" sz="1133" dirty="0">
                <a:solidFill>
                  <a:srgbClr val="2A3439"/>
                </a:solidFill>
                <a:latin typeface="Inter" pitchFamily="34" charset="0"/>
                <a:ea typeface="Inter" pitchFamily="34" charset="-122"/>
                <a:cs typeface="Inter" pitchFamily="34" charset="-120"/>
              </a:rPr>
              <a:t>Lowest CDK4/6 Pfizer share among major regions (defend Ibrance position)</a:t>
            </a:r>
            <a:endParaRPr lang="en-US" sz="1200" dirty="0"/>
          </a:p>
        </p:txBody>
      </p:sp>
      <p:sp>
        <p:nvSpPr>
          <p:cNvPr id="22" name="Text 17"/>
          <p:cNvSpPr/>
          <p:nvPr/>
        </p:nvSpPr>
        <p:spPr>
          <a:xfrm>
            <a:off x="609600" y="5876544"/>
            <a:ext cx="5486400" cy="243840"/>
          </a:xfrm>
          <a:prstGeom prst="rect">
            <a:avLst/>
          </a:prstGeom>
          <a:noFill/>
          <a:ln/>
        </p:spPr>
        <p:txBody>
          <a:bodyPr wrap="square" lIns="0" tIns="0" rIns="0" bIns="0" rtlCol="0" anchor="ctr"/>
          <a:lstStyle/>
          <a:p>
            <a:r>
              <a:rPr lang="en-US" sz="1200" b="1" dirty="0">
                <a:solidFill>
                  <a:srgbClr val="2B9FD4"/>
                </a:solidFill>
                <a:latin typeface="Inter" pitchFamily="34" charset="0"/>
                <a:ea typeface="Inter" pitchFamily="34" charset="-122"/>
                <a:cs typeface="Inter" pitchFamily="34" charset="-120"/>
              </a:rPr>
              <a:t>→  </a:t>
            </a:r>
            <a:r>
              <a:rPr lang="en-US" sz="1133" dirty="0">
                <a:solidFill>
                  <a:srgbClr val="2A3439"/>
                </a:solidFill>
                <a:latin typeface="Inter" pitchFamily="34" charset="0"/>
                <a:ea typeface="Inter" pitchFamily="34" charset="-122"/>
                <a:cs typeface="Inter" pitchFamily="34" charset="-120"/>
              </a:rPr>
              <a:t>Vyndaqel stronghold (93.7% ATTR-CM market share, 283M SEK)</a:t>
            </a:r>
            <a:endParaRPr lang="en-US" sz="1200" dirty="0"/>
          </a:p>
        </p:txBody>
      </p:sp>
      <p:sp>
        <p:nvSpPr>
          <p:cNvPr id="23" name="Text 18"/>
          <p:cNvSpPr/>
          <p:nvPr/>
        </p:nvSpPr>
        <p:spPr>
          <a:xfrm>
            <a:off x="6217920" y="5876544"/>
            <a:ext cx="5486400" cy="243840"/>
          </a:xfrm>
          <a:prstGeom prst="rect">
            <a:avLst/>
          </a:prstGeom>
          <a:noFill/>
          <a:ln/>
        </p:spPr>
        <p:txBody>
          <a:bodyPr wrap="square" lIns="0" tIns="0" rIns="0" bIns="0" rtlCol="0" anchor="ctr"/>
          <a:lstStyle/>
          <a:p>
            <a:r>
              <a:rPr lang="en-US" sz="1200" b="1" dirty="0">
                <a:solidFill>
                  <a:srgbClr val="2B9FD4"/>
                </a:solidFill>
                <a:latin typeface="Inter" pitchFamily="34" charset="0"/>
                <a:ea typeface="Inter" pitchFamily="34" charset="-122"/>
                <a:cs typeface="Inter" pitchFamily="34" charset="-120"/>
              </a:rPr>
              <a:t>→  </a:t>
            </a:r>
            <a:r>
              <a:rPr lang="en-US" sz="1133" dirty="0">
                <a:solidFill>
                  <a:srgbClr val="2A3439"/>
                </a:solidFill>
                <a:latin typeface="Inter" pitchFamily="34" charset="0"/>
                <a:ea typeface="Inter" pitchFamily="34" charset="-122"/>
                <a:cs typeface="Inter" pitchFamily="34" charset="-120"/>
              </a:rPr>
              <a:t>Largest haemophilia market (Hympavzi launch opportunity)</a:t>
            </a:r>
            <a:endParaRPr lang="en-US" sz="1200" dirty="0"/>
          </a:p>
        </p:txBody>
      </p:sp>
      <p:sp>
        <p:nvSpPr>
          <p:cNvPr id="24" name="Text 19"/>
          <p:cNvSpPr/>
          <p:nvPr/>
        </p:nvSpPr>
        <p:spPr>
          <a:xfrm>
            <a:off x="609600" y="6144768"/>
            <a:ext cx="5486400" cy="243840"/>
          </a:xfrm>
          <a:prstGeom prst="rect">
            <a:avLst/>
          </a:prstGeom>
          <a:noFill/>
          <a:ln/>
        </p:spPr>
        <p:txBody>
          <a:bodyPr wrap="square" lIns="0" tIns="0" rIns="0" bIns="0" rtlCol="0" anchor="ctr"/>
          <a:lstStyle/>
          <a:p>
            <a:r>
              <a:rPr lang="en-US" sz="1200" b="1" dirty="0">
                <a:solidFill>
                  <a:srgbClr val="2B9FD4"/>
                </a:solidFill>
                <a:latin typeface="Inter" pitchFamily="34" charset="0"/>
                <a:ea typeface="Inter" pitchFamily="34" charset="-122"/>
                <a:cs typeface="Inter" pitchFamily="34" charset="-120"/>
              </a:rPr>
              <a:t>→  </a:t>
            </a:r>
            <a:r>
              <a:rPr lang="en-US" sz="1133" dirty="0">
                <a:solidFill>
                  <a:srgbClr val="2A3439"/>
                </a:solidFill>
                <a:latin typeface="Inter" pitchFamily="34" charset="0"/>
                <a:ea typeface="Inter" pitchFamily="34" charset="-122"/>
                <a:cs typeface="Inter" pitchFamily="34" charset="-120"/>
              </a:rPr>
              <a:t>TBE endemic with 78.6% vaccine share (maintain leadership)</a:t>
            </a:r>
            <a:endParaRPr lang="en-US" sz="1200" dirty="0"/>
          </a:p>
        </p:txBody>
      </p:sp>
      <p:sp>
        <p:nvSpPr>
          <p:cNvPr id="25" name="Text 20"/>
          <p:cNvSpPr/>
          <p:nvPr/>
        </p:nvSpPr>
        <p:spPr>
          <a:xfrm>
            <a:off x="6217920" y="6144768"/>
            <a:ext cx="5486400" cy="243840"/>
          </a:xfrm>
          <a:prstGeom prst="rect">
            <a:avLst/>
          </a:prstGeom>
          <a:noFill/>
          <a:ln/>
        </p:spPr>
        <p:txBody>
          <a:bodyPr wrap="square" lIns="0" tIns="0" rIns="0" bIns="0" rtlCol="0" anchor="ctr"/>
          <a:lstStyle/>
          <a:p>
            <a:r>
              <a:rPr lang="en-US" sz="1200" b="1" dirty="0">
                <a:solidFill>
                  <a:srgbClr val="2B9FD4"/>
                </a:solidFill>
                <a:latin typeface="Inter" pitchFamily="34" charset="0"/>
                <a:ea typeface="Inter" pitchFamily="34" charset="-122"/>
                <a:cs typeface="Inter" pitchFamily="34" charset="-120"/>
              </a:rPr>
              <a:t>→  </a:t>
            </a:r>
            <a:r>
              <a:rPr lang="en-US" sz="1133" dirty="0">
                <a:solidFill>
                  <a:srgbClr val="2A3439"/>
                </a:solidFill>
                <a:latin typeface="Inter" pitchFamily="34" charset="0"/>
                <a:ea typeface="Inter" pitchFamily="34" charset="-122"/>
                <a:cs typeface="Inter" pitchFamily="34" charset="-120"/>
              </a:rPr>
              <a:t>Low Prevenar penetration (12.4% share, gap opportunity)</a:t>
            </a:r>
            <a:endParaRPr lang="en-US" sz="1200" dirty="0"/>
          </a:p>
        </p:txBody>
      </p:sp>
      <p:sp>
        <p:nvSpPr>
          <p:cNvPr id="26" name="Text 21"/>
          <p:cNvSpPr/>
          <p:nvPr/>
        </p:nvSpPr>
        <p:spPr>
          <a:xfrm>
            <a:off x="609600" y="6400800"/>
            <a:ext cx="9144000" cy="304800"/>
          </a:xfrm>
          <a:prstGeom prst="rect">
            <a:avLst/>
          </a:prstGeom>
          <a:noFill/>
          <a:ln/>
        </p:spPr>
        <p:txBody>
          <a:bodyPr wrap="square" lIns="0" tIns="0" rIns="0" bIns="0" rtlCol="0" anchor="ctr"/>
          <a:lstStyle/>
          <a:p>
            <a:r>
              <a:rPr lang="en-US" sz="933" dirty="0">
                <a:solidFill>
                  <a:srgbClr val="5D6D7E"/>
                </a:solidFill>
                <a:latin typeface="Inter" pitchFamily="34" charset="0"/>
                <a:ea typeface="Inter" pitchFamily="34" charset="-122"/>
                <a:cs typeface="Inter" pitchFamily="34" charset="-120"/>
              </a:rPr>
              <a:t>Source: IQVIA, SCB, Viti Science composite analysis (2024-2026)</a:t>
            </a:r>
            <a:endParaRPr lang="en-US" sz="933" dirty="0"/>
          </a:p>
        </p:txBody>
      </p:sp>
      <p:pic>
        <p:nvPicPr>
          <p:cNvPr id="27" name="Image 2" descr="/home/claude/logo-light.jpg"/>
          <p:cNvPicPr>
            <a:picLocks noChangeAspect="1"/>
          </p:cNvPicPr>
          <p:nvPr/>
        </p:nvPicPr>
        <p:blipFill>
          <a:blip r:embed="rId6"/>
          <a:stretch>
            <a:fillRect/>
          </a:stretch>
        </p:blipFill>
        <p:spPr>
          <a:xfrm>
            <a:off x="9753600" y="6278880"/>
            <a:ext cx="1950720" cy="5486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7315200" cy="153888"/>
          </a:xfrm>
          <a:prstGeom prst="rect">
            <a:avLst/>
          </a:prstGeom>
          <a:noFill/>
        </p:spPr>
        <p:txBody>
          <a:bodyPr wrap="square" lIns="0" tIns="0" rIns="0" bIns="0">
            <a:spAutoFit/>
          </a:bodyPr>
          <a:lstStyle/>
          <a:p>
            <a:r>
              <a:rPr lang="en-GB" sz="1000" b="1" i="0" dirty="0">
                <a:solidFill>
                  <a:srgbClr val="888888"/>
                </a:solidFill>
              </a:rPr>
              <a:t>QUESTIONS</a:t>
            </a:r>
            <a:endParaRPr sz="1000" b="1" i="0" dirty="0">
              <a:solidFill>
                <a:srgbClr val="888888"/>
              </a:solidFill>
            </a:endParaRPr>
          </a:p>
        </p:txBody>
      </p:sp>
      <p:cxnSp>
        <p:nvCxnSpPr>
          <p:cNvPr id="3" name="Connector 2"/>
          <p:cNvCxnSpPr/>
          <p:nvPr/>
        </p:nvCxnSpPr>
        <p:spPr>
          <a:xfrm>
            <a:off x="457200" y="603504"/>
            <a:ext cx="11274552"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46520"/>
            <a:ext cx="9144000" cy="274320"/>
          </a:xfrm>
          <a:prstGeom prst="rect">
            <a:avLst/>
          </a:prstGeom>
          <a:noFill/>
        </p:spPr>
        <p:txBody>
          <a:bodyPr wrap="square" lIns="0" tIns="0" rIns="0" bIns="0">
            <a:spAutoFit/>
          </a:bodyPr>
          <a:lstStyle/>
          <a:p>
            <a:r>
              <a:rPr sz="900" b="0" i="0">
                <a:solidFill>
                  <a:srgbClr val="888888"/>
                </a:solidFill>
              </a:rPr>
              <a:t>Viti Science · Pfizer Sweden Regional Landscape · April 2026</a:t>
            </a:r>
          </a:p>
        </p:txBody>
      </p:sp>
      <p:sp>
        <p:nvSpPr>
          <p:cNvPr id="5" name="TextBox 4"/>
          <p:cNvSpPr txBox="1"/>
          <p:nvPr/>
        </p:nvSpPr>
        <p:spPr>
          <a:xfrm>
            <a:off x="10515600" y="6446520"/>
            <a:ext cx="1371600" cy="274320"/>
          </a:xfrm>
          <a:prstGeom prst="rect">
            <a:avLst/>
          </a:prstGeom>
          <a:noFill/>
        </p:spPr>
        <p:txBody>
          <a:bodyPr wrap="square" lIns="0" tIns="0" rIns="0" bIns="0">
            <a:spAutoFit/>
          </a:bodyPr>
          <a:lstStyle/>
          <a:p>
            <a:pPr algn="r"/>
            <a:r>
              <a:rPr sz="900" b="0" i="0">
                <a:solidFill>
                  <a:srgbClr val="888888"/>
                </a:solidFill>
              </a:rPr>
              <a:t>5 / 6</a:t>
            </a:r>
          </a:p>
        </p:txBody>
      </p:sp>
      <p:sp>
        <p:nvSpPr>
          <p:cNvPr id="6" name="TextBox 5"/>
          <p:cNvSpPr txBox="1"/>
          <p:nvPr/>
        </p:nvSpPr>
        <p:spPr>
          <a:xfrm>
            <a:off x="457200" y="777240"/>
            <a:ext cx="11274552" cy="369332"/>
          </a:xfrm>
          <a:prstGeom prst="rect">
            <a:avLst/>
          </a:prstGeom>
          <a:noFill/>
        </p:spPr>
        <p:txBody>
          <a:bodyPr wrap="square" lIns="0" tIns="0" rIns="0" bIns="0">
            <a:spAutoFit/>
          </a:bodyPr>
          <a:lstStyle/>
          <a:p>
            <a:r>
              <a:rPr lang="en-GB" sz="2400" b="1" i="0" dirty="0">
                <a:solidFill>
                  <a:srgbClr val="1F3A5F"/>
                </a:solidFill>
              </a:rPr>
              <a:t>Questions</a:t>
            </a:r>
            <a:endParaRPr sz="2400" b="1" i="0" dirty="0">
              <a:solidFill>
                <a:srgbClr val="1F3A5F"/>
              </a:solidFill>
            </a:endParaRPr>
          </a:p>
        </p:txBody>
      </p:sp>
      <p:sp>
        <p:nvSpPr>
          <p:cNvPr id="13" name="TextBox 12"/>
          <p:cNvSpPr txBox="1"/>
          <p:nvPr/>
        </p:nvSpPr>
        <p:spPr>
          <a:xfrm>
            <a:off x="665531" y="1949887"/>
            <a:ext cx="8537846" cy="2376035"/>
          </a:xfrm>
          <a:prstGeom prst="rect">
            <a:avLst/>
          </a:prstGeom>
          <a:noFill/>
        </p:spPr>
        <p:txBody>
          <a:bodyPr wrap="square" lIns="0" tIns="0" rIns="0" bIns="0">
            <a:spAutoFit/>
          </a:bodyPr>
          <a:lstStyle/>
          <a:p>
            <a:pPr marL="228600" indent="-228600">
              <a:lnSpc>
                <a:spcPct val="200000"/>
              </a:lnSpc>
              <a:buFont typeface="+mj-lt"/>
              <a:buAutoNum type="arabicPeriod"/>
            </a:pPr>
            <a:r>
              <a:rPr lang="en-GB" sz="2000" b="0" i="0" dirty="0">
                <a:solidFill>
                  <a:srgbClr val="444444"/>
                </a:solidFill>
              </a:rPr>
              <a:t>Confirm slides format</a:t>
            </a:r>
          </a:p>
          <a:p>
            <a:pPr marL="228600" indent="-228600">
              <a:lnSpc>
                <a:spcPct val="200000"/>
              </a:lnSpc>
              <a:buFont typeface="+mj-lt"/>
              <a:buAutoNum type="arabicPeriod"/>
            </a:pPr>
            <a:r>
              <a:rPr lang="en-GB" sz="2000" b="0" i="0" dirty="0">
                <a:solidFill>
                  <a:srgbClr val="444444"/>
                </a:solidFill>
              </a:rPr>
              <a:t>Drug data from SOS Open Database vs </a:t>
            </a:r>
            <a:r>
              <a:rPr lang="en-GB" sz="2000" dirty="0">
                <a:solidFill>
                  <a:srgbClr val="444444"/>
                </a:solidFill>
              </a:rPr>
              <a:t>Internal AVA Apps data</a:t>
            </a:r>
          </a:p>
          <a:p>
            <a:pPr marL="228600" indent="-228600">
              <a:lnSpc>
                <a:spcPct val="200000"/>
              </a:lnSpc>
              <a:buFont typeface="+mj-lt"/>
              <a:buAutoNum type="arabicPeriod"/>
            </a:pPr>
            <a:r>
              <a:rPr lang="en-GB" sz="2000" dirty="0">
                <a:solidFill>
                  <a:srgbClr val="444444"/>
                </a:solidFill>
              </a:rPr>
              <a:t>Confirm Scope (e.g. interest in opportunity score, </a:t>
            </a:r>
          </a:p>
          <a:p>
            <a:pPr marL="228600" indent="-228600">
              <a:lnSpc>
                <a:spcPct val="200000"/>
              </a:lnSpc>
              <a:buFont typeface="+mj-lt"/>
              <a:buAutoNum type="arabicPeriod"/>
            </a:pPr>
            <a:r>
              <a:rPr lang="en-GB" sz="2000" b="0" i="0" dirty="0">
                <a:solidFill>
                  <a:srgbClr val="444444"/>
                </a:solidFill>
              </a:rPr>
              <a:t>Deadline</a:t>
            </a:r>
          </a:p>
        </p:txBody>
      </p:sp>
    </p:spTree>
    <p:extLst>
      <p:ext uri="{BB962C8B-B14F-4D97-AF65-F5344CB8AC3E}">
        <p14:creationId xmlns:p14="http://schemas.microsoft.com/office/powerpoint/2010/main" val="1741823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7315200" cy="274320"/>
          </a:xfrm>
          <a:prstGeom prst="rect">
            <a:avLst/>
          </a:prstGeom>
          <a:noFill/>
        </p:spPr>
        <p:txBody>
          <a:bodyPr wrap="square" lIns="0" tIns="0" rIns="0" bIns="0">
            <a:spAutoFit/>
          </a:bodyPr>
          <a:lstStyle/>
          <a:p>
            <a:r>
              <a:rPr sz="1000" b="1" i="0">
                <a:solidFill>
                  <a:srgbClr val="888888"/>
                </a:solidFill>
              </a:rPr>
              <a:t>PFIZER SWEDEN  ·  REGIONAL LANDSCAPE</a:t>
            </a:r>
          </a:p>
        </p:txBody>
      </p:sp>
      <p:cxnSp>
        <p:nvCxnSpPr>
          <p:cNvPr id="3" name="Connector 2"/>
          <p:cNvCxnSpPr/>
          <p:nvPr/>
        </p:nvCxnSpPr>
        <p:spPr>
          <a:xfrm>
            <a:off x="457200" y="603504"/>
            <a:ext cx="11274552"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2743200"/>
            <a:ext cx="11274552" cy="1097280"/>
          </a:xfrm>
          <a:prstGeom prst="rect">
            <a:avLst/>
          </a:prstGeom>
          <a:noFill/>
        </p:spPr>
        <p:txBody>
          <a:bodyPr wrap="square" lIns="0" tIns="0" rIns="0" bIns="0">
            <a:spAutoFit/>
          </a:bodyPr>
          <a:lstStyle/>
          <a:p>
            <a:pPr algn="ctr"/>
            <a:r>
              <a:rPr sz="7200" b="1" i="0">
                <a:solidFill>
                  <a:srgbClr val="1F3A5F"/>
                </a:solidFill>
              </a:rPr>
              <a:t>Tack!</a:t>
            </a:r>
          </a:p>
        </p:txBody>
      </p:sp>
      <p:sp>
        <p:nvSpPr>
          <p:cNvPr id="6" name="TextBox 5"/>
          <p:cNvSpPr txBox="1"/>
          <p:nvPr/>
        </p:nvSpPr>
        <p:spPr>
          <a:xfrm>
            <a:off x="457200" y="4709160"/>
            <a:ext cx="11274552" cy="365760"/>
          </a:xfrm>
          <a:prstGeom prst="rect">
            <a:avLst/>
          </a:prstGeom>
          <a:noFill/>
        </p:spPr>
        <p:txBody>
          <a:bodyPr wrap="square" lIns="0" tIns="0" rIns="0" bIns="0">
            <a:spAutoFit/>
          </a:bodyPr>
          <a:lstStyle/>
          <a:p>
            <a:pPr algn="ctr"/>
            <a:r>
              <a:rPr sz="1200" b="0" i="0" dirty="0">
                <a:solidFill>
                  <a:srgbClr val="1F3A5F"/>
                </a:solidFill>
              </a:rPr>
              <a:t>Sergio Flores  ·  Viti Science  ·  sergio.flores@vitiscience.se</a:t>
            </a:r>
            <a:endParaRPr lang="en-SE" sz="1200" b="0" i="0" dirty="0">
              <a:solidFill>
                <a:srgbClr val="1F3A5F"/>
              </a:solidFill>
            </a:endParaRPr>
          </a:p>
        </p:txBody>
      </p:sp>
      <p:sp>
        <p:nvSpPr>
          <p:cNvPr id="8" name="TextBox 7">
            <a:extLst>
              <a:ext uri="{FF2B5EF4-FFF2-40B4-BE49-F238E27FC236}">
                <a16:creationId xmlns:a16="http://schemas.microsoft.com/office/drawing/2014/main" id="{FDDC0401-4AD6-5CDA-5308-9D267853FB1E}"/>
              </a:ext>
            </a:extLst>
          </p:cNvPr>
          <p:cNvSpPr txBox="1"/>
          <p:nvPr/>
        </p:nvSpPr>
        <p:spPr>
          <a:xfrm>
            <a:off x="457200" y="4908452"/>
            <a:ext cx="11274552" cy="184666"/>
          </a:xfrm>
          <a:prstGeom prst="rect">
            <a:avLst/>
          </a:prstGeom>
          <a:noFill/>
        </p:spPr>
        <p:txBody>
          <a:bodyPr wrap="square" lIns="0" tIns="0" rIns="0" bIns="0">
            <a:spAutoFit/>
          </a:bodyPr>
          <a:lstStyle/>
          <a:p>
            <a:pPr algn="ctr"/>
            <a:r>
              <a:rPr lang="en-GB" sz="1200" b="0" i="0" dirty="0">
                <a:solidFill>
                  <a:srgbClr val="1F3A5F"/>
                </a:solidFill>
              </a:rPr>
              <a:t>Mate Szilcz</a:t>
            </a:r>
            <a:r>
              <a:rPr sz="1200" b="0" i="0" dirty="0">
                <a:solidFill>
                  <a:srgbClr val="1F3A5F"/>
                </a:solidFill>
              </a:rPr>
              <a:t>  ·  Viti Science  ·  </a:t>
            </a:r>
            <a:r>
              <a:rPr lang="en-GB" sz="1200" b="0" i="0" dirty="0" err="1">
                <a:solidFill>
                  <a:srgbClr val="1F3A5F"/>
                </a:solidFill>
              </a:rPr>
              <a:t>mate.szilcz</a:t>
            </a:r>
            <a:r>
              <a:rPr sz="1200" b="0" i="0" dirty="0">
                <a:solidFill>
                  <a:srgbClr val="1F3A5F"/>
                </a:solidFill>
              </a:rPr>
              <a:t>@vitiscience.se</a:t>
            </a:r>
            <a:endParaRPr lang="en-SE" sz="1200" b="0" i="0" dirty="0">
              <a:solidFill>
                <a:srgbClr val="1F3A5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7315200" cy="274320"/>
          </a:xfrm>
          <a:prstGeom prst="rect">
            <a:avLst/>
          </a:prstGeom>
          <a:noFill/>
        </p:spPr>
        <p:txBody>
          <a:bodyPr wrap="square" lIns="0" tIns="0" rIns="0" bIns="0">
            <a:spAutoFit/>
          </a:bodyPr>
          <a:lstStyle/>
          <a:p>
            <a:r>
              <a:rPr sz="1000" b="1" i="0">
                <a:solidFill>
                  <a:srgbClr val="888888"/>
                </a:solidFill>
              </a:rPr>
              <a:t>PFIZER SWEDEN  ·  REGIONAL LANDSCAPE</a:t>
            </a:r>
          </a:p>
        </p:txBody>
      </p:sp>
      <p:cxnSp>
        <p:nvCxnSpPr>
          <p:cNvPr id="3" name="Connector 2"/>
          <p:cNvCxnSpPr/>
          <p:nvPr/>
        </p:nvCxnSpPr>
        <p:spPr>
          <a:xfrm>
            <a:off x="457200" y="603504"/>
            <a:ext cx="11274552"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2743200"/>
            <a:ext cx="11274552" cy="1097280"/>
          </a:xfrm>
          <a:prstGeom prst="rect">
            <a:avLst/>
          </a:prstGeom>
          <a:noFill/>
        </p:spPr>
        <p:txBody>
          <a:bodyPr wrap="square" lIns="0" tIns="0" rIns="0" bIns="0">
            <a:spAutoFit/>
          </a:bodyPr>
          <a:lstStyle/>
          <a:p>
            <a:pPr algn="ctr"/>
            <a:r>
              <a:rPr lang="en-GB" sz="7200" b="1" i="0" dirty="0">
                <a:solidFill>
                  <a:srgbClr val="1F3A5F"/>
                </a:solidFill>
              </a:rPr>
              <a:t>Placeholders</a:t>
            </a:r>
            <a:endParaRPr sz="7200" b="1" i="0" dirty="0">
              <a:solidFill>
                <a:srgbClr val="1F3A5F"/>
              </a:solidFill>
            </a:endParaRPr>
          </a:p>
        </p:txBody>
      </p:sp>
    </p:spTree>
    <p:extLst>
      <p:ext uri="{BB962C8B-B14F-4D97-AF65-F5344CB8AC3E}">
        <p14:creationId xmlns:p14="http://schemas.microsoft.com/office/powerpoint/2010/main" val="3269936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35FC494-1861-F87C-5A7E-E65D20FFF35F}"/>
              </a:ext>
            </a:extLst>
          </p:cNvPr>
          <p:cNvPicPr>
            <a:picLocks noChangeAspect="1"/>
          </p:cNvPicPr>
          <p:nvPr/>
        </p:nvPicPr>
        <p:blipFill>
          <a:blip r:embed="rId2"/>
          <a:stretch>
            <a:fillRect/>
          </a:stretch>
        </p:blipFill>
        <p:spPr>
          <a:xfrm>
            <a:off x="5460185" y="1014154"/>
            <a:ext cx="6468579" cy="5166951"/>
          </a:xfrm>
          <a:prstGeom prst="rect">
            <a:avLst/>
          </a:prstGeom>
        </p:spPr>
      </p:pic>
      <p:sp>
        <p:nvSpPr>
          <p:cNvPr id="2" name="TextBox 1"/>
          <p:cNvSpPr txBox="1"/>
          <p:nvPr/>
        </p:nvSpPr>
        <p:spPr>
          <a:xfrm>
            <a:off x="457200" y="292608"/>
            <a:ext cx="7315200" cy="274320"/>
          </a:xfrm>
          <a:prstGeom prst="rect">
            <a:avLst/>
          </a:prstGeom>
          <a:noFill/>
        </p:spPr>
        <p:txBody>
          <a:bodyPr wrap="square" lIns="0" tIns="0" rIns="0" bIns="0">
            <a:spAutoFit/>
          </a:bodyPr>
          <a:lstStyle/>
          <a:p>
            <a:r>
              <a:rPr sz="1000" b="1" i="0">
                <a:solidFill>
                  <a:srgbClr val="888888"/>
                </a:solidFill>
              </a:rPr>
              <a:t>REGIONS MAPPED</a:t>
            </a:r>
          </a:p>
        </p:txBody>
      </p:sp>
      <p:cxnSp>
        <p:nvCxnSpPr>
          <p:cNvPr id="3" name="Connector 2"/>
          <p:cNvCxnSpPr/>
          <p:nvPr/>
        </p:nvCxnSpPr>
        <p:spPr>
          <a:xfrm>
            <a:off x="457200" y="603504"/>
            <a:ext cx="11274552"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46520"/>
            <a:ext cx="9144000" cy="274320"/>
          </a:xfrm>
          <a:prstGeom prst="rect">
            <a:avLst/>
          </a:prstGeom>
          <a:noFill/>
        </p:spPr>
        <p:txBody>
          <a:bodyPr wrap="square" lIns="0" tIns="0" rIns="0" bIns="0">
            <a:spAutoFit/>
          </a:bodyPr>
          <a:lstStyle/>
          <a:p>
            <a:r>
              <a:rPr sz="900" b="0" i="0">
                <a:solidFill>
                  <a:srgbClr val="888888"/>
                </a:solidFill>
              </a:rPr>
              <a:t>Viti Science · Pfizer Sweden Regional Landscape · April 2026</a:t>
            </a:r>
          </a:p>
        </p:txBody>
      </p:sp>
      <p:sp>
        <p:nvSpPr>
          <p:cNvPr id="5" name="TextBox 4"/>
          <p:cNvSpPr txBox="1"/>
          <p:nvPr/>
        </p:nvSpPr>
        <p:spPr>
          <a:xfrm>
            <a:off x="10515600" y="6446520"/>
            <a:ext cx="1371600" cy="274320"/>
          </a:xfrm>
          <a:prstGeom prst="rect">
            <a:avLst/>
          </a:prstGeom>
          <a:noFill/>
        </p:spPr>
        <p:txBody>
          <a:bodyPr wrap="square" lIns="0" tIns="0" rIns="0" bIns="0">
            <a:spAutoFit/>
          </a:bodyPr>
          <a:lstStyle/>
          <a:p>
            <a:pPr algn="r"/>
            <a:r>
              <a:rPr sz="900" b="0" i="0">
                <a:solidFill>
                  <a:srgbClr val="888888"/>
                </a:solidFill>
              </a:rPr>
              <a:t>3 / 6</a:t>
            </a:r>
          </a:p>
        </p:txBody>
      </p:sp>
      <p:sp>
        <p:nvSpPr>
          <p:cNvPr id="6" name="TextBox 5"/>
          <p:cNvSpPr txBox="1"/>
          <p:nvPr/>
        </p:nvSpPr>
        <p:spPr>
          <a:xfrm>
            <a:off x="457200" y="777240"/>
            <a:ext cx="11274552" cy="369332"/>
          </a:xfrm>
          <a:prstGeom prst="rect">
            <a:avLst/>
          </a:prstGeom>
          <a:noFill/>
        </p:spPr>
        <p:txBody>
          <a:bodyPr wrap="square" lIns="0" tIns="0" rIns="0" bIns="0">
            <a:spAutoFit/>
          </a:bodyPr>
          <a:lstStyle/>
          <a:p>
            <a:r>
              <a:rPr lang="en-GB" sz="2400" b="1" dirty="0">
                <a:solidFill>
                  <a:srgbClr val="1F3A5F"/>
                </a:solidFill>
              </a:rPr>
              <a:t>Opportunity matrix</a:t>
            </a:r>
            <a:endParaRPr lang="en-GB" sz="2400" b="1" i="0" dirty="0">
              <a:solidFill>
                <a:srgbClr val="1F3A5F"/>
              </a:solidFill>
            </a:endParaRPr>
          </a:p>
        </p:txBody>
      </p:sp>
      <p:sp>
        <p:nvSpPr>
          <p:cNvPr id="7" name="TextBox 6"/>
          <p:cNvSpPr txBox="1"/>
          <p:nvPr/>
        </p:nvSpPr>
        <p:spPr>
          <a:xfrm>
            <a:off x="457200" y="1508760"/>
            <a:ext cx="4476997" cy="1077218"/>
          </a:xfrm>
          <a:prstGeom prst="rect">
            <a:avLst/>
          </a:prstGeom>
          <a:noFill/>
        </p:spPr>
        <p:txBody>
          <a:bodyPr wrap="square" lIns="0" tIns="0" rIns="0" bIns="0">
            <a:spAutoFit/>
          </a:bodyPr>
          <a:lstStyle/>
          <a:p>
            <a:pPr marL="285750" indent="-285750">
              <a:buFont typeface="Arial" panose="020B0604020202020204" pitchFamily="34" charset="0"/>
              <a:buChar char="•"/>
            </a:pPr>
            <a:r>
              <a:rPr lang="en-GB" sz="1400" b="0" i="0" dirty="0">
                <a:solidFill>
                  <a:srgbClr val="444444"/>
                </a:solidFill>
              </a:rPr>
              <a:t>Twenty-one regions multiplied by eleven products gives 231 cells</a:t>
            </a:r>
          </a:p>
          <a:p>
            <a:pPr marL="285750" indent="-285750">
              <a:buFont typeface="Arial" panose="020B0604020202020204" pitchFamily="34" charset="0"/>
              <a:buChar char="•"/>
            </a:pPr>
            <a:endParaRPr lang="en-GB" sz="1400" b="0" i="0" dirty="0">
              <a:solidFill>
                <a:srgbClr val="444444"/>
              </a:solidFill>
            </a:endParaRPr>
          </a:p>
          <a:p>
            <a:pPr marL="285750" indent="-285750">
              <a:buFont typeface="Arial" panose="020B0604020202020204" pitchFamily="34" charset="0"/>
              <a:buChar char="•"/>
            </a:pPr>
            <a:r>
              <a:rPr lang="en-GB" sz="1400" b="0" i="0" dirty="0">
                <a:solidFill>
                  <a:srgbClr val="444444"/>
                </a:solidFill>
              </a:rPr>
              <a:t>we score every one of them on seven dimensions before aggregating to a single 0–100 Opportunity composite. </a:t>
            </a:r>
          </a:p>
        </p:txBody>
      </p:sp>
      <p:sp>
        <p:nvSpPr>
          <p:cNvPr id="14" name="TextBox 13">
            <a:extLst>
              <a:ext uri="{FF2B5EF4-FFF2-40B4-BE49-F238E27FC236}">
                <a16:creationId xmlns:a16="http://schemas.microsoft.com/office/drawing/2014/main" id="{BF802932-4FD0-0B5C-E8A7-4C8D8E3CBD22}"/>
              </a:ext>
            </a:extLst>
          </p:cNvPr>
          <p:cNvSpPr txBox="1"/>
          <p:nvPr/>
        </p:nvSpPr>
        <p:spPr>
          <a:xfrm>
            <a:off x="536746" y="2920576"/>
            <a:ext cx="5379600" cy="2262158"/>
          </a:xfrm>
          <a:prstGeom prst="rect">
            <a:avLst/>
          </a:prstGeom>
          <a:noFill/>
        </p:spPr>
        <p:txBody>
          <a:bodyPr wrap="square" lIns="0" tIns="0" rIns="0" bIns="0">
            <a:spAutoFit/>
          </a:bodyPr>
          <a:lstStyle/>
          <a:p>
            <a:pPr>
              <a:spcAft>
                <a:spcPts val="600"/>
              </a:spcAft>
            </a:pPr>
            <a:r>
              <a:rPr lang="en-GB" sz="1400" b="1" i="0" dirty="0">
                <a:solidFill>
                  <a:srgbClr val="1F3A5F"/>
                </a:solidFill>
              </a:rPr>
              <a:t>The seven dimensions are</a:t>
            </a:r>
          </a:p>
          <a:p>
            <a:pPr marL="228600" indent="-228600">
              <a:spcAft>
                <a:spcPts val="600"/>
              </a:spcAft>
              <a:buFont typeface="+mj-lt"/>
              <a:buAutoNum type="arabicPeriod"/>
            </a:pPr>
            <a:r>
              <a:rPr lang="en-GB" sz="1400" b="0" i="0" dirty="0">
                <a:solidFill>
                  <a:srgbClr val="444444"/>
                </a:solidFill>
              </a:rPr>
              <a:t>epidemiological fit (weight 25%), </a:t>
            </a:r>
          </a:p>
          <a:p>
            <a:pPr marL="228600" indent="-228600">
              <a:spcAft>
                <a:spcPts val="600"/>
              </a:spcAft>
              <a:buFont typeface="+mj-lt"/>
              <a:buAutoNum type="arabicPeriod"/>
            </a:pPr>
            <a:r>
              <a:rPr lang="en-GB" sz="1400" b="0" i="0" dirty="0">
                <a:solidFill>
                  <a:srgbClr val="444444"/>
                </a:solidFill>
              </a:rPr>
              <a:t>current uptake (10%), </a:t>
            </a:r>
          </a:p>
          <a:p>
            <a:pPr marL="228600" indent="-228600">
              <a:spcAft>
                <a:spcPts val="600"/>
              </a:spcAft>
              <a:buFont typeface="+mj-lt"/>
              <a:buAutoNum type="arabicPeriod"/>
            </a:pPr>
            <a:r>
              <a:rPr lang="en-GB" sz="1400" b="0" i="0" dirty="0">
                <a:solidFill>
                  <a:srgbClr val="444444"/>
                </a:solidFill>
              </a:rPr>
              <a:t>growth pressure (15%), </a:t>
            </a:r>
          </a:p>
          <a:p>
            <a:pPr marL="228600" indent="-228600">
              <a:spcAft>
                <a:spcPts val="600"/>
              </a:spcAft>
              <a:buFont typeface="+mj-lt"/>
              <a:buAutoNum type="arabicPeriod"/>
            </a:pPr>
            <a:r>
              <a:rPr lang="en-GB" sz="1400" b="0" i="0" dirty="0">
                <a:solidFill>
                  <a:srgbClr val="444444"/>
                </a:solidFill>
              </a:rPr>
              <a:t>access friction (10%), </a:t>
            </a:r>
          </a:p>
          <a:p>
            <a:pPr marL="228600" indent="-228600">
              <a:spcAft>
                <a:spcPts val="600"/>
              </a:spcAft>
              <a:buFont typeface="+mj-lt"/>
              <a:buAutoNum type="arabicPeriod"/>
            </a:pPr>
            <a:r>
              <a:rPr lang="en-GB" sz="1400" b="0" i="0" dirty="0">
                <a:solidFill>
                  <a:srgbClr val="444444"/>
                </a:solidFill>
              </a:rPr>
              <a:t>stakeholder leverage (15%), </a:t>
            </a:r>
          </a:p>
          <a:p>
            <a:pPr marL="228600" indent="-228600">
              <a:spcAft>
                <a:spcPts val="600"/>
              </a:spcAft>
              <a:buFont typeface="+mj-lt"/>
              <a:buAutoNum type="arabicPeriod"/>
            </a:pPr>
            <a:r>
              <a:rPr lang="en-GB" sz="1400" b="0" i="0" dirty="0">
                <a:solidFill>
                  <a:srgbClr val="444444"/>
                </a:solidFill>
              </a:rPr>
              <a:t>competitive threat (15%), and </a:t>
            </a:r>
          </a:p>
          <a:p>
            <a:pPr marL="228600" indent="-228600">
              <a:spcAft>
                <a:spcPts val="600"/>
              </a:spcAft>
              <a:buFont typeface="+mj-lt"/>
              <a:buAutoNum type="arabicPeriod"/>
            </a:pPr>
            <a:r>
              <a:rPr lang="en-GB" sz="1400" b="0" i="0" dirty="0">
                <a:solidFill>
                  <a:srgbClr val="444444"/>
                </a:solidFill>
              </a:rPr>
              <a:t>policy relevance (10%).</a:t>
            </a:r>
          </a:p>
        </p:txBody>
      </p:sp>
    </p:spTree>
    <p:extLst>
      <p:ext uri="{BB962C8B-B14F-4D97-AF65-F5344CB8AC3E}">
        <p14:creationId xmlns:p14="http://schemas.microsoft.com/office/powerpoint/2010/main" val="1449255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The image depicts a map of Sￃﾶrmland, Sweden, with a color gradient indicating the highest health equity needs based on four composite indicators: percentage of foreign-born population and percentage of post-secondary education.&#10;&#10;AI-generated content may be incorrect.">
            <a:extLst>
              <a:ext uri="{FF2B5EF4-FFF2-40B4-BE49-F238E27FC236}">
                <a16:creationId xmlns:a16="http://schemas.microsoft.com/office/drawing/2014/main" id="{E2E0014A-350C-CD4D-C154-393BF013F655}"/>
              </a:ext>
            </a:extLst>
          </p:cNvPr>
          <p:cNvPicPr>
            <a:picLocks noChangeAspect="1"/>
          </p:cNvPicPr>
          <p:nvPr/>
        </p:nvPicPr>
        <p:blipFill rotWithShape="1">
          <a:blip r:embed="rId2"/>
          <a:srcRect l="21878" t="9609" r="16106"/>
          <a:stretch/>
        </p:blipFill>
        <p:spPr>
          <a:xfrm>
            <a:off x="7255042" y="717741"/>
            <a:ext cx="4024563" cy="5865939"/>
          </a:xfrm>
          <a:prstGeom prst="rect">
            <a:avLst/>
          </a:prstGeom>
        </p:spPr>
      </p:pic>
      <p:sp>
        <p:nvSpPr>
          <p:cNvPr id="2" name="TextBox 1"/>
          <p:cNvSpPr txBox="1"/>
          <p:nvPr/>
        </p:nvSpPr>
        <p:spPr>
          <a:xfrm>
            <a:off x="457200" y="292608"/>
            <a:ext cx="7315200" cy="274320"/>
          </a:xfrm>
          <a:prstGeom prst="rect">
            <a:avLst/>
          </a:prstGeom>
          <a:noFill/>
        </p:spPr>
        <p:txBody>
          <a:bodyPr wrap="square" lIns="0" tIns="0" rIns="0" bIns="0">
            <a:spAutoFit/>
          </a:bodyPr>
          <a:lstStyle/>
          <a:p>
            <a:r>
              <a:rPr sz="1000" b="1" i="0">
                <a:solidFill>
                  <a:srgbClr val="888888"/>
                </a:solidFill>
              </a:rPr>
              <a:t>REGIONS MAPPED</a:t>
            </a:r>
          </a:p>
        </p:txBody>
      </p:sp>
      <p:cxnSp>
        <p:nvCxnSpPr>
          <p:cNvPr id="3" name="Connector 2"/>
          <p:cNvCxnSpPr/>
          <p:nvPr/>
        </p:nvCxnSpPr>
        <p:spPr>
          <a:xfrm>
            <a:off x="457200" y="603504"/>
            <a:ext cx="11274552"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46520"/>
            <a:ext cx="9144000" cy="274320"/>
          </a:xfrm>
          <a:prstGeom prst="rect">
            <a:avLst/>
          </a:prstGeom>
          <a:noFill/>
        </p:spPr>
        <p:txBody>
          <a:bodyPr wrap="square" lIns="0" tIns="0" rIns="0" bIns="0">
            <a:spAutoFit/>
          </a:bodyPr>
          <a:lstStyle/>
          <a:p>
            <a:r>
              <a:rPr sz="900" b="0" i="0">
                <a:solidFill>
                  <a:srgbClr val="888888"/>
                </a:solidFill>
              </a:rPr>
              <a:t>Viti Science · Pfizer Sweden Regional Landscape · April 2026</a:t>
            </a:r>
          </a:p>
        </p:txBody>
      </p:sp>
      <p:sp>
        <p:nvSpPr>
          <p:cNvPr id="5" name="TextBox 4"/>
          <p:cNvSpPr txBox="1"/>
          <p:nvPr/>
        </p:nvSpPr>
        <p:spPr>
          <a:xfrm>
            <a:off x="10515600" y="6446520"/>
            <a:ext cx="1371600" cy="274320"/>
          </a:xfrm>
          <a:prstGeom prst="rect">
            <a:avLst/>
          </a:prstGeom>
          <a:noFill/>
        </p:spPr>
        <p:txBody>
          <a:bodyPr wrap="square" lIns="0" tIns="0" rIns="0" bIns="0">
            <a:spAutoFit/>
          </a:bodyPr>
          <a:lstStyle/>
          <a:p>
            <a:pPr algn="r"/>
            <a:r>
              <a:rPr sz="900" b="0" i="0">
                <a:solidFill>
                  <a:srgbClr val="888888"/>
                </a:solidFill>
              </a:rPr>
              <a:t>3 / 6</a:t>
            </a:r>
          </a:p>
        </p:txBody>
      </p:sp>
      <p:sp>
        <p:nvSpPr>
          <p:cNvPr id="6" name="TextBox 5"/>
          <p:cNvSpPr txBox="1"/>
          <p:nvPr/>
        </p:nvSpPr>
        <p:spPr>
          <a:xfrm>
            <a:off x="457200" y="777240"/>
            <a:ext cx="11274552" cy="369332"/>
          </a:xfrm>
          <a:prstGeom prst="rect">
            <a:avLst/>
          </a:prstGeom>
          <a:noFill/>
        </p:spPr>
        <p:txBody>
          <a:bodyPr wrap="square" lIns="0" tIns="0" rIns="0" bIns="0">
            <a:spAutoFit/>
          </a:bodyPr>
          <a:lstStyle/>
          <a:p>
            <a:r>
              <a:rPr lang="en-GB" sz="2400" b="1" dirty="0">
                <a:solidFill>
                  <a:srgbClr val="1F3A5F"/>
                </a:solidFill>
              </a:rPr>
              <a:t>Health equity composite rank: unmet need </a:t>
            </a:r>
            <a:r>
              <a:rPr sz="2400" b="1" i="0" dirty="0">
                <a:solidFill>
                  <a:srgbClr val="1F3A5F"/>
                </a:solidFill>
              </a:rPr>
              <a:t>across all 21 regions</a:t>
            </a:r>
          </a:p>
        </p:txBody>
      </p:sp>
      <p:sp>
        <p:nvSpPr>
          <p:cNvPr id="7" name="TextBox 6"/>
          <p:cNvSpPr txBox="1"/>
          <p:nvPr/>
        </p:nvSpPr>
        <p:spPr>
          <a:xfrm>
            <a:off x="457200" y="1508760"/>
            <a:ext cx="11274552" cy="200055"/>
          </a:xfrm>
          <a:prstGeom prst="rect">
            <a:avLst/>
          </a:prstGeom>
          <a:noFill/>
        </p:spPr>
        <p:txBody>
          <a:bodyPr wrap="square" lIns="0" tIns="0" rIns="0" bIns="0">
            <a:spAutoFit/>
          </a:bodyPr>
          <a:lstStyle/>
          <a:p>
            <a:r>
              <a:rPr sz="1300" b="0" i="0" dirty="0">
                <a:solidFill>
                  <a:srgbClr val="444444"/>
                </a:solidFill>
              </a:rPr>
              <a:t>A consistent profile per region ready to filter, compare, or hand to the field.</a:t>
            </a:r>
          </a:p>
        </p:txBody>
      </p:sp>
      <p:sp>
        <p:nvSpPr>
          <p:cNvPr id="14" name="TextBox 13">
            <a:extLst>
              <a:ext uri="{FF2B5EF4-FFF2-40B4-BE49-F238E27FC236}">
                <a16:creationId xmlns:a16="http://schemas.microsoft.com/office/drawing/2014/main" id="{BF802932-4FD0-0B5C-E8A7-4C8D8E3CBD22}"/>
              </a:ext>
            </a:extLst>
          </p:cNvPr>
          <p:cNvSpPr txBox="1"/>
          <p:nvPr/>
        </p:nvSpPr>
        <p:spPr>
          <a:xfrm>
            <a:off x="457200" y="1995293"/>
            <a:ext cx="5379600" cy="3062377"/>
          </a:xfrm>
          <a:prstGeom prst="rect">
            <a:avLst/>
          </a:prstGeom>
          <a:noFill/>
        </p:spPr>
        <p:txBody>
          <a:bodyPr wrap="square" lIns="0" tIns="0" rIns="0" bIns="0">
            <a:spAutoFit/>
          </a:bodyPr>
          <a:lstStyle/>
          <a:p>
            <a:pPr>
              <a:spcAft>
                <a:spcPts val="600"/>
              </a:spcAft>
            </a:pPr>
            <a:r>
              <a:rPr lang="en-GB" sz="1200" b="1" i="0" dirty="0">
                <a:solidFill>
                  <a:srgbClr val="1F3A5F"/>
                </a:solidFill>
              </a:rPr>
              <a:t>Composite of four indicators that together describe unmet need</a:t>
            </a:r>
          </a:p>
          <a:p>
            <a:pPr marL="228600" indent="-228600">
              <a:spcAft>
                <a:spcPts val="600"/>
              </a:spcAft>
              <a:buFont typeface="+mj-lt"/>
              <a:buAutoNum type="arabicPeriod"/>
            </a:pPr>
            <a:r>
              <a:rPr lang="en-GB" sz="1200" b="0" i="0" dirty="0">
                <a:solidFill>
                  <a:srgbClr val="444444"/>
                </a:solidFill>
              </a:rPr>
              <a:t>foreign-born share</a:t>
            </a:r>
          </a:p>
          <a:p>
            <a:pPr marL="228600" indent="-228600">
              <a:spcAft>
                <a:spcPts val="600"/>
              </a:spcAft>
              <a:buFont typeface="+mj-lt"/>
              <a:buAutoNum type="arabicPeriod"/>
            </a:pPr>
            <a:r>
              <a:rPr lang="en-GB" sz="1200" b="0" i="0" dirty="0">
                <a:solidFill>
                  <a:srgbClr val="444444"/>
                </a:solidFill>
              </a:rPr>
              <a:t>post-secondary education share for ages 25–64</a:t>
            </a:r>
          </a:p>
          <a:p>
            <a:pPr marL="228600" indent="-228600">
              <a:spcAft>
                <a:spcPts val="600"/>
              </a:spcAft>
              <a:buFont typeface="+mj-lt"/>
              <a:buAutoNum type="arabicPeriod"/>
            </a:pPr>
            <a:r>
              <a:rPr lang="en-GB" sz="1200" b="0" i="0" dirty="0">
                <a:solidFill>
                  <a:srgbClr val="444444"/>
                </a:solidFill>
              </a:rPr>
              <a:t>age-standardised premature mortality 25–64</a:t>
            </a:r>
          </a:p>
          <a:p>
            <a:pPr marL="228600" indent="-228600">
              <a:spcAft>
                <a:spcPts val="600"/>
              </a:spcAft>
              <a:buFont typeface="+mj-lt"/>
              <a:buAutoNum type="arabicPeriod"/>
            </a:pPr>
            <a:r>
              <a:rPr lang="en-GB" sz="1200" b="0" i="0" dirty="0">
                <a:solidFill>
                  <a:srgbClr val="444444"/>
                </a:solidFill>
              </a:rPr>
              <a:t>three-year moving average healthcare-amenable mortality</a:t>
            </a:r>
          </a:p>
          <a:p>
            <a:pPr marL="228600" indent="-228600">
              <a:spcAft>
                <a:spcPts val="600"/>
              </a:spcAft>
              <a:buFont typeface="+mj-lt"/>
              <a:buAutoNum type="arabicPeriod"/>
            </a:pPr>
            <a:endParaRPr lang="en-GB" sz="1200" b="0" i="0" dirty="0">
              <a:solidFill>
                <a:srgbClr val="444444"/>
              </a:solidFill>
            </a:endParaRPr>
          </a:p>
          <a:p>
            <a:pPr>
              <a:spcAft>
                <a:spcPts val="600"/>
              </a:spcAft>
            </a:pPr>
            <a:r>
              <a:rPr lang="en-GB" sz="1200" b="1" i="0" dirty="0">
                <a:solidFill>
                  <a:srgbClr val="1F3A5F"/>
                </a:solidFill>
              </a:rPr>
              <a:t>The five regions where unmet need ranks highest on this composite:</a:t>
            </a:r>
          </a:p>
          <a:p>
            <a:pPr>
              <a:spcAft>
                <a:spcPts val="600"/>
              </a:spcAft>
            </a:pPr>
            <a:r>
              <a:rPr lang="sv-SE" sz="1200" b="1" i="0" dirty="0">
                <a:solidFill>
                  <a:srgbClr val="444444"/>
                </a:solidFill>
              </a:rPr>
              <a:t>1.	Sörmland</a:t>
            </a:r>
          </a:p>
          <a:p>
            <a:pPr>
              <a:spcAft>
                <a:spcPts val="600"/>
              </a:spcAft>
            </a:pPr>
            <a:r>
              <a:rPr lang="sv-SE" sz="1200" b="1" i="0" dirty="0">
                <a:solidFill>
                  <a:srgbClr val="444444"/>
                </a:solidFill>
              </a:rPr>
              <a:t>2.	Norrbotten</a:t>
            </a:r>
          </a:p>
          <a:p>
            <a:pPr>
              <a:spcAft>
                <a:spcPts val="600"/>
              </a:spcAft>
            </a:pPr>
            <a:r>
              <a:rPr lang="sv-SE" sz="1200" b="1" i="0" dirty="0">
                <a:solidFill>
                  <a:srgbClr val="444444"/>
                </a:solidFill>
              </a:rPr>
              <a:t>3.	Gävleborg</a:t>
            </a:r>
          </a:p>
          <a:p>
            <a:pPr>
              <a:spcAft>
                <a:spcPts val="600"/>
              </a:spcAft>
            </a:pPr>
            <a:r>
              <a:rPr lang="sv-SE" sz="1200" b="1" i="0" dirty="0">
                <a:solidFill>
                  <a:srgbClr val="444444"/>
                </a:solidFill>
              </a:rPr>
              <a:t>4.	Västmanland</a:t>
            </a:r>
          </a:p>
          <a:p>
            <a:pPr>
              <a:spcAft>
                <a:spcPts val="600"/>
              </a:spcAft>
            </a:pPr>
            <a:r>
              <a:rPr lang="sv-SE" sz="1200" b="1" i="0" dirty="0">
                <a:solidFill>
                  <a:srgbClr val="444444"/>
                </a:solidFill>
              </a:rPr>
              <a:t>5.	Örebro</a:t>
            </a:r>
          </a:p>
        </p:txBody>
      </p:sp>
    </p:spTree>
    <p:extLst>
      <p:ext uri="{BB962C8B-B14F-4D97-AF65-F5344CB8AC3E}">
        <p14:creationId xmlns:p14="http://schemas.microsoft.com/office/powerpoint/2010/main" val="1808134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4630ACC-D382-2B89-6FD8-E51B14D1EDA1}"/>
              </a:ext>
            </a:extLst>
          </p:cNvPr>
          <p:cNvPicPr>
            <a:picLocks noChangeAspect="1"/>
          </p:cNvPicPr>
          <p:nvPr/>
        </p:nvPicPr>
        <p:blipFill rotWithShape="1">
          <a:blip r:embed="rId2"/>
          <a:srcRect t="7894" r="17669"/>
          <a:stretch/>
        </p:blipFill>
        <p:spPr>
          <a:xfrm>
            <a:off x="5499193" y="1146572"/>
            <a:ext cx="6550142" cy="4884951"/>
          </a:xfrm>
          <a:prstGeom prst="rect">
            <a:avLst/>
          </a:prstGeom>
        </p:spPr>
      </p:pic>
      <p:sp>
        <p:nvSpPr>
          <p:cNvPr id="2" name="TextBox 1"/>
          <p:cNvSpPr txBox="1"/>
          <p:nvPr/>
        </p:nvSpPr>
        <p:spPr>
          <a:xfrm>
            <a:off x="457200" y="292608"/>
            <a:ext cx="7315200" cy="274320"/>
          </a:xfrm>
          <a:prstGeom prst="rect">
            <a:avLst/>
          </a:prstGeom>
          <a:noFill/>
        </p:spPr>
        <p:txBody>
          <a:bodyPr wrap="square" lIns="0" tIns="0" rIns="0" bIns="0">
            <a:spAutoFit/>
          </a:bodyPr>
          <a:lstStyle/>
          <a:p>
            <a:r>
              <a:rPr sz="1000" b="1" i="0">
                <a:solidFill>
                  <a:srgbClr val="888888"/>
                </a:solidFill>
              </a:rPr>
              <a:t>REGIONS MAPPED</a:t>
            </a:r>
          </a:p>
        </p:txBody>
      </p:sp>
      <p:cxnSp>
        <p:nvCxnSpPr>
          <p:cNvPr id="3" name="Connector 2"/>
          <p:cNvCxnSpPr/>
          <p:nvPr/>
        </p:nvCxnSpPr>
        <p:spPr>
          <a:xfrm>
            <a:off x="457200" y="603504"/>
            <a:ext cx="11274552"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46520"/>
            <a:ext cx="9144000" cy="274320"/>
          </a:xfrm>
          <a:prstGeom prst="rect">
            <a:avLst/>
          </a:prstGeom>
          <a:noFill/>
        </p:spPr>
        <p:txBody>
          <a:bodyPr wrap="square" lIns="0" tIns="0" rIns="0" bIns="0">
            <a:spAutoFit/>
          </a:bodyPr>
          <a:lstStyle/>
          <a:p>
            <a:r>
              <a:rPr sz="900" b="0" i="0">
                <a:solidFill>
                  <a:srgbClr val="888888"/>
                </a:solidFill>
              </a:rPr>
              <a:t>Viti Science · Pfizer Sweden Regional Landscape · April 2026</a:t>
            </a:r>
          </a:p>
        </p:txBody>
      </p:sp>
      <p:sp>
        <p:nvSpPr>
          <p:cNvPr id="5" name="TextBox 4"/>
          <p:cNvSpPr txBox="1"/>
          <p:nvPr/>
        </p:nvSpPr>
        <p:spPr>
          <a:xfrm>
            <a:off x="10515600" y="6446520"/>
            <a:ext cx="1371600" cy="274320"/>
          </a:xfrm>
          <a:prstGeom prst="rect">
            <a:avLst/>
          </a:prstGeom>
          <a:noFill/>
        </p:spPr>
        <p:txBody>
          <a:bodyPr wrap="square" lIns="0" tIns="0" rIns="0" bIns="0">
            <a:spAutoFit/>
          </a:bodyPr>
          <a:lstStyle/>
          <a:p>
            <a:pPr algn="r"/>
            <a:r>
              <a:rPr sz="900" b="0" i="0">
                <a:solidFill>
                  <a:srgbClr val="888888"/>
                </a:solidFill>
              </a:rPr>
              <a:t>3 / 6</a:t>
            </a:r>
          </a:p>
        </p:txBody>
      </p:sp>
      <p:sp>
        <p:nvSpPr>
          <p:cNvPr id="6" name="TextBox 5"/>
          <p:cNvSpPr txBox="1"/>
          <p:nvPr/>
        </p:nvSpPr>
        <p:spPr>
          <a:xfrm>
            <a:off x="457200" y="777240"/>
            <a:ext cx="11274552" cy="369332"/>
          </a:xfrm>
          <a:prstGeom prst="rect">
            <a:avLst/>
          </a:prstGeom>
          <a:noFill/>
        </p:spPr>
        <p:txBody>
          <a:bodyPr wrap="square" lIns="0" tIns="0" rIns="0" bIns="0">
            <a:spAutoFit/>
          </a:bodyPr>
          <a:lstStyle/>
          <a:p>
            <a:r>
              <a:rPr lang="en-GB" sz="2400" b="1" dirty="0">
                <a:solidFill>
                  <a:srgbClr val="1F3A5F"/>
                </a:solidFill>
              </a:rPr>
              <a:t>Adult-vaccine demographic tailwind</a:t>
            </a:r>
            <a:endParaRPr sz="2400" b="1" i="0" dirty="0">
              <a:solidFill>
                <a:srgbClr val="1F3A5F"/>
              </a:solidFill>
            </a:endParaRPr>
          </a:p>
        </p:txBody>
      </p:sp>
      <p:sp>
        <p:nvSpPr>
          <p:cNvPr id="7" name="TextBox 6"/>
          <p:cNvSpPr txBox="1"/>
          <p:nvPr/>
        </p:nvSpPr>
        <p:spPr>
          <a:xfrm>
            <a:off x="457200" y="2179705"/>
            <a:ext cx="4724400" cy="2462213"/>
          </a:xfrm>
          <a:prstGeom prst="rect">
            <a:avLst/>
          </a:prstGeom>
          <a:noFill/>
        </p:spPr>
        <p:txBody>
          <a:bodyPr wrap="square" lIns="0" tIns="0" rIns="0" bIns="0">
            <a:spAutoFit/>
          </a:bodyPr>
          <a:lstStyle/>
          <a:p>
            <a:pPr marL="285750" indent="-285750">
              <a:buFont typeface="Arial" panose="020B0604020202020204" pitchFamily="34" charset="0"/>
              <a:buChar char="•"/>
            </a:pPr>
            <a:r>
              <a:rPr lang="en-GB" sz="1600" b="0" i="0" dirty="0">
                <a:solidFill>
                  <a:srgbClr val="444444"/>
                </a:solidFill>
              </a:rPr>
              <a:t>Adult vaccines are the single most-aligned Pfizer category to Sweden's demographic trajectory.</a:t>
            </a:r>
          </a:p>
          <a:p>
            <a:pPr marL="285750" indent="-285750">
              <a:buFont typeface="Arial" panose="020B0604020202020204" pitchFamily="34" charset="0"/>
              <a:buChar char="•"/>
            </a:pPr>
            <a:endParaRPr lang="en-GB" sz="1600" b="0" i="0" dirty="0">
              <a:solidFill>
                <a:srgbClr val="444444"/>
              </a:solidFill>
            </a:endParaRPr>
          </a:p>
          <a:p>
            <a:pPr marL="285750" indent="-285750">
              <a:buFont typeface="Arial" panose="020B0604020202020204" pitchFamily="34" charset="0"/>
              <a:buChar char="•"/>
            </a:pPr>
            <a:r>
              <a:rPr lang="en-GB" sz="1600" b="0" i="0" dirty="0">
                <a:solidFill>
                  <a:srgbClr val="444444"/>
                </a:solidFill>
              </a:rPr>
              <a:t>Sixteen of twenty-one regions carry the Aging vaccine-growth tag, set by a 65+ share above 22% or 65+ growth above 25% to 2040.</a:t>
            </a:r>
          </a:p>
          <a:p>
            <a:pPr marL="285750" indent="-285750">
              <a:buFont typeface="Arial" panose="020B0604020202020204" pitchFamily="34" charset="0"/>
              <a:buChar char="•"/>
            </a:pPr>
            <a:endParaRPr lang="en-GB" sz="1600" dirty="0">
              <a:solidFill>
                <a:srgbClr val="444444"/>
              </a:solidFill>
            </a:endParaRPr>
          </a:p>
          <a:p>
            <a:pPr marL="285750" indent="-285750">
              <a:buFont typeface="Arial" panose="020B0604020202020204" pitchFamily="34" charset="0"/>
              <a:buChar char="•"/>
            </a:pPr>
            <a:r>
              <a:rPr lang="en-GB" sz="1600" b="0" i="0" dirty="0" err="1">
                <a:solidFill>
                  <a:srgbClr val="444444"/>
                </a:solidFill>
              </a:rPr>
              <a:t>Abrysvo's</a:t>
            </a:r>
            <a:r>
              <a:rPr lang="en-GB" sz="1600" b="0" i="0" dirty="0">
                <a:solidFill>
                  <a:srgbClr val="444444"/>
                </a:solidFill>
              </a:rPr>
              <a:t> 64.5% national share by SEK (56.8% by units) despite NT-</a:t>
            </a:r>
            <a:r>
              <a:rPr lang="en-GB" sz="1600" b="0" i="0" dirty="0" err="1">
                <a:solidFill>
                  <a:srgbClr val="444444"/>
                </a:solidFill>
              </a:rPr>
              <a:t>rådet</a:t>
            </a:r>
            <a:r>
              <a:rPr lang="en-GB" sz="1600" b="0" i="0" dirty="0">
                <a:solidFill>
                  <a:srgbClr val="444444"/>
                </a:solidFill>
              </a:rPr>
              <a:t> "</a:t>
            </a:r>
            <a:r>
              <a:rPr lang="en-GB" sz="1600" b="0" i="0" dirty="0" err="1">
                <a:solidFill>
                  <a:srgbClr val="444444"/>
                </a:solidFill>
              </a:rPr>
              <a:t>avvakta</a:t>
            </a:r>
            <a:r>
              <a:rPr lang="en-GB" sz="1600" b="0" i="0" dirty="0">
                <a:solidFill>
                  <a:srgbClr val="444444"/>
                </a:solidFill>
              </a:rPr>
              <a:t>" shows that regions are already adopting</a:t>
            </a:r>
            <a:endParaRPr sz="1600" b="0" i="0" dirty="0">
              <a:solidFill>
                <a:srgbClr val="444444"/>
              </a:solidFill>
            </a:endParaRPr>
          </a:p>
        </p:txBody>
      </p:sp>
    </p:spTree>
    <p:extLst>
      <p:ext uri="{BB962C8B-B14F-4D97-AF65-F5344CB8AC3E}">
        <p14:creationId xmlns:p14="http://schemas.microsoft.com/office/powerpoint/2010/main" val="28594014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2335</Words>
  <Application>Microsoft Office PowerPoint</Application>
  <PresentationFormat>Widescreen</PresentationFormat>
  <Paragraphs>451</Paragraphs>
  <Slides>18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Máté Szilcz</cp:lastModifiedBy>
  <cp:revision>2</cp:revision>
  <dcterms:created xsi:type="dcterms:W3CDTF">2013-01-27T09:14:16Z</dcterms:created>
  <dcterms:modified xsi:type="dcterms:W3CDTF">2026-04-30T05:29:39Z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1b3f6b2-1f3d-4978-9a06-5527ccb081ae_Enabled">
    <vt:lpwstr>true</vt:lpwstr>
  </property>
  <property fmtid="{D5CDD505-2E9C-101B-9397-08002B2CF9AE}" pid="3" name="MSIP_Label_31b3f6b2-1f3d-4978-9a06-5527ccb081ae_SetDate">
    <vt:lpwstr>2026-04-30T05:29:28Z</vt:lpwstr>
  </property>
  <property fmtid="{D5CDD505-2E9C-101B-9397-08002B2CF9AE}" pid="4" name="MSIP_Label_31b3f6b2-1f3d-4978-9a06-5527ccb081ae_Method">
    <vt:lpwstr>Standard</vt:lpwstr>
  </property>
  <property fmtid="{D5CDD505-2E9C-101B-9397-08002B2CF9AE}" pid="5" name="MSIP_Label_31b3f6b2-1f3d-4978-9a06-5527ccb081ae_Name">
    <vt:lpwstr>Confidential – General Business</vt:lpwstr>
  </property>
  <property fmtid="{D5CDD505-2E9C-101B-9397-08002B2CF9AE}" pid="6" name="MSIP_Label_31b3f6b2-1f3d-4978-9a06-5527ccb081ae_SiteId">
    <vt:lpwstr>ca35a804-900a-4ae1-b39e-13e4d51ccd21</vt:lpwstr>
  </property>
  <property fmtid="{D5CDD505-2E9C-101B-9397-08002B2CF9AE}" pid="7" name="MSIP_Label_31b3f6b2-1f3d-4978-9a06-5527ccb081ae_ActionId">
    <vt:lpwstr>ee858b71-f145-4af0-82ad-650633f635ad</vt:lpwstr>
  </property>
  <property fmtid="{D5CDD505-2E9C-101B-9397-08002B2CF9AE}" pid="8" name="MSIP_Label_31b3f6b2-1f3d-4978-9a06-5527ccb081ae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Internal Use Only</vt:lpwstr>
  </property>
  <property fmtid="{D5CDD505-2E9C-101B-9397-08002B2CF9AE}" pid="11" name="ClassificationContentMarkingHeaderLocations">
    <vt:lpwstr>Office Theme:9</vt:lpwstr>
  </property>
  <property fmtid="{D5CDD505-2E9C-101B-9397-08002B2CF9AE}" pid="12" name="ClassificationContentMarkingHeaderText">
    <vt:lpwstr>Confidential – General Business</vt:lpwstr>
  </property>
</Properties>
</file>