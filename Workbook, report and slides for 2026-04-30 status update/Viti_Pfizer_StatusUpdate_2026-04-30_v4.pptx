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2900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Flores" userId="c4e15b4f6eae9e7b" providerId="LiveId" clId="{C22C187C-38A8-4749-8AC2-4C96FBBEB71C}"/>
    <pc:docChg chg="modSld">
      <pc:chgData name="Sergio Flores" userId="c4e15b4f6eae9e7b" providerId="LiveId" clId="{C22C187C-38A8-4749-8AC2-4C96FBBEB71C}" dt="2026-04-29T20:18:31.844" v="4" actId="20577"/>
      <pc:docMkLst>
        <pc:docMk/>
      </pc:docMkLst>
      <pc:sldChg chg="modSp mod">
        <pc:chgData name="Sergio Flores" userId="c4e15b4f6eae9e7b" providerId="LiveId" clId="{C22C187C-38A8-4749-8AC2-4C96FBBEB71C}" dt="2026-04-29T20:18:31.844" v="4" actId="20577"/>
        <pc:sldMkLst>
          <pc:docMk/>
          <pc:sldMk cId="0" sldId="258"/>
        </pc:sldMkLst>
        <pc:spChg chg="mod">
          <ac:chgData name="Sergio Flores" userId="c4e15b4f6eae9e7b" providerId="LiveId" clId="{C22C187C-38A8-4749-8AC2-4C96FBBEB71C}" dt="2026-04-29T20:18:31.844" v="4" actId="20577"/>
          <ac:spMkLst>
            <pc:docMk/>
            <pc:sldMk cId="0" sldId="258"/>
            <ac:spMk id="7" creationId="{00000000-0000-0000-0000-000000000000}"/>
          </ac:spMkLst>
        </pc:spChg>
      </pc:sldChg>
      <pc:sldChg chg="delSp modSp mod">
        <pc:chgData name="Sergio Flores" userId="c4e15b4f6eae9e7b" providerId="LiveId" clId="{C22C187C-38A8-4749-8AC2-4C96FBBEB71C}" dt="2026-04-29T20:18:04.558" v="2"/>
        <pc:sldMkLst>
          <pc:docMk/>
          <pc:sldMk cId="0" sldId="260"/>
        </pc:sldMkLst>
        <pc:spChg chg="del mod">
          <ac:chgData name="Sergio Flores" userId="c4e15b4f6eae9e7b" providerId="LiveId" clId="{C22C187C-38A8-4749-8AC2-4C96FBBEB71C}" dt="2026-04-29T20:18:04.558" v="2"/>
          <ac:spMkLst>
            <pc:docMk/>
            <pc:sldMk cId="0" sldId="260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888888"/>
                </a:solidFill>
              </a:rPr>
              <a:t>PFIZER SWEDEN  ·  REGIONAL LANDSCAPE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03504"/>
            <a:ext cx="11274552" cy="0"/>
          </a:xfrm>
          <a:prstGeom prst="line">
            <a:avLst/>
          </a:prstGeom>
          <a:ln w="63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5400" b="1" i="0">
                <a:solidFill>
                  <a:srgbClr val="1F3A5F"/>
                </a:solidFill>
              </a:rPr>
              <a:t>Status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0" i="0">
                <a:solidFill>
                  <a:srgbClr val="444444"/>
                </a:solidFill>
              </a:rPr>
              <a:t>Mapping coverage — what we have built across regions and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1F3A5F"/>
                </a:solidFill>
              </a:rPr>
              <a:t>Projektmöte · 30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444444"/>
                </a:solidFill>
              </a:rPr>
              <a:t>With: Mate Toth, Samira Toghanian, Johanna Heselius, Jonas Fuks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</a:rPr>
              <a:t>Viti Science  ·  Sergio Flores  ·  VS-2026-PFI-001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888888"/>
                </a:solidFill>
              </a:rPr>
              <a:t>WHAT WE HAVE MAPPED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03504"/>
            <a:ext cx="11274552" cy="0"/>
          </a:xfrm>
          <a:prstGeom prst="line">
            <a:avLst/>
          </a:prstGeom>
          <a:ln w="63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888888"/>
                </a:solidFill>
              </a:rPr>
              <a:t>Viti Science · Pfizer Sweden Regional Landscape ·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2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>
                <a:solidFill>
                  <a:srgbClr val="1F3A5F"/>
                </a:solidFill>
              </a:rPr>
              <a:t>A region-by-region picture,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0">
                <a:solidFill>
                  <a:srgbClr val="444444"/>
                </a:solidFill>
              </a:rPr>
              <a:t>Six anchors describing the scale of the work — what is captured, where it sits.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453200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3453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1F3A5F"/>
                </a:solidFill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345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093D0"/>
                </a:solidFill>
              </a:rPr>
              <a:t>regions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327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444444"/>
                </a:solidFill>
              </a:rPr>
              <a:t>analysed end-to-end on the same dimensions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7600" y="2286000"/>
            <a:ext cx="3453200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67600" y="2468880"/>
            <a:ext cx="3453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1F3A5F"/>
                </a:solidFill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7600" y="3246120"/>
            <a:ext cx="345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093D0"/>
                </a:solidFill>
              </a:rPr>
              <a:t>Pfizer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9040" y="3520440"/>
            <a:ext cx="327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444444"/>
                </a:solidFill>
              </a:rPr>
              <a:t>covered across vaccines, oncology, RD/IM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8000" y="2286000"/>
            <a:ext cx="3453200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8000" y="2468880"/>
            <a:ext cx="3453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1F3A5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8000" y="3246120"/>
            <a:ext cx="345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093D0"/>
                </a:solidFill>
              </a:rPr>
              <a:t>IQVIA extracts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9440" y="3520440"/>
            <a:ext cx="327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444444"/>
                </a:solidFill>
              </a:rPr>
              <a:t>Vaccines, RD/IM, Oncology — 36 months brick-level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96512"/>
            <a:ext cx="3453200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279392"/>
            <a:ext cx="3453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1F3A5F"/>
                </a:solidFill>
              </a:rPr>
              <a:t>135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56632"/>
            <a:ext cx="345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093D0"/>
                </a:solidFill>
              </a:rPr>
              <a:t>stakeholders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30952"/>
            <a:ext cx="327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444444"/>
                </a:solidFill>
              </a:rPr>
              <a:t>across 21 regions × 5 roles + national tier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67600" y="4096512"/>
            <a:ext cx="3453200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67600" y="4279392"/>
            <a:ext cx="3453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1F3A5F"/>
                </a:solidFill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7600" y="5056632"/>
            <a:ext cx="345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093D0"/>
                </a:solidFill>
              </a:rPr>
              <a:t>cornerstone individuals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9040" y="5330952"/>
            <a:ext cx="327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444444"/>
                </a:solidFill>
              </a:rPr>
              <a:t>identified across NT-rådet, NSG, regional LK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8000" y="4096512"/>
            <a:ext cx="3453200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8000" y="4279392"/>
            <a:ext cx="3453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1F3A5F"/>
                </a:solidFill>
              </a:rPr>
              <a:t>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8000" y="5056632"/>
            <a:ext cx="345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093D0"/>
                </a:solidFill>
              </a:rPr>
              <a:t>workbook sheets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9440" y="5330952"/>
            <a:ext cx="327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444444"/>
                </a:solidFill>
              </a:rPr>
              <a:t>of derived data, sources, and methodology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F3A5F"/>
                </a:solidFill>
              </a:rPr>
              <a:t>Captured in the master workbook (v28, 65 sheets) and the stakeholder mapping (v10). IQVIA layers cover April 2023 – March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888888"/>
                </a:solidFill>
              </a:rPr>
              <a:t>REGIONS MAPPED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03504"/>
            <a:ext cx="11274552" cy="0"/>
          </a:xfrm>
          <a:prstGeom prst="line">
            <a:avLst/>
          </a:prstGeom>
          <a:ln w="63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888888"/>
                </a:solidFill>
              </a:rPr>
              <a:t>Viti Science · Pfizer Sweden Regional Landscape ·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>
                <a:solidFill>
                  <a:srgbClr val="1F3A5F"/>
                </a:solidFill>
              </a:rPr>
              <a:t>Same dimensions captured across all 21 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7455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0" dirty="0">
                <a:solidFill>
                  <a:srgbClr val="444444"/>
                </a:solidFill>
              </a:rPr>
              <a:t>A consistent profile per region ready to filter, compare, or hand to the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537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F3A5F"/>
                </a:solidFill>
              </a:rPr>
              <a:t>Dimensions captured (per region)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5379600" cy="3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Population, demographics, 65+ growth — current and projected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Life expectancy, cancer burden, mortality — incidence by site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Specialist wait times, quality and access KPIs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Pfizer Rx footprint — Rx volumes and sell-in by product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Vaccine market share and sales detail (SEK and units)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Regulatory signals — NT-rådet, TLV, RCC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Regional governance structure — regionstyrelse, HSN, LK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Verksamhetsplan and regional plans, where published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Named stakeholders and the regional LK ledamot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000" y="2286000"/>
            <a:ext cx="537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F3A5F"/>
                </a:solidFill>
              </a:rPr>
              <a:t>Data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000" y="2743200"/>
            <a:ext cx="5379600" cy="3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SCB — population, demographics, projections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Socialstyrelsen, Cancerregistret — burden and mortality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Kolada — quality, access, KPIs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IQVIA — three extracts: Vaccines, RD/IM, Oncology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Läkemedelsregistret — Rx volumes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NT-rådet, TLV — recommendation and reimbursement state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RCC — regional cancer-care signals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21 region websites — governance, plans, rosters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</a:rPr>
              <a:t>Public meeting minutes — committee membership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F3A5F"/>
                </a:solidFill>
              </a:rPr>
              <a:t>Each region has its row in the Region master sheet; 65 underlying tabs hold per-source detail. IQVIA layers cover April 2023 – March 2026 at brick-level granularity.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888888"/>
                </a:solidFill>
              </a:rPr>
              <a:t>STAKEHOLDERS MAPPED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03504"/>
            <a:ext cx="11274552" cy="0"/>
          </a:xfrm>
          <a:prstGeom prst="line">
            <a:avLst/>
          </a:prstGeom>
          <a:ln w="63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888888"/>
                </a:solidFill>
              </a:rPr>
              <a:t>Viti Science · Pfizer Sweden Regional Landscape ·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>
                <a:solidFill>
                  <a:srgbClr val="1F3A5F"/>
                </a:solidFill>
              </a:rPr>
              <a:t>135 named individuals across regional and national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0">
                <a:solidFill>
                  <a:srgbClr val="444444"/>
                </a:solidFill>
              </a:rPr>
              <a:t>A 21 × 5 grid for the regions, with the national governance tier layered above.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537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F3A5F"/>
                </a:solidFill>
              </a:rPr>
              <a:t>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5379600" cy="4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3A5F"/>
                </a:solidFill>
              </a:rPr>
              <a:t>21 regions × 5 roles  =  105 cells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444444"/>
                </a:solidFill>
              </a:rPr>
              <a:t>Regiondirektör (RD)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444444"/>
                </a:solidFill>
              </a:rPr>
              <a:t>Hälso- och sjukvårdsdirektör (HSD)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444444"/>
                </a:solidFill>
              </a:rPr>
              <a:t>Regionstyrelsens ordförande (RS ordf)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444444"/>
                </a:solidFill>
              </a:rPr>
              <a:t>Hälso- och sjukvårdsnämndens ordförande (HSN ordf)</a:t>
            </a:r>
          </a:p>
          <a:p>
            <a:pPr lvl="1">
              <a:spcAft>
                <a:spcPts val="1200"/>
              </a:spcAft>
            </a:pPr>
            <a:r>
              <a:rPr sz="1200" b="0" i="0">
                <a:solidFill>
                  <a:srgbClr val="444444"/>
                </a:solidFill>
              </a:rPr>
              <a:t>Läkemedelskommittén ordförande (LK ordf)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3A5F"/>
                </a:solidFill>
              </a:rPr>
              <a:t>National tier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444444"/>
                </a:solidFill>
              </a:rPr>
              <a:t>NT-rådet — ordförande, vice ordf, members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444444"/>
                </a:solidFill>
              </a:rPr>
              <a:t>NSG — Nationell samverkansgrupp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444444"/>
                </a:solidFill>
              </a:rPr>
              <a:t>TLV-related contacts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444444"/>
                </a:solidFill>
              </a:rPr>
              <a:t>Medical society and clinical-network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000" y="2286000"/>
            <a:ext cx="537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F3A5F"/>
                </a:solidFill>
              </a:rPr>
              <a:t>8 cornerstone individuals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000" y="2743200"/>
            <a:ext cx="53796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</a:rPr>
              <a:t>1.  Mårten Lindström</a:t>
            </a:r>
          </a:p>
          <a:p>
            <a:pPr lvl="1">
              <a:spcAft>
                <a:spcPts val="600"/>
              </a:spcAft>
            </a:pPr>
            <a:r>
              <a:rPr sz="1000" b="0" i="0">
                <a:solidFill>
                  <a:srgbClr val="444444"/>
                </a:solidFill>
              </a:rPr>
              <a:t>NT-rådet ordförande · Region Jönköping</a:t>
            </a:r>
          </a:p>
          <a:p>
            <a:pPr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</a:rPr>
              <a:t>2.  Pia Näsvall</a:t>
            </a:r>
          </a:p>
          <a:p>
            <a:pPr lvl="1">
              <a:spcAft>
                <a:spcPts val="600"/>
              </a:spcAft>
            </a:pPr>
            <a:r>
              <a:rPr sz="1000" b="0" i="0">
                <a:solidFill>
                  <a:srgbClr val="444444"/>
                </a:solidFill>
              </a:rPr>
              <a:t>NSG ordförande · HSD Västerbotten</a:t>
            </a:r>
          </a:p>
          <a:p>
            <a:pPr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</a:rPr>
              <a:t>3.  Anders Bergström</a:t>
            </a:r>
          </a:p>
          <a:p>
            <a:pPr lvl="1">
              <a:spcAft>
                <a:spcPts val="600"/>
              </a:spcAft>
            </a:pPr>
            <a:r>
              <a:rPr sz="1000" b="0" i="0">
                <a:solidFill>
                  <a:srgbClr val="444444"/>
                </a:solidFill>
              </a:rPr>
              <a:t>NT-rådet vice ordförande · Region Norrbotten</a:t>
            </a:r>
          </a:p>
          <a:p>
            <a:pPr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</a:rPr>
              <a:t>4.  Maria Ekelund</a:t>
            </a:r>
          </a:p>
          <a:p>
            <a:pPr lvl="1">
              <a:spcAft>
                <a:spcPts val="600"/>
              </a:spcAft>
            </a:pPr>
            <a:r>
              <a:rPr sz="1000" b="0" i="0">
                <a:solidFill>
                  <a:srgbClr val="444444"/>
                </a:solidFill>
              </a:rPr>
              <a:t>NT-rådet · LK ordf Region Jönköping (dual)</a:t>
            </a:r>
          </a:p>
          <a:p>
            <a:pPr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</a:rPr>
              <a:t>5.  Jan Melin</a:t>
            </a:r>
          </a:p>
          <a:p>
            <a:pPr lvl="1">
              <a:spcAft>
                <a:spcPts val="600"/>
              </a:spcAft>
            </a:pPr>
            <a:r>
              <a:rPr sz="1000" b="0" i="0">
                <a:solidFill>
                  <a:srgbClr val="444444"/>
                </a:solidFill>
              </a:rPr>
              <a:t>NT-rådet · LK ordf Region Uppsala (dual)</a:t>
            </a:r>
          </a:p>
          <a:p>
            <a:pPr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</a:rPr>
              <a:t>6.  Mats Ek</a:t>
            </a:r>
          </a:p>
          <a:p>
            <a:pPr lvl="1">
              <a:spcAft>
                <a:spcPts val="600"/>
              </a:spcAft>
            </a:pPr>
            <a:r>
              <a:rPr sz="1000" b="0" i="0">
                <a:solidFill>
                  <a:srgbClr val="444444"/>
                </a:solidFill>
              </a:rPr>
              <a:t>LK ordförande Region Stockholm</a:t>
            </a:r>
          </a:p>
          <a:p>
            <a:pPr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</a:rPr>
              <a:t>7.  Johan Bratt</a:t>
            </a:r>
          </a:p>
          <a:p>
            <a:pPr lvl="1">
              <a:spcAft>
                <a:spcPts val="600"/>
              </a:spcAft>
            </a:pPr>
            <a:r>
              <a:rPr sz="1000" b="0" i="0">
                <a:solidFill>
                  <a:srgbClr val="444444"/>
                </a:solidFill>
              </a:rPr>
              <a:t>NSG referensperson · Chefläkare Region Stockholm</a:t>
            </a:r>
          </a:p>
          <a:p>
            <a:pPr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</a:rPr>
              <a:t>8.  Rickard Malmström</a:t>
            </a:r>
          </a:p>
          <a:p>
            <a:pPr lvl="1">
              <a:spcAft>
                <a:spcPts val="400"/>
              </a:spcAft>
            </a:pPr>
            <a:r>
              <a:rPr sz="1000" b="0" i="0">
                <a:solidFill>
                  <a:srgbClr val="444444"/>
                </a:solidFill>
              </a:rPr>
              <a:t>NT-rådet · Stockholm LK vice ordf (dual)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F3A5F"/>
                </a:solidFill>
              </a:rPr>
              <a:t>Cornerstones selected by composite influence score from the 135-name pool. Three of eight sit in Stockholm; the full Stockholm LK ledamot pool (17 names) is captured beneath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888888"/>
                </a:solidFill>
              </a:rPr>
              <a:t>COVERAGE AND PENDING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03504"/>
            <a:ext cx="11274552" cy="0"/>
          </a:xfrm>
          <a:prstGeom prst="line">
            <a:avLst/>
          </a:prstGeom>
          <a:ln w="63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888888"/>
                </a:solidFill>
              </a:rPr>
              <a:t>Viti Science · Pfizer Sweden Regional Landscape ·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>
                <a:solidFill>
                  <a:srgbClr val="1F3A5F"/>
                </a:solidFill>
              </a:rPr>
              <a:t>Where coverage stands, and what is still in flight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0">
                <a:solidFill>
                  <a:srgbClr val="444444"/>
                </a:solidFill>
              </a:rPr>
              <a:t>Contact coverage at 90% across the 135-name pool; a handful of items still tracking.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537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F3A5F"/>
                </a:solidFill>
              </a:rPr>
              <a:t>Contact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537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000" b="1" i="0">
                <a:solidFill>
                  <a:srgbClr val="1F3A5F"/>
                </a:solidFill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37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0">
                <a:solidFill>
                  <a:srgbClr val="444444"/>
                </a:solidFill>
              </a:rPr>
              <a:t>of the 135 named stakeholders have captured contact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6000"/>
            <a:ext cx="53796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100" b="0" i="1">
                <a:solidFill>
                  <a:srgbClr val="444444"/>
                </a:solidFill>
              </a:rPr>
              <a:t>Coverage spans every region and the national tier — every cell holds either a captured name or a flagged gap.</a:t>
            </a:r>
          </a:p>
          <a:p>
            <a:pPr>
              <a:spcAft>
                <a:spcPts val="600"/>
              </a:spcAft>
            </a:pPr>
            <a:r>
              <a:rPr sz="1100" b="0" i="1">
                <a:solidFill>
                  <a:srgbClr val="444444"/>
                </a:solidFill>
              </a:rPr>
              <a:t>Cornerstone-tier subset can be field-validated by Pfizer KAM / medical liaison.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000" y="2286000"/>
            <a:ext cx="537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F3A5F"/>
                </a:solidFill>
              </a:rPr>
              <a:t>Items still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000" y="2743200"/>
            <a:ext cx="53796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</a:rPr>
              <a:t>Region Gävleborg verksamhetsplan</a:t>
            </a:r>
          </a:p>
          <a:p>
            <a:pPr lvl="1">
              <a:spcAft>
                <a:spcPts val="800"/>
              </a:spcAft>
            </a:pPr>
            <a:r>
              <a:rPr sz="1050" b="0" i="0">
                <a:solidFill>
                  <a:srgbClr val="444444"/>
                </a:solidFill>
              </a:rPr>
              <a:t>Site reorganisation broke the URL — manual retrieve.</a:t>
            </a:r>
          </a:p>
          <a:p>
            <a:pPr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</a:rPr>
              <a:t>Region Sörmland verksamhetsplan</a:t>
            </a:r>
          </a:p>
          <a:p>
            <a:pPr lvl="1">
              <a:spcAft>
                <a:spcPts val="800"/>
              </a:spcAft>
            </a:pPr>
            <a:r>
              <a:rPr sz="1050" b="0" i="0">
                <a:solidFill>
                  <a:srgbClr val="444444"/>
                </a:solidFill>
              </a:rPr>
              <a:t>2026 plan not yet publicly published at our pull date.</a:t>
            </a:r>
          </a:p>
          <a:p>
            <a:pPr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</a:rPr>
              <a:t>Cornerstone-tier email verification</a:t>
            </a:r>
          </a:p>
          <a:p>
            <a:pPr lvl="1">
              <a:spcAft>
                <a:spcPts val="800"/>
              </a:spcAft>
            </a:pPr>
            <a:r>
              <a:rPr sz="1050" b="0" i="0">
                <a:solidFill>
                  <a:srgbClr val="444444"/>
                </a:solidFill>
              </a:rPr>
              <a:t>Pia Näsvall (URL only) and Johan Bratt (missing from contacts sheet).</a:t>
            </a:r>
          </a:p>
          <a:p>
            <a:pPr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</a:rPr>
              <a:t>21 individual region profiles</a:t>
            </a:r>
          </a:p>
          <a:p>
            <a:pPr lvl="1">
              <a:spcAft>
                <a:spcPts val="800"/>
              </a:spcAft>
            </a:pPr>
            <a:r>
              <a:rPr sz="1050" b="0" i="0">
                <a:solidFill>
                  <a:srgbClr val="444444"/>
                </a:solidFill>
              </a:rPr>
              <a:t>Defined add-on workstream — underlying data already in workbook.</a:t>
            </a:r>
          </a:p>
          <a:p>
            <a:pPr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</a:rPr>
              <a:t>Per-region GRP normalisation</a:t>
            </a:r>
          </a:p>
          <a:p>
            <a:pPr lvl="1">
              <a:spcAft>
                <a:spcPts val="400"/>
              </a:spcAft>
            </a:pPr>
            <a:r>
              <a:rPr sz="1050" b="0" i="0">
                <a:solidFill>
                  <a:srgbClr val="444444"/>
                </a:solidFill>
              </a:rPr>
              <a:t>Per-100k everywhere today; additive on request.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888888"/>
                </a:solidFill>
              </a:rPr>
              <a:t>PFIZER SWEDEN  ·  REGIONAL LANDSCAPE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03504"/>
            <a:ext cx="11274552" cy="0"/>
          </a:xfrm>
          <a:prstGeom prst="line">
            <a:avLst/>
          </a:prstGeom>
          <a:ln w="63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2743200"/>
            <a:ext cx="112745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0" b="1" i="0">
                <a:solidFill>
                  <a:srgbClr val="1F3A5F"/>
                </a:solidFill>
              </a:rPr>
              <a:t>Tack!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8620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444444"/>
                </a:solidFill>
              </a:rPr>
              <a:t>Frågor och diskussion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F3A5F"/>
                </a:solidFill>
              </a:rPr>
              <a:t>Sergio Flores  ·  Viti Science  ·  sergio.flores@vitiscience.se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Viti Science · VS-2026-PFI-001 · 30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816</Words>
  <Application>Microsoft Office PowerPoint</Application>
  <PresentationFormat>Widescreen</PresentationFormat>
  <Paragraphs>117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Sergio Flores</cp:lastModifiedBy>
  <cp:revision>1</cp:revision>
  <dcterms:created xsi:type="dcterms:W3CDTF">2013-01-27T09:14:16Z</dcterms:created>
  <dcterms:modified xsi:type="dcterms:W3CDTF">2026-04-29T20:18:35Z</dcterms:modified>
  <cp:category/>
</cp:coreProperties>
</file>